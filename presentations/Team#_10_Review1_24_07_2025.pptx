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3"/>
  </p:notesMasterIdLst>
  <p:sldIdLst>
    <p:sldId id="257" r:id="rId2"/>
    <p:sldId id="268" r:id="rId3"/>
    <p:sldId id="264" r:id="rId4"/>
    <p:sldId id="278" r:id="rId5"/>
    <p:sldId id="290" r:id="rId6"/>
    <p:sldId id="276" r:id="rId7"/>
    <p:sldId id="294" r:id="rId8"/>
    <p:sldId id="291" r:id="rId9"/>
    <p:sldId id="288" r:id="rId10"/>
    <p:sldId id="293" r:id="rId11"/>
    <p:sldId id="281" r:id="rId12"/>
    <p:sldId id="285" r:id="rId13"/>
    <p:sldId id="289" r:id="rId14"/>
    <p:sldId id="280" r:id="rId15"/>
    <p:sldId id="286" r:id="rId16"/>
    <p:sldId id="277" r:id="rId17"/>
    <p:sldId id="282" r:id="rId18"/>
    <p:sldId id="273" r:id="rId19"/>
    <p:sldId id="265" r:id="rId20"/>
    <p:sldId id="259" r:id="rId21"/>
    <p:sldId id="274"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BE9225-1026-23EA-4845-7C5175A54D86}" v="22" dt="2025-07-22T09:33:25.615"/>
    <p1510:client id="{1D31949B-EDC6-2A95-F0AD-7BF753847D64}" v="8" dt="2025-07-22T14:17:08.313"/>
    <p1510:client id="{2F28D07F-9B60-DFE0-1123-45B0413F45BB}" v="331" dt="2025-07-22T15:13:01.774"/>
    <p1510:client id="{3A1115F7-4EFF-15E9-CD3F-C7BBEBD0985E}" v="1" dt="2025-07-22T06:37:57.394"/>
    <p1510:client id="{3E7FD8C0-7D7D-B9D2-CF6D-20AEF83AA9C9}" v="126" dt="2025-07-22T05:42:45.739"/>
    <p1510:client id="{3FA727F2-F136-7AA9-FF9D-1080B0646435}" v="430" dt="2025-07-22T18:58:14.285"/>
    <p1510:client id="{40CA1C96-F54C-C793-E29F-BD4EAB6D7FC0}" v="288" dt="2025-07-22T18:18:34.198"/>
    <p1510:client id="{52DBCF50-CBFD-802E-BE0F-424CA26D09BE}" v="62" dt="2025-07-22T15:03:28.043"/>
    <p1510:client id="{64C5C268-B71E-3A22-7E6B-A25817B326E4}" v="113" dt="2025-07-23T04:17:27.862"/>
    <p1510:client id="{6B7095CE-3B71-BDDE-202F-B71AAB7A55A7}" v="1745" dt="2025-07-22T10:22:22.897"/>
    <p1510:client id="{7452F74E-E4E9-82D8-8E3A-D84ADE9A030B}" v="461" dt="2025-07-22T16:30:05.414"/>
    <p1510:client id="{7FD0758B-35A3-BA35-5691-F5620593BF2F}" v="27" dt="2025-07-22T07:17:51.970"/>
    <p1510:client id="{88029042-B096-3AEE-7182-BBD2AEE9C90E}" v="3" dt="2025-07-22T17:36:31.254"/>
    <p1510:client id="{8BAF74E7-9FB5-65D9-EF43-366F5AD18905}" v="18" dt="2025-07-23T04:27:00.234"/>
    <p1510:client id="{96072F89-F7EF-230D-CE37-8BD8F4DF1FBC}" v="167" dt="2025-07-22T18:06:00.647"/>
    <p1510:client id="{983EE2E4-5B2C-B561-D2F8-043116E29C04}" v="169" dt="2025-07-22T17:36:44.057"/>
    <p1510:client id="{A7C1F57A-4034-3F6C-2BD6-1CF19B70B4F4}" v="199" dt="2025-07-22T06:48:57.358"/>
    <p1510:client id="{AECDA764-A34A-3F27-9A5F-D34A1BF90C37}" v="31" dt="2025-07-23T04:19:21.327"/>
    <p1510:client id="{C7954696-33AD-5CE7-C30C-91EE174CB756}" v="6" dt="2025-07-22T05:57:19.362"/>
    <p1510:client id="{D5B416A4-51F2-42BF-E5E8-91C8AFB444CB}" v="123" dt="2025-07-22T15:12:42.30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C57B9A-CFE3-4441-B16B-F05ADA2B9AAA}" type="datetimeFigureOut">
              <a:rPr lang="en-IN" smtClean="0"/>
              <a:t>22-07-2025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2109FD-0594-47BB-AC5E-CD2BF155CCD9}" type="slidenum">
              <a:rPr lang="en-IN" smtClean="0"/>
              <a:t>‹#›</a:t>
            </a:fld>
            <a:endParaRPr lang="en-IN"/>
          </a:p>
        </p:txBody>
      </p:sp>
    </p:spTree>
    <p:extLst>
      <p:ext uri="{BB962C8B-B14F-4D97-AF65-F5344CB8AC3E}">
        <p14:creationId xmlns:p14="http://schemas.microsoft.com/office/powerpoint/2010/main" val="26703675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D794D-6C29-4FFA-ABC9-073E7F5E5E9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A67BEAF-CF8B-49FC-ADFB-26AA99AD65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EA23175-EC64-443B-A46A-34BFB21ECEAC}"/>
              </a:ext>
            </a:extLst>
          </p:cNvPr>
          <p:cNvSpPr>
            <a:spLocks noGrp="1"/>
          </p:cNvSpPr>
          <p:nvPr>
            <p:ph type="dt" sz="half" idx="10"/>
          </p:nvPr>
        </p:nvSpPr>
        <p:spPr/>
        <p:txBody>
          <a:bodyPr/>
          <a:lstStyle/>
          <a:p>
            <a:fld id="{4F03E5AB-2A93-4D6C-AD51-31F6AFD6E7F6}" type="datetime1">
              <a:rPr lang="en-IN" smtClean="0"/>
              <a:t>22-07-2025</a:t>
            </a:fld>
            <a:endParaRPr lang="en-IN"/>
          </a:p>
        </p:txBody>
      </p:sp>
      <p:sp>
        <p:nvSpPr>
          <p:cNvPr id="5" name="Footer Placeholder 4">
            <a:extLst>
              <a:ext uri="{FF2B5EF4-FFF2-40B4-BE49-F238E27FC236}">
                <a16:creationId xmlns:a16="http://schemas.microsoft.com/office/drawing/2014/main" id="{E7A7E317-6E8A-4E3E-A199-820F24829672}"/>
              </a:ext>
            </a:extLst>
          </p:cNvPr>
          <p:cNvSpPr>
            <a:spLocks noGrp="1"/>
          </p:cNvSpPr>
          <p:nvPr>
            <p:ph type="ftr" sz="quarter" idx="11"/>
          </p:nvPr>
        </p:nvSpPr>
        <p:spPr/>
        <p:txBody>
          <a:bodyPr/>
          <a:lstStyle/>
          <a:p>
            <a:r>
              <a:rPr lang="en-US"/>
              <a:t>20CYS 495 B.Tech CYS: 2022 - 2026 Project Presentation </a:t>
            </a:r>
            <a:endParaRPr lang="en-IN"/>
          </a:p>
        </p:txBody>
      </p:sp>
      <p:sp>
        <p:nvSpPr>
          <p:cNvPr id="6" name="Slide Number Placeholder 5">
            <a:extLst>
              <a:ext uri="{FF2B5EF4-FFF2-40B4-BE49-F238E27FC236}">
                <a16:creationId xmlns:a16="http://schemas.microsoft.com/office/drawing/2014/main" id="{CD3C4BE0-BD6B-44A8-96AE-A893955A03AB}"/>
              </a:ext>
            </a:extLst>
          </p:cNvPr>
          <p:cNvSpPr>
            <a:spLocks noGrp="1"/>
          </p:cNvSpPr>
          <p:nvPr>
            <p:ph type="sldNum" sz="quarter" idx="12"/>
          </p:nvPr>
        </p:nvSpPr>
        <p:spPr/>
        <p:txBody>
          <a:bodyPr/>
          <a:lstStyle/>
          <a:p>
            <a:fld id="{3C3E5B82-863A-4B66-9E4F-DCFAD2A3B854}" type="slidenum">
              <a:rPr lang="en-IN" smtClean="0"/>
              <a:t>‹#›</a:t>
            </a:fld>
            <a:endParaRPr lang="en-IN"/>
          </a:p>
        </p:txBody>
      </p:sp>
    </p:spTree>
    <p:extLst>
      <p:ext uri="{BB962C8B-B14F-4D97-AF65-F5344CB8AC3E}">
        <p14:creationId xmlns:p14="http://schemas.microsoft.com/office/powerpoint/2010/main" val="4490670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FF125-ABA0-4A97-8AD3-3FE88923B50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D73C98C-99FF-4E5A-85A6-C092E7F7A37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7BD105C-5750-481D-95BF-F3B1A614C792}"/>
              </a:ext>
            </a:extLst>
          </p:cNvPr>
          <p:cNvSpPr>
            <a:spLocks noGrp="1"/>
          </p:cNvSpPr>
          <p:nvPr>
            <p:ph type="dt" sz="half" idx="10"/>
          </p:nvPr>
        </p:nvSpPr>
        <p:spPr/>
        <p:txBody>
          <a:bodyPr/>
          <a:lstStyle/>
          <a:p>
            <a:fld id="{86874710-969B-4A5D-9773-37E102D835FC}" type="datetime1">
              <a:rPr lang="en-IN" smtClean="0"/>
              <a:t>22-07-2025</a:t>
            </a:fld>
            <a:endParaRPr lang="en-IN"/>
          </a:p>
        </p:txBody>
      </p:sp>
      <p:sp>
        <p:nvSpPr>
          <p:cNvPr id="5" name="Footer Placeholder 4">
            <a:extLst>
              <a:ext uri="{FF2B5EF4-FFF2-40B4-BE49-F238E27FC236}">
                <a16:creationId xmlns:a16="http://schemas.microsoft.com/office/drawing/2014/main" id="{D475ECA0-1E87-4697-8F2A-68AC561E80D4}"/>
              </a:ext>
            </a:extLst>
          </p:cNvPr>
          <p:cNvSpPr>
            <a:spLocks noGrp="1"/>
          </p:cNvSpPr>
          <p:nvPr>
            <p:ph type="ftr" sz="quarter" idx="11"/>
          </p:nvPr>
        </p:nvSpPr>
        <p:spPr/>
        <p:txBody>
          <a:bodyPr/>
          <a:lstStyle/>
          <a:p>
            <a:r>
              <a:rPr lang="en-US"/>
              <a:t>20CYS 495 B.Tech CYS: 2022 - 2026 Project Presentation </a:t>
            </a:r>
            <a:endParaRPr lang="en-IN"/>
          </a:p>
        </p:txBody>
      </p:sp>
      <p:sp>
        <p:nvSpPr>
          <p:cNvPr id="6" name="Slide Number Placeholder 5">
            <a:extLst>
              <a:ext uri="{FF2B5EF4-FFF2-40B4-BE49-F238E27FC236}">
                <a16:creationId xmlns:a16="http://schemas.microsoft.com/office/drawing/2014/main" id="{F123A1FE-657B-40BF-8726-42A9EF6E10B5}"/>
              </a:ext>
            </a:extLst>
          </p:cNvPr>
          <p:cNvSpPr>
            <a:spLocks noGrp="1"/>
          </p:cNvSpPr>
          <p:nvPr>
            <p:ph type="sldNum" sz="quarter" idx="12"/>
          </p:nvPr>
        </p:nvSpPr>
        <p:spPr/>
        <p:txBody>
          <a:bodyPr/>
          <a:lstStyle/>
          <a:p>
            <a:fld id="{3C3E5B82-863A-4B66-9E4F-DCFAD2A3B854}" type="slidenum">
              <a:rPr lang="en-IN" smtClean="0"/>
              <a:t>‹#›</a:t>
            </a:fld>
            <a:endParaRPr lang="en-IN"/>
          </a:p>
        </p:txBody>
      </p:sp>
    </p:spTree>
    <p:extLst>
      <p:ext uri="{BB962C8B-B14F-4D97-AF65-F5344CB8AC3E}">
        <p14:creationId xmlns:p14="http://schemas.microsoft.com/office/powerpoint/2010/main" val="26084339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7F721-80E2-4917-9EA1-0AD0B0EA42D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041FEB9-F956-44D7-B28B-F14D3D7D669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B1276C9-1FB5-4B13-A45D-123658582033}"/>
              </a:ext>
            </a:extLst>
          </p:cNvPr>
          <p:cNvSpPr>
            <a:spLocks noGrp="1"/>
          </p:cNvSpPr>
          <p:nvPr>
            <p:ph type="dt" sz="half" idx="10"/>
          </p:nvPr>
        </p:nvSpPr>
        <p:spPr/>
        <p:txBody>
          <a:bodyPr/>
          <a:lstStyle/>
          <a:p>
            <a:fld id="{A6072606-2E7E-415A-A088-90CE45E70DD4}" type="datetime1">
              <a:rPr lang="en-IN" smtClean="0"/>
              <a:t>22-07-2025</a:t>
            </a:fld>
            <a:endParaRPr lang="en-IN"/>
          </a:p>
        </p:txBody>
      </p:sp>
      <p:sp>
        <p:nvSpPr>
          <p:cNvPr id="5" name="Footer Placeholder 4">
            <a:extLst>
              <a:ext uri="{FF2B5EF4-FFF2-40B4-BE49-F238E27FC236}">
                <a16:creationId xmlns:a16="http://schemas.microsoft.com/office/drawing/2014/main" id="{98993A7B-C3CD-41ED-832E-E4F7F2412455}"/>
              </a:ext>
            </a:extLst>
          </p:cNvPr>
          <p:cNvSpPr>
            <a:spLocks noGrp="1"/>
          </p:cNvSpPr>
          <p:nvPr>
            <p:ph type="ftr" sz="quarter" idx="11"/>
          </p:nvPr>
        </p:nvSpPr>
        <p:spPr/>
        <p:txBody>
          <a:bodyPr/>
          <a:lstStyle/>
          <a:p>
            <a:r>
              <a:rPr lang="en-US"/>
              <a:t>20CYS 495 B.Tech CYS: 2022 - 2026 Project Presentation </a:t>
            </a:r>
            <a:endParaRPr lang="en-IN"/>
          </a:p>
        </p:txBody>
      </p:sp>
      <p:sp>
        <p:nvSpPr>
          <p:cNvPr id="6" name="Slide Number Placeholder 5">
            <a:extLst>
              <a:ext uri="{FF2B5EF4-FFF2-40B4-BE49-F238E27FC236}">
                <a16:creationId xmlns:a16="http://schemas.microsoft.com/office/drawing/2014/main" id="{F94387F3-D1FB-4BAE-BD86-3D2EE96DC25E}"/>
              </a:ext>
            </a:extLst>
          </p:cNvPr>
          <p:cNvSpPr>
            <a:spLocks noGrp="1"/>
          </p:cNvSpPr>
          <p:nvPr>
            <p:ph type="sldNum" sz="quarter" idx="12"/>
          </p:nvPr>
        </p:nvSpPr>
        <p:spPr/>
        <p:txBody>
          <a:bodyPr/>
          <a:lstStyle/>
          <a:p>
            <a:fld id="{3C3E5B82-863A-4B66-9E4F-DCFAD2A3B854}" type="slidenum">
              <a:rPr lang="en-IN" smtClean="0"/>
              <a:t>‹#›</a:t>
            </a:fld>
            <a:endParaRPr lang="en-IN"/>
          </a:p>
        </p:txBody>
      </p:sp>
    </p:spTree>
    <p:extLst>
      <p:ext uri="{BB962C8B-B14F-4D97-AF65-F5344CB8AC3E}">
        <p14:creationId xmlns:p14="http://schemas.microsoft.com/office/powerpoint/2010/main" val="8270579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51427-6744-4A04-951F-50793E9FF2E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92429A8-81B9-4129-805A-59025F37369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60EE572-4BCE-4F6A-A90D-796DB4B89A2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BEC9163-3910-4E02-ADC4-7930EB63B320}"/>
              </a:ext>
            </a:extLst>
          </p:cNvPr>
          <p:cNvSpPr>
            <a:spLocks noGrp="1"/>
          </p:cNvSpPr>
          <p:nvPr>
            <p:ph type="dt" sz="half" idx="10"/>
          </p:nvPr>
        </p:nvSpPr>
        <p:spPr/>
        <p:txBody>
          <a:bodyPr/>
          <a:lstStyle/>
          <a:p>
            <a:fld id="{6138E1AE-6BD1-47CD-8F13-CC245EC296DC}" type="datetime1">
              <a:rPr lang="en-IN" smtClean="0"/>
              <a:t>22-07-2025</a:t>
            </a:fld>
            <a:endParaRPr lang="en-IN"/>
          </a:p>
        </p:txBody>
      </p:sp>
      <p:sp>
        <p:nvSpPr>
          <p:cNvPr id="6" name="Footer Placeholder 5">
            <a:extLst>
              <a:ext uri="{FF2B5EF4-FFF2-40B4-BE49-F238E27FC236}">
                <a16:creationId xmlns:a16="http://schemas.microsoft.com/office/drawing/2014/main" id="{3B28BC09-9DA3-4D44-88FC-8D125EB9F23B}"/>
              </a:ext>
            </a:extLst>
          </p:cNvPr>
          <p:cNvSpPr>
            <a:spLocks noGrp="1"/>
          </p:cNvSpPr>
          <p:nvPr>
            <p:ph type="ftr" sz="quarter" idx="11"/>
          </p:nvPr>
        </p:nvSpPr>
        <p:spPr/>
        <p:txBody>
          <a:bodyPr/>
          <a:lstStyle/>
          <a:p>
            <a:r>
              <a:rPr lang="en-US"/>
              <a:t>20CYS 495 B.Tech CYS: 2022 - 2026 Project Presentation </a:t>
            </a:r>
            <a:endParaRPr lang="en-IN"/>
          </a:p>
        </p:txBody>
      </p:sp>
      <p:sp>
        <p:nvSpPr>
          <p:cNvPr id="7" name="Slide Number Placeholder 6">
            <a:extLst>
              <a:ext uri="{FF2B5EF4-FFF2-40B4-BE49-F238E27FC236}">
                <a16:creationId xmlns:a16="http://schemas.microsoft.com/office/drawing/2014/main" id="{E437967A-9081-4251-9463-A27616F35721}"/>
              </a:ext>
            </a:extLst>
          </p:cNvPr>
          <p:cNvSpPr>
            <a:spLocks noGrp="1"/>
          </p:cNvSpPr>
          <p:nvPr>
            <p:ph type="sldNum" sz="quarter" idx="12"/>
          </p:nvPr>
        </p:nvSpPr>
        <p:spPr/>
        <p:txBody>
          <a:bodyPr/>
          <a:lstStyle/>
          <a:p>
            <a:fld id="{3C3E5B82-863A-4B66-9E4F-DCFAD2A3B854}" type="slidenum">
              <a:rPr lang="en-IN" smtClean="0"/>
              <a:t>‹#›</a:t>
            </a:fld>
            <a:endParaRPr lang="en-IN"/>
          </a:p>
        </p:txBody>
      </p:sp>
    </p:spTree>
    <p:extLst>
      <p:ext uri="{BB962C8B-B14F-4D97-AF65-F5344CB8AC3E}">
        <p14:creationId xmlns:p14="http://schemas.microsoft.com/office/powerpoint/2010/main" val="28091833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E5188-047D-4161-BAB7-453F75D9451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F79F729-EE1D-4533-9256-43A66FE428F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55E6496-0CD3-41CA-A816-4650F105F9A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C56DAD1-46E0-4E3A-A505-6D3D61E62A1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D75ED3D-804E-4FCB-B935-D715F38AE84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104D4AA-A1A8-4BEF-B223-D62C85EE7C86}"/>
              </a:ext>
            </a:extLst>
          </p:cNvPr>
          <p:cNvSpPr>
            <a:spLocks noGrp="1"/>
          </p:cNvSpPr>
          <p:nvPr>
            <p:ph type="dt" sz="half" idx="10"/>
          </p:nvPr>
        </p:nvSpPr>
        <p:spPr/>
        <p:txBody>
          <a:bodyPr/>
          <a:lstStyle/>
          <a:p>
            <a:fld id="{D6A11FA0-C980-48E4-B597-984E10D9BB43}" type="datetime1">
              <a:rPr lang="en-IN" smtClean="0"/>
              <a:t>22-07-2025</a:t>
            </a:fld>
            <a:endParaRPr lang="en-IN"/>
          </a:p>
        </p:txBody>
      </p:sp>
      <p:sp>
        <p:nvSpPr>
          <p:cNvPr id="8" name="Footer Placeholder 7">
            <a:extLst>
              <a:ext uri="{FF2B5EF4-FFF2-40B4-BE49-F238E27FC236}">
                <a16:creationId xmlns:a16="http://schemas.microsoft.com/office/drawing/2014/main" id="{BD83F37A-C0CD-4E04-941C-7D5572E1C1C9}"/>
              </a:ext>
            </a:extLst>
          </p:cNvPr>
          <p:cNvSpPr>
            <a:spLocks noGrp="1"/>
          </p:cNvSpPr>
          <p:nvPr>
            <p:ph type="ftr" sz="quarter" idx="11"/>
          </p:nvPr>
        </p:nvSpPr>
        <p:spPr/>
        <p:txBody>
          <a:bodyPr/>
          <a:lstStyle/>
          <a:p>
            <a:r>
              <a:rPr lang="en-US"/>
              <a:t>20CYS 495 B.Tech CYS: 2022 - 2026 Project Presentation </a:t>
            </a:r>
            <a:endParaRPr lang="en-IN"/>
          </a:p>
        </p:txBody>
      </p:sp>
      <p:sp>
        <p:nvSpPr>
          <p:cNvPr id="9" name="Slide Number Placeholder 8">
            <a:extLst>
              <a:ext uri="{FF2B5EF4-FFF2-40B4-BE49-F238E27FC236}">
                <a16:creationId xmlns:a16="http://schemas.microsoft.com/office/drawing/2014/main" id="{94F97C9A-E921-4406-AB5D-E5A3F5EB4A02}"/>
              </a:ext>
            </a:extLst>
          </p:cNvPr>
          <p:cNvSpPr>
            <a:spLocks noGrp="1"/>
          </p:cNvSpPr>
          <p:nvPr>
            <p:ph type="sldNum" sz="quarter" idx="12"/>
          </p:nvPr>
        </p:nvSpPr>
        <p:spPr/>
        <p:txBody>
          <a:bodyPr/>
          <a:lstStyle/>
          <a:p>
            <a:fld id="{3C3E5B82-863A-4B66-9E4F-DCFAD2A3B854}" type="slidenum">
              <a:rPr lang="en-IN" smtClean="0"/>
              <a:t>‹#›</a:t>
            </a:fld>
            <a:endParaRPr lang="en-IN"/>
          </a:p>
        </p:txBody>
      </p:sp>
    </p:spTree>
    <p:extLst>
      <p:ext uri="{BB962C8B-B14F-4D97-AF65-F5344CB8AC3E}">
        <p14:creationId xmlns:p14="http://schemas.microsoft.com/office/powerpoint/2010/main" val="30217062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6A37E-0F67-445F-80DB-7FB4E6B3F62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4B76FE0-CD07-4A29-9314-62F6F2B60619}"/>
              </a:ext>
            </a:extLst>
          </p:cNvPr>
          <p:cNvSpPr>
            <a:spLocks noGrp="1"/>
          </p:cNvSpPr>
          <p:nvPr>
            <p:ph type="dt" sz="half" idx="10"/>
          </p:nvPr>
        </p:nvSpPr>
        <p:spPr/>
        <p:txBody>
          <a:bodyPr/>
          <a:lstStyle/>
          <a:p>
            <a:fld id="{327CB42E-7FB7-4128-9860-B9E7197ACAD9}" type="datetime1">
              <a:rPr lang="en-IN" smtClean="0"/>
              <a:t>22-07-2025</a:t>
            </a:fld>
            <a:endParaRPr lang="en-IN"/>
          </a:p>
        </p:txBody>
      </p:sp>
      <p:sp>
        <p:nvSpPr>
          <p:cNvPr id="4" name="Footer Placeholder 3">
            <a:extLst>
              <a:ext uri="{FF2B5EF4-FFF2-40B4-BE49-F238E27FC236}">
                <a16:creationId xmlns:a16="http://schemas.microsoft.com/office/drawing/2014/main" id="{99F38AB5-D7E2-49C3-813A-D50D5B2C0ED2}"/>
              </a:ext>
            </a:extLst>
          </p:cNvPr>
          <p:cNvSpPr>
            <a:spLocks noGrp="1"/>
          </p:cNvSpPr>
          <p:nvPr>
            <p:ph type="ftr" sz="quarter" idx="11"/>
          </p:nvPr>
        </p:nvSpPr>
        <p:spPr/>
        <p:txBody>
          <a:bodyPr/>
          <a:lstStyle/>
          <a:p>
            <a:r>
              <a:rPr lang="en-US"/>
              <a:t>20CYS 495 B.Tech CYS: 2022 - 2026 Project Presentation </a:t>
            </a:r>
            <a:endParaRPr lang="en-IN"/>
          </a:p>
        </p:txBody>
      </p:sp>
      <p:sp>
        <p:nvSpPr>
          <p:cNvPr id="5" name="Slide Number Placeholder 4">
            <a:extLst>
              <a:ext uri="{FF2B5EF4-FFF2-40B4-BE49-F238E27FC236}">
                <a16:creationId xmlns:a16="http://schemas.microsoft.com/office/drawing/2014/main" id="{30D43BF8-E8AD-47FC-B3EC-84556CC12350}"/>
              </a:ext>
            </a:extLst>
          </p:cNvPr>
          <p:cNvSpPr>
            <a:spLocks noGrp="1"/>
          </p:cNvSpPr>
          <p:nvPr>
            <p:ph type="sldNum" sz="quarter" idx="12"/>
          </p:nvPr>
        </p:nvSpPr>
        <p:spPr/>
        <p:txBody>
          <a:bodyPr/>
          <a:lstStyle/>
          <a:p>
            <a:fld id="{3C3E5B82-863A-4B66-9E4F-DCFAD2A3B854}" type="slidenum">
              <a:rPr lang="en-IN" smtClean="0"/>
              <a:t>‹#›</a:t>
            </a:fld>
            <a:endParaRPr lang="en-IN"/>
          </a:p>
        </p:txBody>
      </p:sp>
    </p:spTree>
    <p:extLst>
      <p:ext uri="{BB962C8B-B14F-4D97-AF65-F5344CB8AC3E}">
        <p14:creationId xmlns:p14="http://schemas.microsoft.com/office/powerpoint/2010/main" val="25749655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7716F73-4C96-4970-8668-502D3C343898}"/>
              </a:ext>
            </a:extLst>
          </p:cNvPr>
          <p:cNvSpPr>
            <a:spLocks noGrp="1"/>
          </p:cNvSpPr>
          <p:nvPr>
            <p:ph type="dt" sz="half" idx="10"/>
          </p:nvPr>
        </p:nvSpPr>
        <p:spPr/>
        <p:txBody>
          <a:bodyPr/>
          <a:lstStyle/>
          <a:p>
            <a:fld id="{23F5710C-3D56-4799-A0B3-73A3CDD29E56}" type="datetime1">
              <a:rPr lang="en-IN" smtClean="0"/>
              <a:t>22-07-2025</a:t>
            </a:fld>
            <a:endParaRPr lang="en-IN"/>
          </a:p>
        </p:txBody>
      </p:sp>
      <p:sp>
        <p:nvSpPr>
          <p:cNvPr id="3" name="Footer Placeholder 2">
            <a:extLst>
              <a:ext uri="{FF2B5EF4-FFF2-40B4-BE49-F238E27FC236}">
                <a16:creationId xmlns:a16="http://schemas.microsoft.com/office/drawing/2014/main" id="{D6649C84-CBD8-4D40-B510-26391C2657F4}"/>
              </a:ext>
            </a:extLst>
          </p:cNvPr>
          <p:cNvSpPr>
            <a:spLocks noGrp="1"/>
          </p:cNvSpPr>
          <p:nvPr>
            <p:ph type="ftr" sz="quarter" idx="11"/>
          </p:nvPr>
        </p:nvSpPr>
        <p:spPr/>
        <p:txBody>
          <a:bodyPr/>
          <a:lstStyle/>
          <a:p>
            <a:r>
              <a:rPr lang="en-US"/>
              <a:t>20CYS 495 B.Tech CYS: 2022 - 2026 Project Presentation </a:t>
            </a:r>
            <a:endParaRPr lang="en-IN"/>
          </a:p>
        </p:txBody>
      </p:sp>
      <p:sp>
        <p:nvSpPr>
          <p:cNvPr id="4" name="Slide Number Placeholder 3">
            <a:extLst>
              <a:ext uri="{FF2B5EF4-FFF2-40B4-BE49-F238E27FC236}">
                <a16:creationId xmlns:a16="http://schemas.microsoft.com/office/drawing/2014/main" id="{286A7864-FACA-4A38-93E1-486CFCD47818}"/>
              </a:ext>
            </a:extLst>
          </p:cNvPr>
          <p:cNvSpPr>
            <a:spLocks noGrp="1"/>
          </p:cNvSpPr>
          <p:nvPr>
            <p:ph type="sldNum" sz="quarter" idx="12"/>
          </p:nvPr>
        </p:nvSpPr>
        <p:spPr/>
        <p:txBody>
          <a:bodyPr/>
          <a:lstStyle/>
          <a:p>
            <a:fld id="{3C3E5B82-863A-4B66-9E4F-DCFAD2A3B854}" type="slidenum">
              <a:rPr lang="en-IN" smtClean="0"/>
              <a:t>‹#›</a:t>
            </a:fld>
            <a:endParaRPr lang="en-IN"/>
          </a:p>
        </p:txBody>
      </p:sp>
    </p:spTree>
    <p:extLst>
      <p:ext uri="{BB962C8B-B14F-4D97-AF65-F5344CB8AC3E}">
        <p14:creationId xmlns:p14="http://schemas.microsoft.com/office/powerpoint/2010/main" val="35725130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BDC8C-DDEB-4661-92E8-A34AA033D9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C94040F-1721-49E1-BB9E-E1ECC05139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2524DE9-CB5A-4E20-AB35-81AB8D9333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637BCD1-7AC0-4EBA-96B8-7DA0D13D10FB}"/>
              </a:ext>
            </a:extLst>
          </p:cNvPr>
          <p:cNvSpPr>
            <a:spLocks noGrp="1"/>
          </p:cNvSpPr>
          <p:nvPr>
            <p:ph type="dt" sz="half" idx="10"/>
          </p:nvPr>
        </p:nvSpPr>
        <p:spPr/>
        <p:txBody>
          <a:bodyPr/>
          <a:lstStyle/>
          <a:p>
            <a:fld id="{63DB5801-4091-4D68-9456-BC326C2104E4}" type="datetime1">
              <a:rPr lang="en-IN" smtClean="0"/>
              <a:t>22-07-2025</a:t>
            </a:fld>
            <a:endParaRPr lang="en-IN"/>
          </a:p>
        </p:txBody>
      </p:sp>
      <p:sp>
        <p:nvSpPr>
          <p:cNvPr id="6" name="Footer Placeholder 5">
            <a:extLst>
              <a:ext uri="{FF2B5EF4-FFF2-40B4-BE49-F238E27FC236}">
                <a16:creationId xmlns:a16="http://schemas.microsoft.com/office/drawing/2014/main" id="{D61AE2DE-1DC7-4BEE-957F-3FB8ECC96950}"/>
              </a:ext>
            </a:extLst>
          </p:cNvPr>
          <p:cNvSpPr>
            <a:spLocks noGrp="1"/>
          </p:cNvSpPr>
          <p:nvPr>
            <p:ph type="ftr" sz="quarter" idx="11"/>
          </p:nvPr>
        </p:nvSpPr>
        <p:spPr/>
        <p:txBody>
          <a:bodyPr/>
          <a:lstStyle/>
          <a:p>
            <a:r>
              <a:rPr lang="en-US"/>
              <a:t>20CYS 495 B.Tech CYS: 2022 - 2026 Project Presentation </a:t>
            </a:r>
            <a:endParaRPr lang="en-IN"/>
          </a:p>
        </p:txBody>
      </p:sp>
      <p:sp>
        <p:nvSpPr>
          <p:cNvPr id="7" name="Slide Number Placeholder 6">
            <a:extLst>
              <a:ext uri="{FF2B5EF4-FFF2-40B4-BE49-F238E27FC236}">
                <a16:creationId xmlns:a16="http://schemas.microsoft.com/office/drawing/2014/main" id="{281DCD86-D643-4771-AC07-5E8EA8D07268}"/>
              </a:ext>
            </a:extLst>
          </p:cNvPr>
          <p:cNvSpPr>
            <a:spLocks noGrp="1"/>
          </p:cNvSpPr>
          <p:nvPr>
            <p:ph type="sldNum" sz="quarter" idx="12"/>
          </p:nvPr>
        </p:nvSpPr>
        <p:spPr/>
        <p:txBody>
          <a:bodyPr/>
          <a:lstStyle/>
          <a:p>
            <a:fld id="{3C3E5B82-863A-4B66-9E4F-DCFAD2A3B854}" type="slidenum">
              <a:rPr lang="en-IN" smtClean="0"/>
              <a:t>‹#›</a:t>
            </a:fld>
            <a:endParaRPr lang="en-IN"/>
          </a:p>
        </p:txBody>
      </p:sp>
    </p:spTree>
    <p:extLst>
      <p:ext uri="{BB962C8B-B14F-4D97-AF65-F5344CB8AC3E}">
        <p14:creationId xmlns:p14="http://schemas.microsoft.com/office/powerpoint/2010/main" val="14665581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BED57-AB62-4219-9ADD-F9BAE5DDAC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14F66B9-BF1C-4CDF-8516-EB2850EC60B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5DF240C-F682-406D-91E8-641F999D30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E52282-A3EE-4183-B0A9-AFD6C2DC979E}"/>
              </a:ext>
            </a:extLst>
          </p:cNvPr>
          <p:cNvSpPr>
            <a:spLocks noGrp="1"/>
          </p:cNvSpPr>
          <p:nvPr>
            <p:ph type="dt" sz="half" idx="10"/>
          </p:nvPr>
        </p:nvSpPr>
        <p:spPr/>
        <p:txBody>
          <a:bodyPr/>
          <a:lstStyle/>
          <a:p>
            <a:fld id="{A47AC21F-937A-4526-A0A7-714A8679D4A6}" type="datetime1">
              <a:rPr lang="en-IN" smtClean="0"/>
              <a:t>22-07-2025</a:t>
            </a:fld>
            <a:endParaRPr lang="en-IN"/>
          </a:p>
        </p:txBody>
      </p:sp>
      <p:sp>
        <p:nvSpPr>
          <p:cNvPr id="6" name="Footer Placeholder 5">
            <a:extLst>
              <a:ext uri="{FF2B5EF4-FFF2-40B4-BE49-F238E27FC236}">
                <a16:creationId xmlns:a16="http://schemas.microsoft.com/office/drawing/2014/main" id="{06BDB6EC-3124-4FCF-B5C9-82D28C1D4C7C}"/>
              </a:ext>
            </a:extLst>
          </p:cNvPr>
          <p:cNvSpPr>
            <a:spLocks noGrp="1"/>
          </p:cNvSpPr>
          <p:nvPr>
            <p:ph type="ftr" sz="quarter" idx="11"/>
          </p:nvPr>
        </p:nvSpPr>
        <p:spPr/>
        <p:txBody>
          <a:bodyPr/>
          <a:lstStyle/>
          <a:p>
            <a:r>
              <a:rPr lang="en-US"/>
              <a:t>20CYS 495 B.Tech CYS: 2022 - 2026 Project Presentation </a:t>
            </a:r>
            <a:endParaRPr lang="en-IN"/>
          </a:p>
        </p:txBody>
      </p:sp>
      <p:sp>
        <p:nvSpPr>
          <p:cNvPr id="7" name="Slide Number Placeholder 6">
            <a:extLst>
              <a:ext uri="{FF2B5EF4-FFF2-40B4-BE49-F238E27FC236}">
                <a16:creationId xmlns:a16="http://schemas.microsoft.com/office/drawing/2014/main" id="{C901BBF7-89FB-4CD5-8A5F-34788B069A4F}"/>
              </a:ext>
            </a:extLst>
          </p:cNvPr>
          <p:cNvSpPr>
            <a:spLocks noGrp="1"/>
          </p:cNvSpPr>
          <p:nvPr>
            <p:ph type="sldNum" sz="quarter" idx="12"/>
          </p:nvPr>
        </p:nvSpPr>
        <p:spPr/>
        <p:txBody>
          <a:bodyPr/>
          <a:lstStyle/>
          <a:p>
            <a:fld id="{3C3E5B82-863A-4B66-9E4F-DCFAD2A3B854}" type="slidenum">
              <a:rPr lang="en-IN" smtClean="0"/>
              <a:t>‹#›</a:t>
            </a:fld>
            <a:endParaRPr lang="en-IN"/>
          </a:p>
        </p:txBody>
      </p:sp>
    </p:spTree>
    <p:extLst>
      <p:ext uri="{BB962C8B-B14F-4D97-AF65-F5344CB8AC3E}">
        <p14:creationId xmlns:p14="http://schemas.microsoft.com/office/powerpoint/2010/main" val="2265508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46EAB-5146-4131-A187-62193DD9B95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F836176-042A-479F-A424-09580F87DE7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9089E9C-6C69-4D80-B790-904A41AD0D0E}"/>
              </a:ext>
            </a:extLst>
          </p:cNvPr>
          <p:cNvSpPr>
            <a:spLocks noGrp="1"/>
          </p:cNvSpPr>
          <p:nvPr>
            <p:ph type="dt" sz="half" idx="10"/>
          </p:nvPr>
        </p:nvSpPr>
        <p:spPr/>
        <p:txBody>
          <a:bodyPr/>
          <a:lstStyle/>
          <a:p>
            <a:fld id="{857520B1-4B55-4CE5-93E6-6F05FA45BC05}" type="datetime1">
              <a:rPr lang="en-IN" smtClean="0"/>
              <a:t>22-07-2025</a:t>
            </a:fld>
            <a:endParaRPr lang="en-IN"/>
          </a:p>
        </p:txBody>
      </p:sp>
      <p:sp>
        <p:nvSpPr>
          <p:cNvPr id="5" name="Footer Placeholder 4">
            <a:extLst>
              <a:ext uri="{FF2B5EF4-FFF2-40B4-BE49-F238E27FC236}">
                <a16:creationId xmlns:a16="http://schemas.microsoft.com/office/drawing/2014/main" id="{19DC5F6C-CAAE-4D49-BB2C-FBBD02CE0BC4}"/>
              </a:ext>
            </a:extLst>
          </p:cNvPr>
          <p:cNvSpPr>
            <a:spLocks noGrp="1"/>
          </p:cNvSpPr>
          <p:nvPr>
            <p:ph type="ftr" sz="quarter" idx="11"/>
          </p:nvPr>
        </p:nvSpPr>
        <p:spPr/>
        <p:txBody>
          <a:bodyPr/>
          <a:lstStyle/>
          <a:p>
            <a:r>
              <a:rPr lang="en-US"/>
              <a:t>20CYS 495 B.Tech CYS: 2022 - 2026 Project Presentation </a:t>
            </a:r>
            <a:endParaRPr lang="en-IN"/>
          </a:p>
        </p:txBody>
      </p:sp>
      <p:sp>
        <p:nvSpPr>
          <p:cNvPr id="6" name="Slide Number Placeholder 5">
            <a:extLst>
              <a:ext uri="{FF2B5EF4-FFF2-40B4-BE49-F238E27FC236}">
                <a16:creationId xmlns:a16="http://schemas.microsoft.com/office/drawing/2014/main" id="{9629737E-C946-46A4-86A1-9A5DE3C0E44E}"/>
              </a:ext>
            </a:extLst>
          </p:cNvPr>
          <p:cNvSpPr>
            <a:spLocks noGrp="1"/>
          </p:cNvSpPr>
          <p:nvPr>
            <p:ph type="sldNum" sz="quarter" idx="12"/>
          </p:nvPr>
        </p:nvSpPr>
        <p:spPr/>
        <p:txBody>
          <a:bodyPr/>
          <a:lstStyle/>
          <a:p>
            <a:fld id="{3C3E5B82-863A-4B66-9E4F-DCFAD2A3B854}" type="slidenum">
              <a:rPr lang="en-IN" smtClean="0"/>
              <a:t>‹#›</a:t>
            </a:fld>
            <a:endParaRPr lang="en-IN"/>
          </a:p>
        </p:txBody>
      </p:sp>
    </p:spTree>
    <p:extLst>
      <p:ext uri="{BB962C8B-B14F-4D97-AF65-F5344CB8AC3E}">
        <p14:creationId xmlns:p14="http://schemas.microsoft.com/office/powerpoint/2010/main" val="23000830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E7C000F-260B-477A-B2C0-56388085533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3756DE8-9D24-48DE-9BA2-1212379D15C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5CA332B-FA41-4DB1-B8E0-B6A626F4D7E9}"/>
              </a:ext>
            </a:extLst>
          </p:cNvPr>
          <p:cNvSpPr>
            <a:spLocks noGrp="1"/>
          </p:cNvSpPr>
          <p:nvPr>
            <p:ph type="dt" sz="half" idx="10"/>
          </p:nvPr>
        </p:nvSpPr>
        <p:spPr/>
        <p:txBody>
          <a:bodyPr/>
          <a:lstStyle/>
          <a:p>
            <a:fld id="{A787B56C-79EC-45AD-BA96-BB6973F621C4}" type="datetime1">
              <a:rPr lang="en-IN" smtClean="0"/>
              <a:t>22-07-2025</a:t>
            </a:fld>
            <a:endParaRPr lang="en-IN"/>
          </a:p>
        </p:txBody>
      </p:sp>
      <p:sp>
        <p:nvSpPr>
          <p:cNvPr id="5" name="Footer Placeholder 4">
            <a:extLst>
              <a:ext uri="{FF2B5EF4-FFF2-40B4-BE49-F238E27FC236}">
                <a16:creationId xmlns:a16="http://schemas.microsoft.com/office/drawing/2014/main" id="{6339671B-C51F-4FC8-80BE-FF3692D84B42}"/>
              </a:ext>
            </a:extLst>
          </p:cNvPr>
          <p:cNvSpPr>
            <a:spLocks noGrp="1"/>
          </p:cNvSpPr>
          <p:nvPr>
            <p:ph type="ftr" sz="quarter" idx="11"/>
          </p:nvPr>
        </p:nvSpPr>
        <p:spPr/>
        <p:txBody>
          <a:bodyPr/>
          <a:lstStyle/>
          <a:p>
            <a:r>
              <a:rPr lang="en-US"/>
              <a:t>20CYS 495 B.Tech CYS: 2022 - 2026 Project Presentation </a:t>
            </a:r>
            <a:endParaRPr lang="en-IN"/>
          </a:p>
        </p:txBody>
      </p:sp>
      <p:sp>
        <p:nvSpPr>
          <p:cNvPr id="6" name="Slide Number Placeholder 5">
            <a:extLst>
              <a:ext uri="{FF2B5EF4-FFF2-40B4-BE49-F238E27FC236}">
                <a16:creationId xmlns:a16="http://schemas.microsoft.com/office/drawing/2014/main" id="{9B5D6952-826B-4934-8019-0A356DB84DED}"/>
              </a:ext>
            </a:extLst>
          </p:cNvPr>
          <p:cNvSpPr>
            <a:spLocks noGrp="1"/>
          </p:cNvSpPr>
          <p:nvPr>
            <p:ph type="sldNum" sz="quarter" idx="12"/>
          </p:nvPr>
        </p:nvSpPr>
        <p:spPr/>
        <p:txBody>
          <a:bodyPr/>
          <a:lstStyle/>
          <a:p>
            <a:fld id="{3C3E5B82-863A-4B66-9E4F-DCFAD2A3B854}" type="slidenum">
              <a:rPr lang="en-IN" smtClean="0"/>
              <a:t>‹#›</a:t>
            </a:fld>
            <a:endParaRPr lang="en-IN"/>
          </a:p>
        </p:txBody>
      </p:sp>
    </p:spTree>
    <p:extLst>
      <p:ext uri="{BB962C8B-B14F-4D97-AF65-F5344CB8AC3E}">
        <p14:creationId xmlns:p14="http://schemas.microsoft.com/office/powerpoint/2010/main" val="8227468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517BBA8-37CF-49AD-96C8-C591F5F9AC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0EAE3AD-BE86-4840-A891-CF69A61979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EB9E73A-DCDC-4CF9-A23A-83F8FE5887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DDA1D2-DEC2-456E-8D61-F5D934B46794}" type="datetime1">
              <a:rPr lang="en-IN" smtClean="0"/>
              <a:t>22-07-2025</a:t>
            </a:fld>
            <a:endParaRPr lang="en-IN"/>
          </a:p>
        </p:txBody>
      </p:sp>
      <p:sp>
        <p:nvSpPr>
          <p:cNvPr id="5" name="Footer Placeholder 4">
            <a:extLst>
              <a:ext uri="{FF2B5EF4-FFF2-40B4-BE49-F238E27FC236}">
                <a16:creationId xmlns:a16="http://schemas.microsoft.com/office/drawing/2014/main" id="{A93FE338-4552-4B21-9D8C-59D8603F28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20CYS 495 B.Tech CYS: 2022 - 2026 Project Presentation </a:t>
            </a:r>
            <a:endParaRPr lang="en-IN"/>
          </a:p>
        </p:txBody>
      </p:sp>
      <p:sp>
        <p:nvSpPr>
          <p:cNvPr id="6" name="Slide Number Placeholder 5">
            <a:extLst>
              <a:ext uri="{FF2B5EF4-FFF2-40B4-BE49-F238E27FC236}">
                <a16:creationId xmlns:a16="http://schemas.microsoft.com/office/drawing/2014/main" id="{FD5A29F6-F7FD-4AC4-A8D1-BA06C443651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3E5B82-863A-4B66-9E4F-DCFAD2A3B854}" type="slidenum">
              <a:rPr lang="en-IN" smtClean="0"/>
              <a:t>‹#›</a:t>
            </a:fld>
            <a:endParaRPr lang="en-IN"/>
          </a:p>
        </p:txBody>
      </p:sp>
    </p:spTree>
    <p:extLst>
      <p:ext uri="{BB962C8B-B14F-4D97-AF65-F5344CB8AC3E}">
        <p14:creationId xmlns:p14="http://schemas.microsoft.com/office/powerpoint/2010/main" val="14374126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hyperlink" Target="https://doi.org/10.1145/3651991" TargetMode="External"/><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hyperlink" Target="https://fidelissecurity.com/cybersecurity-101/deception/honeypot-vs-decepti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FE9374F-8DD8-4480-8590-778239D8B0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4" name="Straight Connector 3">
            <a:extLst>
              <a:ext uri="{FF2B5EF4-FFF2-40B4-BE49-F238E27FC236}">
                <a16:creationId xmlns:a16="http://schemas.microsoft.com/office/drawing/2014/main" id="{C86AE5E2-AE54-4C65-842F-C82D80DE5FE3}"/>
              </a:ext>
            </a:extLst>
          </p:cNvPr>
          <p:cNvCxnSpPr>
            <a:cxnSpLocks/>
          </p:cNvCxnSpPr>
          <p:nvPr/>
        </p:nvCxnSpPr>
        <p:spPr>
          <a:xfrm>
            <a:off x="1109709" y="594804"/>
            <a:ext cx="10235953" cy="0"/>
          </a:xfrm>
          <a:prstGeom prst="line">
            <a:avLst/>
          </a:prstGeom>
        </p:spPr>
        <p:style>
          <a:lnRef idx="3">
            <a:schemeClr val="dk1"/>
          </a:lnRef>
          <a:fillRef idx="0">
            <a:schemeClr val="dk1"/>
          </a:fillRef>
          <a:effectRef idx="2">
            <a:schemeClr val="dk1"/>
          </a:effectRef>
          <a:fontRef idx="minor">
            <a:schemeClr val="tx1"/>
          </a:fontRef>
        </p:style>
      </p:cxnSp>
      <p:cxnSp>
        <p:nvCxnSpPr>
          <p:cNvPr id="7" name="Straight Connector 6">
            <a:extLst>
              <a:ext uri="{FF2B5EF4-FFF2-40B4-BE49-F238E27FC236}">
                <a16:creationId xmlns:a16="http://schemas.microsoft.com/office/drawing/2014/main" id="{85230674-9C20-4A48-BEDB-3E71685A6837}"/>
              </a:ext>
            </a:extLst>
          </p:cNvPr>
          <p:cNvCxnSpPr/>
          <p:nvPr/>
        </p:nvCxnSpPr>
        <p:spPr>
          <a:xfrm>
            <a:off x="1038687" y="6462943"/>
            <a:ext cx="10369119" cy="0"/>
          </a:xfrm>
          <a:prstGeom prst="line">
            <a:avLst/>
          </a:prstGeom>
        </p:spPr>
        <p:style>
          <a:lnRef idx="3">
            <a:schemeClr val="dk1"/>
          </a:lnRef>
          <a:fillRef idx="0">
            <a:schemeClr val="dk1"/>
          </a:fillRef>
          <a:effectRef idx="2">
            <a:schemeClr val="dk1"/>
          </a:effectRef>
          <a:fontRef idx="minor">
            <a:schemeClr val="tx1"/>
          </a:fontRef>
        </p:style>
      </p:cxnSp>
      <p:sp>
        <p:nvSpPr>
          <p:cNvPr id="8" name="TextBox 7">
            <a:extLst>
              <a:ext uri="{FF2B5EF4-FFF2-40B4-BE49-F238E27FC236}">
                <a16:creationId xmlns:a16="http://schemas.microsoft.com/office/drawing/2014/main" id="{83B72D3C-7AEE-4C83-8156-6FCDFB64EDF4}"/>
              </a:ext>
            </a:extLst>
          </p:cNvPr>
          <p:cNvSpPr txBox="1"/>
          <p:nvPr/>
        </p:nvSpPr>
        <p:spPr>
          <a:xfrm>
            <a:off x="8788893" y="319596"/>
            <a:ext cx="2821413" cy="276999"/>
          </a:xfrm>
          <a:prstGeom prst="rect">
            <a:avLst/>
          </a:prstGeom>
          <a:noFill/>
        </p:spPr>
        <p:txBody>
          <a:bodyPr wrap="none" rtlCol="0">
            <a:spAutoFit/>
          </a:body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10" name="Date Placeholder 9">
            <a:extLst>
              <a:ext uri="{FF2B5EF4-FFF2-40B4-BE49-F238E27FC236}">
                <a16:creationId xmlns:a16="http://schemas.microsoft.com/office/drawing/2014/main" id="{05A0A882-B0D8-45B0-88B6-4D8C07400180}"/>
              </a:ext>
            </a:extLst>
          </p:cNvPr>
          <p:cNvSpPr>
            <a:spLocks noGrp="1"/>
          </p:cNvSpPr>
          <p:nvPr>
            <p:ph type="dt" sz="half" idx="10"/>
          </p:nvPr>
        </p:nvSpPr>
        <p:spPr>
          <a:xfrm>
            <a:off x="838200" y="6492875"/>
            <a:ext cx="2743200" cy="365125"/>
          </a:xfrm>
        </p:spPr>
        <p:txBody>
          <a:bodyPr/>
          <a:lstStyle/>
          <a:p>
            <a:fld id="{847CFD75-BCBA-4120-917C-A1FBCB38C1DE}" type="datetime1">
              <a:rPr lang="en-IN" smtClean="0"/>
              <a:t>22-07-2025</a:t>
            </a:fld>
            <a:endParaRPr lang="en-IN"/>
          </a:p>
        </p:txBody>
      </p:sp>
      <p:sp>
        <p:nvSpPr>
          <p:cNvPr id="11" name="Slide Number Placeholder 10">
            <a:extLst>
              <a:ext uri="{FF2B5EF4-FFF2-40B4-BE49-F238E27FC236}">
                <a16:creationId xmlns:a16="http://schemas.microsoft.com/office/drawing/2014/main" id="{D560B5BB-12C6-40D2-9763-B27B8ACDE663}"/>
              </a:ext>
            </a:extLst>
          </p:cNvPr>
          <p:cNvSpPr>
            <a:spLocks noGrp="1"/>
          </p:cNvSpPr>
          <p:nvPr>
            <p:ph type="sldNum" sz="quarter" idx="12"/>
          </p:nvPr>
        </p:nvSpPr>
        <p:spPr>
          <a:xfrm>
            <a:off x="8734887" y="6492875"/>
            <a:ext cx="2743200" cy="365125"/>
          </a:xfrm>
        </p:spPr>
        <p:txBody>
          <a:bodyPr/>
          <a:lstStyle/>
          <a:p>
            <a:fld id="{3C3E5B82-863A-4B66-9E4F-DCFAD2A3B854}" type="slidenum">
              <a:rPr lang="en-IN" smtClean="0"/>
              <a:t>1</a:t>
            </a:fld>
            <a:endParaRPr lang="en-IN"/>
          </a:p>
        </p:txBody>
      </p:sp>
      <p:sp>
        <p:nvSpPr>
          <p:cNvPr id="12" name="Footer Placeholder 11">
            <a:extLst>
              <a:ext uri="{FF2B5EF4-FFF2-40B4-BE49-F238E27FC236}">
                <a16:creationId xmlns:a16="http://schemas.microsoft.com/office/drawing/2014/main" id="{F6D4F79C-3FA2-494F-BB27-8CB7272816E9}"/>
              </a:ext>
            </a:extLst>
          </p:cNvPr>
          <p:cNvSpPr>
            <a:spLocks noGrp="1"/>
          </p:cNvSpPr>
          <p:nvPr>
            <p:ph type="ftr" sz="quarter" idx="11"/>
          </p:nvPr>
        </p:nvSpPr>
        <p:spPr>
          <a:xfrm>
            <a:off x="4038600" y="6492875"/>
            <a:ext cx="4114800" cy="365125"/>
          </a:xfrm>
        </p:spPr>
        <p:txBody>
          <a:bodyPr/>
          <a:lstStyle/>
          <a:p>
            <a:r>
              <a:rPr lang="en-US"/>
              <a:t>20CYS 495 B.Tech CYS: 2022 - 2026 Project Presentation </a:t>
            </a:r>
            <a:endParaRPr lang="en-IN"/>
          </a:p>
        </p:txBody>
      </p:sp>
      <p:sp>
        <p:nvSpPr>
          <p:cNvPr id="14" name="TextBox 13">
            <a:extLst>
              <a:ext uri="{FF2B5EF4-FFF2-40B4-BE49-F238E27FC236}">
                <a16:creationId xmlns:a16="http://schemas.microsoft.com/office/drawing/2014/main" id="{64F53EF8-BADD-4AF0-8A0C-E59673CC7D69}"/>
              </a:ext>
            </a:extLst>
          </p:cNvPr>
          <p:cNvSpPr txBox="1"/>
          <p:nvPr/>
        </p:nvSpPr>
        <p:spPr>
          <a:xfrm>
            <a:off x="4197942" y="668854"/>
            <a:ext cx="3814102" cy="1200329"/>
          </a:xfrm>
          <a:prstGeom prst="rect">
            <a:avLst/>
          </a:prstGeom>
          <a:noFill/>
        </p:spPr>
        <p:txBody>
          <a:bodyPr wrap="square" lIns="91440" tIns="45720" rIns="91440" bIns="45720" rtlCol="0" anchor="t">
            <a:spAutoFit/>
          </a:bodyPr>
          <a:lstStyle/>
          <a:p>
            <a:r>
              <a:rPr lang="en-US" sz="2400" b="1">
                <a:latin typeface="Times New Roman"/>
                <a:ea typeface="+mn-lt"/>
                <a:cs typeface="+mn-lt"/>
              </a:rPr>
              <a:t>20CYS495 Project Phase I</a:t>
            </a:r>
            <a:endParaRPr lang="en-US" sz="2400">
              <a:latin typeface="Times New Roman"/>
              <a:cs typeface="Times New Roman"/>
            </a:endParaRPr>
          </a:p>
          <a:p>
            <a:r>
              <a:rPr lang="en-US" sz="2400" b="1">
                <a:latin typeface="Times New Roman"/>
                <a:cs typeface="Times New Roman"/>
              </a:rPr>
              <a:t>            Group 10</a:t>
            </a:r>
          </a:p>
          <a:p>
            <a:endParaRPr lang="en-US" sz="2400" b="1">
              <a:latin typeface="Times New Roman"/>
              <a:cs typeface="Times New Roman"/>
            </a:endParaRPr>
          </a:p>
        </p:txBody>
      </p:sp>
      <p:graphicFrame>
        <p:nvGraphicFramePr>
          <p:cNvPr id="6" name="Table 5">
            <a:extLst>
              <a:ext uri="{FF2B5EF4-FFF2-40B4-BE49-F238E27FC236}">
                <a16:creationId xmlns:a16="http://schemas.microsoft.com/office/drawing/2014/main" id="{D4FBFBDD-3554-4450-F84D-680F60BE423D}"/>
              </a:ext>
            </a:extLst>
          </p:cNvPr>
          <p:cNvGraphicFramePr>
            <a:graphicFrameLocks noGrp="1"/>
          </p:cNvGraphicFramePr>
          <p:nvPr>
            <p:extLst>
              <p:ext uri="{D42A27DB-BD31-4B8C-83A1-F6EECF244321}">
                <p14:modId xmlns:p14="http://schemas.microsoft.com/office/powerpoint/2010/main" val="2445196884"/>
              </p:ext>
            </p:extLst>
          </p:nvPr>
        </p:nvGraphicFramePr>
        <p:xfrm>
          <a:off x="2333126" y="3695049"/>
          <a:ext cx="7147142" cy="2043325"/>
        </p:xfrm>
        <a:graphic>
          <a:graphicData uri="http://schemas.openxmlformats.org/drawingml/2006/table">
            <a:tbl>
              <a:tblPr firstRow="1" bandRow="1">
                <a:tableStyleId>{5C22544A-7EE6-4342-B048-85BDC9FD1C3A}</a:tableStyleId>
              </a:tblPr>
              <a:tblGrid>
                <a:gridCol w="1091880">
                  <a:extLst>
                    <a:ext uri="{9D8B030D-6E8A-4147-A177-3AD203B41FA5}">
                      <a16:colId xmlns:a16="http://schemas.microsoft.com/office/drawing/2014/main" val="166170464"/>
                    </a:ext>
                  </a:extLst>
                </a:gridCol>
                <a:gridCol w="2798335">
                  <a:extLst>
                    <a:ext uri="{9D8B030D-6E8A-4147-A177-3AD203B41FA5}">
                      <a16:colId xmlns:a16="http://schemas.microsoft.com/office/drawing/2014/main" val="1661335480"/>
                    </a:ext>
                  </a:extLst>
                </a:gridCol>
                <a:gridCol w="3256927">
                  <a:extLst>
                    <a:ext uri="{9D8B030D-6E8A-4147-A177-3AD203B41FA5}">
                      <a16:colId xmlns:a16="http://schemas.microsoft.com/office/drawing/2014/main" val="4180153007"/>
                    </a:ext>
                  </a:extLst>
                </a:gridCol>
              </a:tblGrid>
              <a:tr h="408665">
                <a:tc>
                  <a:txBody>
                    <a:bodyPr/>
                    <a:lstStyle/>
                    <a:p>
                      <a:r>
                        <a:rPr lang="en-US" err="1">
                          <a:solidFill>
                            <a:sysClr val="windowText" lastClr="000000"/>
                          </a:solidFill>
                          <a:latin typeface="Times New Roman"/>
                          <a:cs typeface="Times New Roman"/>
                        </a:rPr>
                        <a:t>Sl.No</a:t>
                      </a:r>
                      <a:endParaRPr lang="en-IN" err="1">
                        <a:solidFill>
                          <a:sysClr val="windowText" lastClr="000000"/>
                        </a:solidFill>
                        <a:latin typeface="Times New Roman"/>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solidFill>
                            <a:schemeClr val="tx1"/>
                          </a:solidFill>
                          <a:latin typeface="Times New Roman"/>
                          <a:cs typeface="Times New Roman"/>
                        </a:rPr>
                        <a:t>Student Name</a:t>
                      </a:r>
                      <a:endParaRPr lang="en-IN">
                        <a:solidFill>
                          <a:schemeClr val="tx1"/>
                        </a:solidFill>
                        <a:latin typeface="Times New Roman"/>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solidFill>
                            <a:schemeClr val="tx1"/>
                          </a:solidFill>
                          <a:latin typeface="Times New Roman"/>
                          <a:cs typeface="Times New Roman"/>
                        </a:rPr>
                        <a:t>Roll No</a:t>
                      </a:r>
                      <a:endParaRPr lang="en-IN">
                        <a:solidFill>
                          <a:schemeClr val="tx1"/>
                        </a:solidFill>
                        <a:latin typeface="Times New Roman"/>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94154959"/>
                  </a:ext>
                </a:extLst>
              </a:tr>
              <a:tr h="408665">
                <a:tc>
                  <a:txBody>
                    <a:bodyPr/>
                    <a:lstStyle/>
                    <a:p>
                      <a:r>
                        <a:rPr lang="en-US">
                          <a:solidFill>
                            <a:schemeClr val="tx1"/>
                          </a:solidFill>
                        </a:rPr>
                        <a:t>1</a:t>
                      </a:r>
                      <a:endParaRPr lang="en-I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err="1">
                          <a:solidFill>
                            <a:schemeClr val="tx1"/>
                          </a:solidFill>
                          <a:latin typeface="Times New Roman"/>
                        </a:rPr>
                        <a:t>Chitla</a:t>
                      </a:r>
                      <a:r>
                        <a:rPr lang="en-IN">
                          <a:solidFill>
                            <a:schemeClr val="tx1"/>
                          </a:solidFill>
                          <a:latin typeface="Times New Roman"/>
                        </a:rPr>
                        <a:t>  Vyshali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a:solidFill>
                            <a:schemeClr val="tx1"/>
                          </a:solidFill>
                          <a:latin typeface="Times New Roman"/>
                        </a:rPr>
                        <a:t>CB.EN.U4CYS22017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76323827"/>
                  </a:ext>
                </a:extLst>
              </a:tr>
              <a:tr h="408665">
                <a:tc>
                  <a:txBody>
                    <a:bodyPr/>
                    <a:lstStyle/>
                    <a:p>
                      <a:r>
                        <a:rPr lang="en-US">
                          <a:solidFill>
                            <a:schemeClr val="tx1"/>
                          </a:solidFill>
                        </a:rPr>
                        <a:t>2</a:t>
                      </a:r>
                      <a:endParaRPr lang="en-I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a:solidFill>
                            <a:schemeClr val="tx1"/>
                          </a:solidFill>
                          <a:latin typeface="Times New Roman"/>
                        </a:rPr>
                        <a:t>Dharshika 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a:solidFill>
                            <a:schemeClr val="tx1"/>
                          </a:solidFill>
                          <a:latin typeface="Times New Roman"/>
                        </a:rPr>
                        <a:t>CB.EN.U4CYS22021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25015395"/>
                  </a:ext>
                </a:extLst>
              </a:tr>
              <a:tr h="408665">
                <a:tc>
                  <a:txBody>
                    <a:bodyPr/>
                    <a:lstStyle/>
                    <a:p>
                      <a:r>
                        <a:rPr lang="en-US">
                          <a:solidFill>
                            <a:schemeClr val="tx1"/>
                          </a:solidFill>
                        </a:rPr>
                        <a:t>3</a:t>
                      </a:r>
                      <a:endParaRPr lang="en-I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err="1">
                          <a:solidFill>
                            <a:schemeClr val="tx1"/>
                          </a:solidFill>
                          <a:latin typeface="Times New Roman"/>
                        </a:rPr>
                        <a:t>Reddicherla</a:t>
                      </a:r>
                      <a:r>
                        <a:rPr lang="en-IN">
                          <a:solidFill>
                            <a:schemeClr val="tx1"/>
                          </a:solidFill>
                          <a:latin typeface="Times New Roman"/>
                        </a:rPr>
                        <a:t> </a:t>
                      </a:r>
                      <a:r>
                        <a:rPr lang="en-IN" err="1">
                          <a:solidFill>
                            <a:schemeClr val="tx1"/>
                          </a:solidFill>
                          <a:latin typeface="Times New Roman"/>
                        </a:rPr>
                        <a:t>Thanuj</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solidFill>
                            <a:schemeClr val="tx1"/>
                          </a:solidFill>
                          <a:latin typeface="Times New Roman"/>
                        </a:rPr>
                        <a:t>CB.EN.U4CYS22056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64332640"/>
                  </a:ext>
                </a:extLst>
              </a:tr>
              <a:tr h="408665">
                <a:tc>
                  <a:txBody>
                    <a:bodyPr/>
                    <a:lstStyle/>
                    <a:p>
                      <a:r>
                        <a:rPr lang="en-US">
                          <a:solidFill>
                            <a:schemeClr val="tx1"/>
                          </a:solidFill>
                        </a:rPr>
                        <a:t>4</a:t>
                      </a:r>
                      <a:endParaRPr lang="en-I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a:solidFill>
                            <a:schemeClr val="tx1"/>
                          </a:solidFill>
                          <a:latin typeface="Times New Roman"/>
                        </a:rPr>
                        <a:t>Mothe Anurag Reddy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solidFill>
                            <a:schemeClr val="tx1"/>
                          </a:solidFill>
                          <a:latin typeface="Times New Roman"/>
                        </a:rPr>
                        <a:t>CB.EN.U4CYS22069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1244053"/>
                  </a:ext>
                </a:extLst>
              </a:tr>
            </a:tbl>
          </a:graphicData>
        </a:graphic>
      </p:graphicFrame>
      <p:sp>
        <p:nvSpPr>
          <p:cNvPr id="3" name="TextBox 2">
            <a:extLst>
              <a:ext uri="{FF2B5EF4-FFF2-40B4-BE49-F238E27FC236}">
                <a16:creationId xmlns:a16="http://schemas.microsoft.com/office/drawing/2014/main" id="{FF73B89F-5953-47CB-B285-6AD338D72678}"/>
              </a:ext>
            </a:extLst>
          </p:cNvPr>
          <p:cNvSpPr txBox="1"/>
          <p:nvPr/>
        </p:nvSpPr>
        <p:spPr>
          <a:xfrm>
            <a:off x="2358787" y="2709319"/>
            <a:ext cx="5374257"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Times New Roman"/>
                <a:cs typeface="Times New Roman"/>
              </a:rPr>
              <a:t>Domain: </a:t>
            </a:r>
            <a:r>
              <a:rPr lang="en-US">
                <a:latin typeface="Times New Roman"/>
                <a:cs typeface="Times New Roman"/>
              </a:rPr>
              <a:t>Threat Intelligence &amp; APT Research</a:t>
            </a:r>
          </a:p>
          <a:p>
            <a:endParaRPr lang="en-US" sz="2000">
              <a:latin typeface="Times New Roman"/>
              <a:cs typeface="Times New Roman"/>
            </a:endParaRPr>
          </a:p>
        </p:txBody>
      </p:sp>
      <p:sp>
        <p:nvSpPr>
          <p:cNvPr id="9" name="TextBox 8">
            <a:extLst>
              <a:ext uri="{FF2B5EF4-FFF2-40B4-BE49-F238E27FC236}">
                <a16:creationId xmlns:a16="http://schemas.microsoft.com/office/drawing/2014/main" id="{31B520CE-02C9-1EE1-EEF4-369284698F69}"/>
              </a:ext>
            </a:extLst>
          </p:cNvPr>
          <p:cNvSpPr txBox="1"/>
          <p:nvPr/>
        </p:nvSpPr>
        <p:spPr>
          <a:xfrm>
            <a:off x="2346041" y="2264313"/>
            <a:ext cx="8130194" cy="369332"/>
          </a:xfrm>
          <a:prstGeom prst="rect">
            <a:avLst/>
          </a:prstGeom>
          <a:noFill/>
        </p:spPr>
        <p:txBody>
          <a:bodyPr wrap="square" lIns="91440" tIns="45720" rIns="91440" bIns="45720" anchor="t">
            <a:spAutoFit/>
          </a:bodyPr>
          <a:lstStyle/>
          <a:p>
            <a:r>
              <a:rPr lang="en-US" b="1">
                <a:latin typeface="Times New Roman"/>
                <a:cs typeface="Times New Roman"/>
              </a:rPr>
              <a:t>Project Title : </a:t>
            </a:r>
            <a:r>
              <a:rPr lang="en-US">
                <a:latin typeface="Times New Roman"/>
                <a:cs typeface="Times New Roman"/>
              </a:rPr>
              <a:t>Deception Technology for APT Detection in Critical Infrastructure</a:t>
            </a:r>
          </a:p>
        </p:txBody>
      </p:sp>
      <p:sp>
        <p:nvSpPr>
          <p:cNvPr id="15" name="TextBox 14">
            <a:extLst>
              <a:ext uri="{FF2B5EF4-FFF2-40B4-BE49-F238E27FC236}">
                <a16:creationId xmlns:a16="http://schemas.microsoft.com/office/drawing/2014/main" id="{CBBFA40D-67AD-B17C-28BC-8CFA89FC874F}"/>
              </a:ext>
            </a:extLst>
          </p:cNvPr>
          <p:cNvSpPr txBox="1"/>
          <p:nvPr/>
        </p:nvSpPr>
        <p:spPr>
          <a:xfrm>
            <a:off x="2358787" y="3118052"/>
            <a:ext cx="6097604" cy="369332"/>
          </a:xfrm>
          <a:prstGeom prst="rect">
            <a:avLst/>
          </a:prstGeom>
          <a:noFill/>
        </p:spPr>
        <p:txBody>
          <a:bodyPr wrap="square" lIns="91440" tIns="45720" rIns="91440" bIns="45720" anchor="t">
            <a:spAutoFit/>
          </a:bodyPr>
          <a:lstStyle/>
          <a:p>
            <a:r>
              <a:rPr lang="en-US" sz="1800" b="1">
                <a:latin typeface="Times New Roman"/>
                <a:cs typeface="Times New Roman"/>
              </a:rPr>
              <a:t>Guide Name: </a:t>
            </a:r>
            <a:r>
              <a:rPr lang="en-US" sz="1800">
                <a:latin typeface="Times New Roman"/>
                <a:ea typeface="+mn-lt"/>
                <a:cs typeface="+mn-lt"/>
              </a:rPr>
              <a:t>Sreejith</a:t>
            </a:r>
            <a:r>
              <a:rPr lang="en-US" sz="1800">
                <a:latin typeface="Times New Roman"/>
                <a:cs typeface="Times New Roman"/>
              </a:rPr>
              <a:t>  K</a:t>
            </a:r>
          </a:p>
        </p:txBody>
      </p:sp>
    </p:spTree>
    <p:extLst>
      <p:ext uri="{BB962C8B-B14F-4D97-AF65-F5344CB8AC3E}">
        <p14:creationId xmlns:p14="http://schemas.microsoft.com/office/powerpoint/2010/main" val="23408303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FE9374F-8DD8-4480-8590-778239D8B0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4" name="Straight Connector 3">
            <a:extLst>
              <a:ext uri="{FF2B5EF4-FFF2-40B4-BE49-F238E27FC236}">
                <a16:creationId xmlns:a16="http://schemas.microsoft.com/office/drawing/2014/main" id="{C86AE5E2-AE54-4C65-842F-C82D80DE5FE3}"/>
              </a:ext>
            </a:extLst>
          </p:cNvPr>
          <p:cNvCxnSpPr>
            <a:cxnSpLocks/>
          </p:cNvCxnSpPr>
          <p:nvPr/>
        </p:nvCxnSpPr>
        <p:spPr>
          <a:xfrm>
            <a:off x="1109709" y="594804"/>
            <a:ext cx="10235953" cy="0"/>
          </a:xfrm>
          <a:prstGeom prst="line">
            <a:avLst/>
          </a:prstGeom>
        </p:spPr>
        <p:style>
          <a:lnRef idx="3">
            <a:schemeClr val="dk1"/>
          </a:lnRef>
          <a:fillRef idx="0">
            <a:schemeClr val="dk1"/>
          </a:fillRef>
          <a:effectRef idx="2">
            <a:schemeClr val="dk1"/>
          </a:effectRef>
          <a:fontRef idx="minor">
            <a:schemeClr val="tx1"/>
          </a:fontRef>
        </p:style>
      </p:cxnSp>
      <p:cxnSp>
        <p:nvCxnSpPr>
          <p:cNvPr id="7" name="Straight Connector 6">
            <a:extLst>
              <a:ext uri="{FF2B5EF4-FFF2-40B4-BE49-F238E27FC236}">
                <a16:creationId xmlns:a16="http://schemas.microsoft.com/office/drawing/2014/main" id="{85230674-9C20-4A48-BEDB-3E71685A6837}"/>
              </a:ext>
            </a:extLst>
          </p:cNvPr>
          <p:cNvCxnSpPr/>
          <p:nvPr/>
        </p:nvCxnSpPr>
        <p:spPr>
          <a:xfrm>
            <a:off x="1038687" y="6448566"/>
            <a:ext cx="10369119" cy="0"/>
          </a:xfrm>
          <a:prstGeom prst="line">
            <a:avLst/>
          </a:prstGeom>
        </p:spPr>
        <p:style>
          <a:lnRef idx="3">
            <a:schemeClr val="dk1"/>
          </a:lnRef>
          <a:fillRef idx="0">
            <a:schemeClr val="dk1"/>
          </a:fillRef>
          <a:effectRef idx="2">
            <a:schemeClr val="dk1"/>
          </a:effectRef>
          <a:fontRef idx="minor">
            <a:schemeClr val="tx1"/>
          </a:fontRef>
        </p:style>
      </p:cxnSp>
      <p:sp>
        <p:nvSpPr>
          <p:cNvPr id="8" name="TextBox 7">
            <a:extLst>
              <a:ext uri="{FF2B5EF4-FFF2-40B4-BE49-F238E27FC236}">
                <a16:creationId xmlns:a16="http://schemas.microsoft.com/office/drawing/2014/main" id="{83B72D3C-7AEE-4C83-8156-6FCDFB64EDF4}"/>
              </a:ext>
            </a:extLst>
          </p:cNvPr>
          <p:cNvSpPr txBox="1"/>
          <p:nvPr/>
        </p:nvSpPr>
        <p:spPr>
          <a:xfrm>
            <a:off x="8788893" y="319596"/>
            <a:ext cx="2821413" cy="276999"/>
          </a:xfrm>
          <a:prstGeom prst="rect">
            <a:avLst/>
          </a:prstGeom>
          <a:noFill/>
        </p:spPr>
        <p:txBody>
          <a:bodyPr wrap="none" rtlCol="0">
            <a:spAutoFit/>
          </a:body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10" name="Date Placeholder 9">
            <a:extLst>
              <a:ext uri="{FF2B5EF4-FFF2-40B4-BE49-F238E27FC236}">
                <a16:creationId xmlns:a16="http://schemas.microsoft.com/office/drawing/2014/main" id="{05A0A882-B0D8-45B0-88B6-4D8C07400180}"/>
              </a:ext>
            </a:extLst>
          </p:cNvPr>
          <p:cNvSpPr>
            <a:spLocks noGrp="1"/>
          </p:cNvSpPr>
          <p:nvPr>
            <p:ph type="dt" sz="half" idx="10"/>
          </p:nvPr>
        </p:nvSpPr>
        <p:spPr>
          <a:xfrm>
            <a:off x="838200" y="6492875"/>
            <a:ext cx="2743200" cy="365125"/>
          </a:xfrm>
        </p:spPr>
        <p:txBody>
          <a:bodyPr/>
          <a:lstStyle/>
          <a:p>
            <a:fld id="{1C63A99E-B57C-4637-B2CF-5EF0C75CDABE}" type="datetime1">
              <a:rPr lang="en-IN" smtClean="0"/>
              <a:t>22-07-2025</a:t>
            </a:fld>
            <a:endParaRPr lang="en-IN"/>
          </a:p>
        </p:txBody>
      </p:sp>
      <p:sp>
        <p:nvSpPr>
          <p:cNvPr id="11" name="Slide Number Placeholder 10">
            <a:extLst>
              <a:ext uri="{FF2B5EF4-FFF2-40B4-BE49-F238E27FC236}">
                <a16:creationId xmlns:a16="http://schemas.microsoft.com/office/drawing/2014/main" id="{D560B5BB-12C6-40D2-9763-B27B8ACDE663}"/>
              </a:ext>
            </a:extLst>
          </p:cNvPr>
          <p:cNvSpPr>
            <a:spLocks noGrp="1"/>
          </p:cNvSpPr>
          <p:nvPr>
            <p:ph type="sldNum" sz="quarter" idx="12"/>
          </p:nvPr>
        </p:nvSpPr>
        <p:spPr>
          <a:xfrm>
            <a:off x="8734887" y="6492875"/>
            <a:ext cx="2743200" cy="365125"/>
          </a:xfrm>
        </p:spPr>
        <p:txBody>
          <a:bodyPr/>
          <a:lstStyle/>
          <a:p>
            <a:fld id="{3C3E5B82-863A-4B66-9E4F-DCFAD2A3B854}" type="slidenum">
              <a:rPr lang="en-IN" smtClean="0"/>
              <a:t>2</a:t>
            </a:fld>
            <a:endParaRPr lang="en-IN"/>
          </a:p>
        </p:txBody>
      </p:sp>
      <p:sp>
        <p:nvSpPr>
          <p:cNvPr id="12" name="Footer Placeholder 11">
            <a:extLst>
              <a:ext uri="{FF2B5EF4-FFF2-40B4-BE49-F238E27FC236}">
                <a16:creationId xmlns:a16="http://schemas.microsoft.com/office/drawing/2014/main" id="{F6D4F79C-3FA2-494F-BB27-8CB7272816E9}"/>
              </a:ext>
            </a:extLst>
          </p:cNvPr>
          <p:cNvSpPr>
            <a:spLocks noGrp="1"/>
          </p:cNvSpPr>
          <p:nvPr>
            <p:ph type="ftr" sz="quarter" idx="11"/>
          </p:nvPr>
        </p:nvSpPr>
        <p:spPr>
          <a:xfrm>
            <a:off x="4038600" y="6492875"/>
            <a:ext cx="4114800" cy="365125"/>
          </a:xfrm>
        </p:spPr>
        <p:txBody>
          <a:bodyPr/>
          <a:lstStyle/>
          <a:p>
            <a:r>
              <a:rPr lang="en-US"/>
              <a:t>20CYS 495 B.Tech CYS: 2022 - 2026 Project Presentation </a:t>
            </a:r>
            <a:endParaRPr lang="en-IN"/>
          </a:p>
        </p:txBody>
      </p:sp>
      <p:sp>
        <p:nvSpPr>
          <p:cNvPr id="22" name="TextBox 21">
            <a:extLst>
              <a:ext uri="{FF2B5EF4-FFF2-40B4-BE49-F238E27FC236}">
                <a16:creationId xmlns:a16="http://schemas.microsoft.com/office/drawing/2014/main" id="{29CA5A65-7BE8-4A29-A569-7BA2B2508144}"/>
              </a:ext>
            </a:extLst>
          </p:cNvPr>
          <p:cNvSpPr txBox="1"/>
          <p:nvPr/>
        </p:nvSpPr>
        <p:spPr>
          <a:xfrm>
            <a:off x="588497" y="1037670"/>
            <a:ext cx="10397168" cy="4093428"/>
          </a:xfrm>
          <a:prstGeom prst="rect">
            <a:avLst/>
          </a:prstGeom>
          <a:noFill/>
        </p:spPr>
        <p:txBody>
          <a:bodyPr wrap="square" lIns="91440" tIns="45720" rIns="91440" bIns="45720" rtlCol="0" anchor="t">
            <a:spAutoFit/>
          </a:bodyPr>
          <a:lstStyle/>
          <a:p>
            <a:pPr algn="just"/>
            <a:r>
              <a:rPr lang="en-IN" sz="2000" b="1">
                <a:latin typeface="Times New Roman"/>
                <a:cs typeface="Times New Roman"/>
              </a:rPr>
              <a:t>Problem Statement </a:t>
            </a:r>
            <a:r>
              <a:rPr lang="en-US" sz="2000">
                <a:latin typeface="Times New Roman"/>
                <a:cs typeface="Times New Roman"/>
              </a:rPr>
              <a:t> </a:t>
            </a:r>
          </a:p>
          <a:p>
            <a:pPr algn="just"/>
            <a:endParaRPr lang="en-US" sz="2000">
              <a:latin typeface="Times New Roman"/>
              <a:cs typeface="Times New Roman"/>
            </a:endParaRPr>
          </a:p>
          <a:p>
            <a:pPr algn="just"/>
            <a:r>
              <a:rPr lang="en-US" sz="2000">
                <a:latin typeface="Times New Roman"/>
                <a:cs typeface="Times New Roman"/>
              </a:rPr>
              <a:t>Critical infrastructure environments are prime targets for Advanced Persistent Threats (APTs) that specialize in bypassing traditional, signature-based security controls. The core problem is that once inside a network, these adversaries use stealthy tactics, techniques, and procedures (TTPs) for lateral movement, privilege escalation, and data exfiltration that are nearly indistinguishable from legitimate activity. This leads to a critical detection gap, allowing attackers to operate with prolonged dwell times and significantly increasing the risk of major data breaches and service disruption. As a result, security teams are often overwhelmed by a high volume of low-confidence alerts, which masks genuine threats and impedes effective incident response. This project confronts this challenge by implementing a proactive deception framework engineered to generate high-fidelity, context-rich alerts on malicious activity, providing the clear intelligence required for rapid threat neutralization.</a:t>
            </a:r>
            <a:endParaRPr lang="en-IN" sz="2000" b="1">
              <a:latin typeface="Times New Roman"/>
              <a:cs typeface="Times New Roman"/>
            </a:endParaRPr>
          </a:p>
        </p:txBody>
      </p:sp>
      <p:sp>
        <p:nvSpPr>
          <p:cNvPr id="9" name="TextBox 8">
            <a:extLst>
              <a:ext uri="{FF2B5EF4-FFF2-40B4-BE49-F238E27FC236}">
                <a16:creationId xmlns:a16="http://schemas.microsoft.com/office/drawing/2014/main" id="{7BB36B5C-EECE-24D1-840D-68BFA1E95E54}"/>
              </a:ext>
            </a:extLst>
          </p:cNvPr>
          <p:cNvSpPr txBox="1"/>
          <p:nvPr/>
        </p:nvSpPr>
        <p:spPr>
          <a:xfrm>
            <a:off x="-447178" y="5359672"/>
            <a:ext cx="6097604" cy="369332"/>
          </a:xfrm>
          <a:prstGeom prst="rect">
            <a:avLst/>
          </a:prstGeom>
          <a:noFill/>
        </p:spPr>
        <p:txBody>
          <a:bodyPr wrap="square">
            <a:spAutoFit/>
          </a:bodyPr>
          <a:lstStyle/>
          <a:p>
            <a:r>
              <a:rPr lang="en-US" b="1"/>
              <a:t>:</a:t>
            </a:r>
          </a:p>
        </p:txBody>
      </p:sp>
    </p:spTree>
    <p:extLst>
      <p:ext uri="{BB962C8B-B14F-4D97-AF65-F5344CB8AC3E}">
        <p14:creationId xmlns:p14="http://schemas.microsoft.com/office/powerpoint/2010/main" val="8013840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FE9374F-8DD8-4480-8590-778239D8B0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4" name="Straight Connector 3">
            <a:extLst>
              <a:ext uri="{FF2B5EF4-FFF2-40B4-BE49-F238E27FC236}">
                <a16:creationId xmlns:a16="http://schemas.microsoft.com/office/drawing/2014/main" id="{C86AE5E2-AE54-4C65-842F-C82D80DE5FE3}"/>
              </a:ext>
            </a:extLst>
          </p:cNvPr>
          <p:cNvCxnSpPr>
            <a:cxnSpLocks/>
          </p:cNvCxnSpPr>
          <p:nvPr/>
        </p:nvCxnSpPr>
        <p:spPr>
          <a:xfrm>
            <a:off x="1109709" y="594804"/>
            <a:ext cx="10235953" cy="0"/>
          </a:xfrm>
          <a:prstGeom prst="line">
            <a:avLst/>
          </a:prstGeom>
        </p:spPr>
        <p:style>
          <a:lnRef idx="3">
            <a:schemeClr val="dk1"/>
          </a:lnRef>
          <a:fillRef idx="0">
            <a:schemeClr val="dk1"/>
          </a:fillRef>
          <a:effectRef idx="2">
            <a:schemeClr val="dk1"/>
          </a:effectRef>
          <a:fontRef idx="minor">
            <a:schemeClr val="tx1"/>
          </a:fontRef>
        </p:style>
      </p:cxnSp>
      <p:cxnSp>
        <p:nvCxnSpPr>
          <p:cNvPr id="7" name="Straight Connector 6">
            <a:extLst>
              <a:ext uri="{FF2B5EF4-FFF2-40B4-BE49-F238E27FC236}">
                <a16:creationId xmlns:a16="http://schemas.microsoft.com/office/drawing/2014/main" id="{85230674-9C20-4A48-BEDB-3E71685A6837}"/>
              </a:ext>
            </a:extLst>
          </p:cNvPr>
          <p:cNvCxnSpPr/>
          <p:nvPr/>
        </p:nvCxnSpPr>
        <p:spPr>
          <a:xfrm>
            <a:off x="1038687" y="6462943"/>
            <a:ext cx="10369119" cy="0"/>
          </a:xfrm>
          <a:prstGeom prst="line">
            <a:avLst/>
          </a:prstGeom>
        </p:spPr>
        <p:style>
          <a:lnRef idx="3">
            <a:schemeClr val="dk1"/>
          </a:lnRef>
          <a:fillRef idx="0">
            <a:schemeClr val="dk1"/>
          </a:fillRef>
          <a:effectRef idx="2">
            <a:schemeClr val="dk1"/>
          </a:effectRef>
          <a:fontRef idx="minor">
            <a:schemeClr val="tx1"/>
          </a:fontRef>
        </p:style>
      </p:cxnSp>
      <p:sp>
        <p:nvSpPr>
          <p:cNvPr id="8" name="TextBox 7">
            <a:extLst>
              <a:ext uri="{FF2B5EF4-FFF2-40B4-BE49-F238E27FC236}">
                <a16:creationId xmlns:a16="http://schemas.microsoft.com/office/drawing/2014/main" id="{83B72D3C-7AEE-4C83-8156-6FCDFB64EDF4}"/>
              </a:ext>
            </a:extLst>
          </p:cNvPr>
          <p:cNvSpPr txBox="1"/>
          <p:nvPr/>
        </p:nvSpPr>
        <p:spPr>
          <a:xfrm>
            <a:off x="8788893" y="319596"/>
            <a:ext cx="2821413" cy="276999"/>
          </a:xfrm>
          <a:prstGeom prst="rect">
            <a:avLst/>
          </a:prstGeom>
          <a:noFill/>
        </p:spPr>
        <p:txBody>
          <a:bodyPr wrap="none" rtlCol="0">
            <a:spAutoFit/>
          </a:body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10" name="Date Placeholder 9">
            <a:extLst>
              <a:ext uri="{FF2B5EF4-FFF2-40B4-BE49-F238E27FC236}">
                <a16:creationId xmlns:a16="http://schemas.microsoft.com/office/drawing/2014/main" id="{05A0A882-B0D8-45B0-88B6-4D8C07400180}"/>
              </a:ext>
            </a:extLst>
          </p:cNvPr>
          <p:cNvSpPr>
            <a:spLocks noGrp="1"/>
          </p:cNvSpPr>
          <p:nvPr>
            <p:ph type="dt" sz="half" idx="10"/>
          </p:nvPr>
        </p:nvSpPr>
        <p:spPr>
          <a:xfrm>
            <a:off x="838200" y="6492875"/>
            <a:ext cx="2743200" cy="365125"/>
          </a:xfrm>
        </p:spPr>
        <p:txBody>
          <a:bodyPr/>
          <a:lstStyle/>
          <a:p>
            <a:fld id="{EA79F306-FA4D-4663-80D5-A7BEC3B1FE19}" type="datetime1">
              <a:rPr lang="en-IN" smtClean="0"/>
              <a:t>22-07-2025</a:t>
            </a:fld>
            <a:endParaRPr lang="en-IN"/>
          </a:p>
        </p:txBody>
      </p:sp>
      <p:sp>
        <p:nvSpPr>
          <p:cNvPr id="11" name="Slide Number Placeholder 10">
            <a:extLst>
              <a:ext uri="{FF2B5EF4-FFF2-40B4-BE49-F238E27FC236}">
                <a16:creationId xmlns:a16="http://schemas.microsoft.com/office/drawing/2014/main" id="{D560B5BB-12C6-40D2-9763-B27B8ACDE663}"/>
              </a:ext>
            </a:extLst>
          </p:cNvPr>
          <p:cNvSpPr>
            <a:spLocks noGrp="1"/>
          </p:cNvSpPr>
          <p:nvPr>
            <p:ph type="sldNum" sz="quarter" idx="12"/>
          </p:nvPr>
        </p:nvSpPr>
        <p:spPr>
          <a:xfrm>
            <a:off x="8734887" y="6492875"/>
            <a:ext cx="2743200" cy="365125"/>
          </a:xfrm>
        </p:spPr>
        <p:txBody>
          <a:bodyPr/>
          <a:lstStyle/>
          <a:p>
            <a:fld id="{3C3E5B82-863A-4B66-9E4F-DCFAD2A3B854}" type="slidenum">
              <a:rPr lang="en-IN" smtClean="0"/>
              <a:t>3</a:t>
            </a:fld>
            <a:endParaRPr lang="en-IN"/>
          </a:p>
        </p:txBody>
      </p:sp>
      <p:sp>
        <p:nvSpPr>
          <p:cNvPr id="12" name="Footer Placeholder 11">
            <a:extLst>
              <a:ext uri="{FF2B5EF4-FFF2-40B4-BE49-F238E27FC236}">
                <a16:creationId xmlns:a16="http://schemas.microsoft.com/office/drawing/2014/main" id="{F6D4F79C-3FA2-494F-BB27-8CB7272816E9}"/>
              </a:ext>
            </a:extLst>
          </p:cNvPr>
          <p:cNvSpPr>
            <a:spLocks noGrp="1"/>
          </p:cNvSpPr>
          <p:nvPr>
            <p:ph type="ftr" sz="quarter" idx="11"/>
          </p:nvPr>
        </p:nvSpPr>
        <p:spPr>
          <a:xfrm>
            <a:off x="4038600" y="6492875"/>
            <a:ext cx="4114800" cy="365125"/>
          </a:xfrm>
        </p:spPr>
        <p:txBody>
          <a:bodyPr/>
          <a:lstStyle/>
          <a:p>
            <a:r>
              <a:rPr lang="en-US"/>
              <a:t>20CYS 495 B.Tech CYS: 2022 - 2026 Project Presentation </a:t>
            </a:r>
            <a:endParaRPr lang="en-IN"/>
          </a:p>
        </p:txBody>
      </p:sp>
      <p:sp>
        <p:nvSpPr>
          <p:cNvPr id="6" name="TextBox 5">
            <a:extLst>
              <a:ext uri="{FF2B5EF4-FFF2-40B4-BE49-F238E27FC236}">
                <a16:creationId xmlns:a16="http://schemas.microsoft.com/office/drawing/2014/main" id="{DBF0A638-7F70-2125-6C9C-2E889F49427E}"/>
              </a:ext>
            </a:extLst>
          </p:cNvPr>
          <p:cNvSpPr txBox="1"/>
          <p:nvPr/>
        </p:nvSpPr>
        <p:spPr>
          <a:xfrm>
            <a:off x="1105922" y="3934887"/>
            <a:ext cx="10569606" cy="1015663"/>
          </a:xfrm>
          <a:prstGeom prst="rect">
            <a:avLst/>
          </a:prstGeom>
          <a:noFill/>
        </p:spPr>
        <p:txBody>
          <a:bodyPr wrap="square" lIns="91440" tIns="45720" rIns="91440" bIns="45720" anchor="t">
            <a:spAutoFit/>
          </a:bodyPr>
          <a:lstStyle/>
          <a:p>
            <a:pPr algn="just"/>
            <a:r>
              <a:rPr lang="en-US" sz="2000">
                <a:latin typeface="Times New Roman"/>
                <a:cs typeface="Times New Roman"/>
              </a:rPr>
              <a:t>The significance of this work lies in delivering a behavior-based defense model that not only advances academic understanding of deception technologies but also provides enterprises with a clear, actionable strategy to strengthen their security posture.</a:t>
            </a:r>
            <a:endParaRPr lang="en-US" sz="2000">
              <a:latin typeface="Times New Roman"/>
              <a:ea typeface="Calibri"/>
              <a:cs typeface="Times New Roman"/>
            </a:endParaRPr>
          </a:p>
        </p:txBody>
      </p:sp>
      <p:sp>
        <p:nvSpPr>
          <p:cNvPr id="13" name="TextBox 12">
            <a:extLst>
              <a:ext uri="{FF2B5EF4-FFF2-40B4-BE49-F238E27FC236}">
                <a16:creationId xmlns:a16="http://schemas.microsoft.com/office/drawing/2014/main" id="{32CB66D2-F26F-602E-A05A-92C59C6BA541}"/>
              </a:ext>
            </a:extLst>
          </p:cNvPr>
          <p:cNvSpPr txBox="1"/>
          <p:nvPr/>
        </p:nvSpPr>
        <p:spPr>
          <a:xfrm>
            <a:off x="995744" y="1085398"/>
            <a:ext cx="8635712" cy="461665"/>
          </a:xfrm>
          <a:prstGeom prst="rect">
            <a:avLst/>
          </a:prstGeom>
          <a:noFill/>
        </p:spPr>
        <p:txBody>
          <a:bodyPr wrap="square" lIns="91440" tIns="45720" rIns="91440" bIns="45720" anchor="t">
            <a:spAutoFit/>
          </a:bodyPr>
          <a:lstStyle/>
          <a:p>
            <a:pPr marL="342900" indent="-342900">
              <a:buFont typeface="Arial"/>
              <a:buChar char="•"/>
            </a:pPr>
            <a:r>
              <a:rPr lang="en-US" sz="2400" b="1">
                <a:latin typeface="Times New Roman"/>
                <a:cs typeface="Times New Roman"/>
              </a:rPr>
              <a:t>Motivation and significance of solving this problem </a:t>
            </a:r>
            <a:endParaRPr lang="en-US" sz="2400">
              <a:latin typeface="Times New Roman"/>
              <a:ea typeface="Calibri"/>
              <a:cs typeface="Times New Roman"/>
            </a:endParaRPr>
          </a:p>
        </p:txBody>
      </p:sp>
      <p:sp>
        <p:nvSpPr>
          <p:cNvPr id="16" name="TextBox 15">
            <a:extLst>
              <a:ext uri="{FF2B5EF4-FFF2-40B4-BE49-F238E27FC236}">
                <a16:creationId xmlns:a16="http://schemas.microsoft.com/office/drawing/2014/main" id="{80ADCB5D-4ECA-9147-E297-DC571C1267A9}"/>
              </a:ext>
            </a:extLst>
          </p:cNvPr>
          <p:cNvSpPr txBox="1"/>
          <p:nvPr/>
        </p:nvSpPr>
        <p:spPr>
          <a:xfrm>
            <a:off x="1008719" y="1690964"/>
            <a:ext cx="10639887" cy="2246769"/>
          </a:xfrm>
          <a:prstGeom prst="rect">
            <a:avLst/>
          </a:prstGeom>
          <a:noFill/>
        </p:spPr>
        <p:txBody>
          <a:bodyPr wrap="square" lIns="91440" tIns="45720" rIns="91440" bIns="45720" anchor="t">
            <a:spAutoFit/>
          </a:bodyPr>
          <a:lstStyle/>
          <a:p>
            <a:pPr algn="just"/>
            <a:r>
              <a:rPr lang="en-US" sz="2000">
                <a:latin typeface="Times New Roman"/>
                <a:cs typeface="Times New Roman"/>
              </a:rPr>
              <a:t>Our motivation is to detect stealthy, long-term APTs that evade standard defenses. We chose a rich deception platform over basic honeypots to emulate realistic credentials, file shares, and AD[Active Directory] objects. This controlled environment safely reveals attacker tactics like lateral movement, privilege escalation, and data exfiltration. Aggregating alerts in Splunk and mapping to MITRE ATT&amp;CK provides real-time visibility, validates coverage, and offers enterprises a practical behavior-based defense model.</a:t>
            </a:r>
          </a:p>
          <a:p>
            <a:pPr algn="just"/>
            <a:endParaRPr lang="en-US" sz="2000">
              <a:latin typeface="Times New Roman"/>
              <a:cs typeface="Times New Roman"/>
            </a:endParaRPr>
          </a:p>
        </p:txBody>
      </p:sp>
    </p:spTree>
    <p:extLst>
      <p:ext uri="{BB962C8B-B14F-4D97-AF65-F5344CB8AC3E}">
        <p14:creationId xmlns:p14="http://schemas.microsoft.com/office/powerpoint/2010/main" val="33263372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8C92F-0C77-D532-B21E-8B4AF72ABB81}"/>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6D3DAF86-498D-AD8F-869B-1212D65875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4" name="Straight Connector 3">
            <a:extLst>
              <a:ext uri="{FF2B5EF4-FFF2-40B4-BE49-F238E27FC236}">
                <a16:creationId xmlns:a16="http://schemas.microsoft.com/office/drawing/2014/main" id="{8337D263-2CC9-A4DE-AF4B-1A98C1739BDF}"/>
              </a:ext>
            </a:extLst>
          </p:cNvPr>
          <p:cNvCxnSpPr>
            <a:cxnSpLocks/>
          </p:cNvCxnSpPr>
          <p:nvPr/>
        </p:nvCxnSpPr>
        <p:spPr>
          <a:xfrm>
            <a:off x="1109709" y="594804"/>
            <a:ext cx="10235953" cy="0"/>
          </a:xfrm>
          <a:prstGeom prst="line">
            <a:avLst/>
          </a:prstGeom>
        </p:spPr>
        <p:style>
          <a:lnRef idx="3">
            <a:schemeClr val="dk1"/>
          </a:lnRef>
          <a:fillRef idx="0">
            <a:schemeClr val="dk1"/>
          </a:fillRef>
          <a:effectRef idx="2">
            <a:schemeClr val="dk1"/>
          </a:effectRef>
          <a:fontRef idx="minor">
            <a:schemeClr val="tx1"/>
          </a:fontRef>
        </p:style>
      </p:cxnSp>
      <p:cxnSp>
        <p:nvCxnSpPr>
          <p:cNvPr id="7" name="Straight Connector 6">
            <a:extLst>
              <a:ext uri="{FF2B5EF4-FFF2-40B4-BE49-F238E27FC236}">
                <a16:creationId xmlns:a16="http://schemas.microsoft.com/office/drawing/2014/main" id="{DA0C982D-6C68-0181-C949-CB6D23CD5C30}"/>
              </a:ext>
            </a:extLst>
          </p:cNvPr>
          <p:cNvCxnSpPr/>
          <p:nvPr/>
        </p:nvCxnSpPr>
        <p:spPr>
          <a:xfrm>
            <a:off x="1038687" y="6462943"/>
            <a:ext cx="10369119" cy="0"/>
          </a:xfrm>
          <a:prstGeom prst="line">
            <a:avLst/>
          </a:prstGeom>
        </p:spPr>
        <p:style>
          <a:lnRef idx="3">
            <a:schemeClr val="dk1"/>
          </a:lnRef>
          <a:fillRef idx="0">
            <a:schemeClr val="dk1"/>
          </a:fillRef>
          <a:effectRef idx="2">
            <a:schemeClr val="dk1"/>
          </a:effectRef>
          <a:fontRef idx="minor">
            <a:schemeClr val="tx1"/>
          </a:fontRef>
        </p:style>
      </p:cxnSp>
      <p:sp>
        <p:nvSpPr>
          <p:cNvPr id="8" name="TextBox 7">
            <a:extLst>
              <a:ext uri="{FF2B5EF4-FFF2-40B4-BE49-F238E27FC236}">
                <a16:creationId xmlns:a16="http://schemas.microsoft.com/office/drawing/2014/main" id="{D1F6BBEA-647F-F189-FF80-C5B06B268152}"/>
              </a:ext>
            </a:extLst>
          </p:cNvPr>
          <p:cNvSpPr txBox="1"/>
          <p:nvPr/>
        </p:nvSpPr>
        <p:spPr>
          <a:xfrm>
            <a:off x="8788893" y="319596"/>
            <a:ext cx="2821413" cy="276999"/>
          </a:xfrm>
          <a:prstGeom prst="rect">
            <a:avLst/>
          </a:prstGeom>
          <a:noFill/>
        </p:spPr>
        <p:txBody>
          <a:bodyPr wrap="none" rtlCol="0">
            <a:spAutoFit/>
          </a:body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10" name="Date Placeholder 9">
            <a:extLst>
              <a:ext uri="{FF2B5EF4-FFF2-40B4-BE49-F238E27FC236}">
                <a16:creationId xmlns:a16="http://schemas.microsoft.com/office/drawing/2014/main" id="{00D4CEB5-0B61-550B-B89A-82052BB405B1}"/>
              </a:ext>
            </a:extLst>
          </p:cNvPr>
          <p:cNvSpPr>
            <a:spLocks noGrp="1"/>
          </p:cNvSpPr>
          <p:nvPr>
            <p:ph type="dt" sz="half" idx="10"/>
          </p:nvPr>
        </p:nvSpPr>
        <p:spPr>
          <a:xfrm>
            <a:off x="838200" y="6492875"/>
            <a:ext cx="2743200" cy="365125"/>
          </a:xfrm>
        </p:spPr>
        <p:txBody>
          <a:bodyPr/>
          <a:lstStyle/>
          <a:p>
            <a:fld id="{EA79F306-FA4D-4663-80D5-A7BEC3B1FE19}" type="datetime1">
              <a:rPr lang="en-IN" smtClean="0"/>
              <a:t>22-07-2025</a:t>
            </a:fld>
            <a:endParaRPr lang="en-IN"/>
          </a:p>
        </p:txBody>
      </p:sp>
      <p:sp>
        <p:nvSpPr>
          <p:cNvPr id="11" name="Slide Number Placeholder 10">
            <a:extLst>
              <a:ext uri="{FF2B5EF4-FFF2-40B4-BE49-F238E27FC236}">
                <a16:creationId xmlns:a16="http://schemas.microsoft.com/office/drawing/2014/main" id="{7FC643E3-5CB6-F00B-A318-B90214F2F59A}"/>
              </a:ext>
            </a:extLst>
          </p:cNvPr>
          <p:cNvSpPr>
            <a:spLocks noGrp="1"/>
          </p:cNvSpPr>
          <p:nvPr>
            <p:ph type="sldNum" sz="quarter" idx="12"/>
          </p:nvPr>
        </p:nvSpPr>
        <p:spPr>
          <a:xfrm>
            <a:off x="8734887" y="6492875"/>
            <a:ext cx="2743200" cy="365125"/>
          </a:xfrm>
        </p:spPr>
        <p:txBody>
          <a:bodyPr/>
          <a:lstStyle/>
          <a:p>
            <a:fld id="{3C3E5B82-863A-4B66-9E4F-DCFAD2A3B854}" type="slidenum">
              <a:rPr lang="en-IN" smtClean="0"/>
              <a:t>4</a:t>
            </a:fld>
            <a:endParaRPr lang="en-IN"/>
          </a:p>
        </p:txBody>
      </p:sp>
      <p:sp>
        <p:nvSpPr>
          <p:cNvPr id="12" name="Footer Placeholder 11">
            <a:extLst>
              <a:ext uri="{FF2B5EF4-FFF2-40B4-BE49-F238E27FC236}">
                <a16:creationId xmlns:a16="http://schemas.microsoft.com/office/drawing/2014/main" id="{B3F0B0CA-726E-4960-87AD-EAA9D2949188}"/>
              </a:ext>
            </a:extLst>
          </p:cNvPr>
          <p:cNvSpPr>
            <a:spLocks noGrp="1"/>
          </p:cNvSpPr>
          <p:nvPr>
            <p:ph type="ftr" sz="quarter" idx="11"/>
          </p:nvPr>
        </p:nvSpPr>
        <p:spPr>
          <a:xfrm>
            <a:off x="4038600" y="6492875"/>
            <a:ext cx="4114800" cy="365125"/>
          </a:xfrm>
        </p:spPr>
        <p:txBody>
          <a:bodyPr/>
          <a:lstStyle/>
          <a:p>
            <a:r>
              <a:rPr lang="en-US"/>
              <a:t>20CYS 495 B.Tech CYS: 2022 - 2026 Project Presentation </a:t>
            </a:r>
            <a:endParaRPr lang="en-IN"/>
          </a:p>
        </p:txBody>
      </p:sp>
      <p:sp>
        <p:nvSpPr>
          <p:cNvPr id="5" name="Rectangle 2">
            <a:extLst>
              <a:ext uri="{FF2B5EF4-FFF2-40B4-BE49-F238E27FC236}">
                <a16:creationId xmlns:a16="http://schemas.microsoft.com/office/drawing/2014/main" id="{0B7EFE75-D24F-0577-A961-44BC71C4A75C}"/>
              </a:ext>
            </a:extLst>
          </p:cNvPr>
          <p:cNvSpPr>
            <a:spLocks noChangeArrowheads="1"/>
          </p:cNvSpPr>
          <p:nvPr/>
        </p:nvSpPr>
        <p:spPr bwMode="auto">
          <a:xfrm>
            <a:off x="828574" y="1268580"/>
            <a:ext cx="10481842"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gn="just">
              <a:buFont typeface="Arial"/>
              <a:buChar char="•"/>
            </a:pPr>
            <a:r>
              <a:rPr lang="en-US" sz="2000" b="1">
                <a:latin typeface="Times New Roman"/>
                <a:ea typeface="+mn-lt"/>
                <a:cs typeface="+mn-lt"/>
              </a:rPr>
              <a:t> Product:</a:t>
            </a:r>
            <a:r>
              <a:rPr lang="en-US" sz="2000">
                <a:latin typeface="Times New Roman"/>
                <a:ea typeface="+mn-lt"/>
                <a:cs typeface="+mn-lt"/>
              </a:rPr>
              <a:t> We are developing a </a:t>
            </a:r>
            <a:r>
              <a:rPr lang="en-US" sz="2000" b="1">
                <a:latin typeface="Times New Roman"/>
                <a:ea typeface="+mn-lt"/>
                <a:cs typeface="+mn-lt"/>
              </a:rPr>
              <a:t>new framework/solution</a:t>
            </a:r>
            <a:r>
              <a:rPr lang="en-US" sz="2000">
                <a:latin typeface="Times New Roman"/>
                <a:ea typeface="+mn-lt"/>
                <a:cs typeface="+mn-lt"/>
              </a:rPr>
              <a:t>. Our project integrates existing technologies (deception platforms, SIEM, red-team tools) to create a novel and comprehensive security capability.</a:t>
            </a:r>
            <a:endParaRPr lang="en-US" sz="2000">
              <a:latin typeface="Times New Roman"/>
              <a:ea typeface="Calibri" panose="020F0502020204030204"/>
              <a:cs typeface="Calibri" panose="020F0502020204030204"/>
            </a:endParaRPr>
          </a:p>
          <a:p>
            <a:pPr marL="285750" indent="-285750" algn="just">
              <a:buFont typeface="Arial"/>
              <a:buChar char="•"/>
            </a:pPr>
            <a:r>
              <a:rPr lang="en-US" sz="2000" b="1">
                <a:latin typeface="Times New Roman"/>
                <a:ea typeface="+mn-lt"/>
                <a:cs typeface="+mn-lt"/>
              </a:rPr>
              <a:t>Useful for:</a:t>
            </a:r>
            <a:r>
              <a:rPr lang="en-US" sz="2000">
                <a:latin typeface="Times New Roman"/>
                <a:ea typeface="+mn-lt"/>
                <a:cs typeface="+mn-lt"/>
              </a:rPr>
              <a:t> </a:t>
            </a:r>
            <a:r>
              <a:rPr lang="en-US" sz="2000" b="1">
                <a:latin typeface="Times New Roman"/>
                <a:ea typeface="+mn-lt"/>
                <a:cs typeface="+mn-lt"/>
              </a:rPr>
              <a:t>Enterprises.</a:t>
            </a:r>
            <a:r>
              <a:rPr lang="en-US" sz="2000">
                <a:latin typeface="Times New Roman"/>
                <a:ea typeface="+mn-lt"/>
                <a:cs typeface="+mn-lt"/>
              </a:rPr>
              <a:t> The focus on APTs, critical infrastructure, and the complexity of the tools we are using (Splunk, Cobalt Strike) make this solution ideal for large organizations with mature security teams.</a:t>
            </a:r>
            <a:endParaRPr lang="en-US" sz="2000">
              <a:latin typeface="Times New Roman"/>
              <a:ea typeface="Calibri"/>
              <a:cs typeface="Calibri"/>
            </a:endParaRPr>
          </a:p>
          <a:p>
            <a:pPr marL="285750" indent="-285750" algn="just">
              <a:buFont typeface="Arial"/>
              <a:buChar char="•"/>
            </a:pPr>
            <a:r>
              <a:rPr lang="en-US" sz="2000" b="1">
                <a:latin typeface="Times New Roman"/>
                <a:ea typeface="+mn-lt"/>
                <a:cs typeface="+mn-lt"/>
              </a:rPr>
              <a:t>Offensive/Defensive Security:</a:t>
            </a:r>
            <a:r>
              <a:rPr lang="en-US" sz="2000">
                <a:latin typeface="Times New Roman"/>
                <a:ea typeface="+mn-lt"/>
                <a:cs typeface="+mn-lt"/>
              </a:rPr>
              <a:t> </a:t>
            </a:r>
            <a:r>
              <a:rPr lang="en-US" sz="2000" b="1">
                <a:latin typeface="Times New Roman"/>
                <a:ea typeface="+mn-lt"/>
                <a:cs typeface="+mn-lt"/>
              </a:rPr>
              <a:t>Defensive Security.</a:t>
            </a:r>
            <a:r>
              <a:rPr lang="en-US" sz="2000">
                <a:latin typeface="Times New Roman"/>
                <a:ea typeface="+mn-lt"/>
                <a:cs typeface="+mn-lt"/>
              </a:rPr>
              <a:t> Although we use offensive tools to simulate attacks, our project's primary goal is to build a system that detects and defends against threats. We are implementing an "Active Defense" strategy.</a:t>
            </a:r>
            <a:endParaRPr lang="en-US" sz="2000">
              <a:latin typeface="Times New Roman"/>
              <a:ea typeface="Calibri"/>
              <a:cs typeface="Calibri"/>
            </a:endParaRPr>
          </a:p>
          <a:p>
            <a:pPr marL="285750" indent="-285750" algn="just">
              <a:buFont typeface="Arial"/>
              <a:buChar char="•"/>
            </a:pPr>
            <a:r>
              <a:rPr lang="en-US" sz="2000" b="1">
                <a:latin typeface="Times New Roman"/>
                <a:ea typeface="+mn-lt"/>
                <a:cs typeface="+mn-lt"/>
              </a:rPr>
              <a:t>Hardware required / Software only:</a:t>
            </a:r>
            <a:r>
              <a:rPr lang="en-US" sz="2000">
                <a:latin typeface="Times New Roman"/>
                <a:ea typeface="+mn-lt"/>
                <a:cs typeface="+mn-lt"/>
              </a:rPr>
              <a:t> </a:t>
            </a:r>
            <a:r>
              <a:rPr lang="en-US" sz="2000" b="1">
                <a:latin typeface="Times New Roman"/>
                <a:ea typeface="+mn-lt"/>
                <a:cs typeface="+mn-lt"/>
              </a:rPr>
              <a:t>Hardware required.</a:t>
            </a:r>
            <a:r>
              <a:rPr lang="en-US" sz="2000">
                <a:latin typeface="Times New Roman"/>
                <a:ea typeface="+mn-lt"/>
                <a:cs typeface="+mn-lt"/>
              </a:rPr>
              <a:t> Our solution requires servers (physical or virtual) to host the deception environment, the Splunk instance, and the various testing tools we will be using.</a:t>
            </a:r>
            <a:endParaRPr lang="en-US" sz="2000">
              <a:latin typeface="Times New Roman"/>
              <a:ea typeface="Calibri"/>
              <a:cs typeface="Calibri"/>
            </a:endParaRPr>
          </a:p>
          <a:p>
            <a:pPr marL="285750" indent="-285750" algn="just">
              <a:buFont typeface="Arial"/>
              <a:buChar char="•"/>
            </a:pPr>
            <a:r>
              <a:rPr lang="en-US" sz="2000" b="1">
                <a:latin typeface="Times New Roman"/>
                <a:ea typeface="+mn-lt"/>
                <a:cs typeface="+mn-lt"/>
              </a:rPr>
              <a:t>Linux / Windows / Android:</a:t>
            </a:r>
            <a:r>
              <a:rPr lang="en-US" sz="2000">
                <a:latin typeface="Times New Roman"/>
                <a:ea typeface="+mn-lt"/>
                <a:cs typeface="+mn-lt"/>
              </a:rPr>
              <a:t> </a:t>
            </a:r>
            <a:r>
              <a:rPr lang="en-US" sz="2000" b="1">
                <a:latin typeface="Times New Roman"/>
                <a:ea typeface="+mn-lt"/>
                <a:cs typeface="+mn-lt"/>
              </a:rPr>
              <a:t>Linux &amp; Windows.</a:t>
            </a:r>
            <a:r>
              <a:rPr lang="en-US" sz="2000">
                <a:latin typeface="Times New Roman"/>
                <a:ea typeface="+mn-lt"/>
                <a:cs typeface="+mn-lt"/>
              </a:rPr>
              <a:t> Our deception environment will need to include Windows systems to be a realistic target (e.g., for Active Directory decoys). The attack simulation and monitoring tools our team will use are often run from Linux-based systems.</a:t>
            </a:r>
            <a:endParaRPr lang="en-US" sz="2000">
              <a:latin typeface="Times New Roman"/>
              <a:ea typeface="Calibri"/>
              <a:cs typeface="Calibri"/>
            </a:endParaRPr>
          </a:p>
          <a:p>
            <a:pPr marL="0" marR="0" lvl="0" indent="0" algn="just" defTabSz="914400">
              <a:lnSpc>
                <a:spcPct val="100000"/>
              </a:lnSpc>
              <a:spcBef>
                <a:spcPct val="0"/>
              </a:spcBef>
              <a:spcAft>
                <a:spcPct val="0"/>
              </a:spcAft>
              <a:buClrTx/>
              <a:buSzTx/>
              <a:tabLst/>
            </a:pPr>
            <a:endParaRPr lang="en-US" sz="2000" b="0" i="0" u="none" strike="noStrike" cap="none" normalizeH="0" baseline="0">
              <a:ln>
                <a:noFill/>
              </a:ln>
              <a:effectLst/>
              <a:latin typeface="Times New Roman"/>
              <a:ea typeface="Calibri"/>
              <a:cs typeface="Calibri"/>
            </a:endParaRPr>
          </a:p>
        </p:txBody>
      </p:sp>
      <p:sp>
        <p:nvSpPr>
          <p:cNvPr id="3" name="TextBox 2">
            <a:extLst>
              <a:ext uri="{FF2B5EF4-FFF2-40B4-BE49-F238E27FC236}">
                <a16:creationId xmlns:a16="http://schemas.microsoft.com/office/drawing/2014/main" id="{1C3715EF-92D1-F5CF-ABCF-D395C2912BFA}"/>
              </a:ext>
            </a:extLst>
          </p:cNvPr>
          <p:cNvSpPr txBox="1"/>
          <p:nvPr/>
        </p:nvSpPr>
        <p:spPr>
          <a:xfrm>
            <a:off x="1037665" y="914399"/>
            <a:ext cx="614130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Times New Roman"/>
                <a:cs typeface="Arial"/>
              </a:rPr>
              <a:t>We are developing a :</a:t>
            </a:r>
            <a:endParaRPr lang="en-US" sz="2400">
              <a:latin typeface="Times New Roman"/>
              <a:cs typeface="Arial"/>
            </a:endParaRPr>
          </a:p>
        </p:txBody>
      </p:sp>
    </p:spTree>
    <p:extLst>
      <p:ext uri="{BB962C8B-B14F-4D97-AF65-F5344CB8AC3E}">
        <p14:creationId xmlns:p14="http://schemas.microsoft.com/office/powerpoint/2010/main" val="16558700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0542C-48C4-3504-66B3-1A73816311A3}"/>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AFBC9A94-FE97-B7F2-E632-C3CDB52E24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4" name="Straight Connector 3">
            <a:extLst>
              <a:ext uri="{FF2B5EF4-FFF2-40B4-BE49-F238E27FC236}">
                <a16:creationId xmlns:a16="http://schemas.microsoft.com/office/drawing/2014/main" id="{6540A858-8F19-35A9-9016-22DF250BCC32}"/>
              </a:ext>
            </a:extLst>
          </p:cNvPr>
          <p:cNvCxnSpPr>
            <a:cxnSpLocks/>
          </p:cNvCxnSpPr>
          <p:nvPr/>
        </p:nvCxnSpPr>
        <p:spPr>
          <a:xfrm>
            <a:off x="1109709" y="594804"/>
            <a:ext cx="10235953" cy="0"/>
          </a:xfrm>
          <a:prstGeom prst="line">
            <a:avLst/>
          </a:prstGeom>
        </p:spPr>
        <p:style>
          <a:lnRef idx="3">
            <a:schemeClr val="dk1"/>
          </a:lnRef>
          <a:fillRef idx="0">
            <a:schemeClr val="dk1"/>
          </a:fillRef>
          <a:effectRef idx="2">
            <a:schemeClr val="dk1"/>
          </a:effectRef>
          <a:fontRef idx="minor">
            <a:schemeClr val="tx1"/>
          </a:fontRef>
        </p:style>
      </p:cxnSp>
      <p:sp>
        <p:nvSpPr>
          <p:cNvPr id="8" name="TextBox 7">
            <a:extLst>
              <a:ext uri="{FF2B5EF4-FFF2-40B4-BE49-F238E27FC236}">
                <a16:creationId xmlns:a16="http://schemas.microsoft.com/office/drawing/2014/main" id="{A0FCFAD2-1278-2833-CBE6-43AAE40EC2E7}"/>
              </a:ext>
            </a:extLst>
          </p:cNvPr>
          <p:cNvSpPr txBox="1"/>
          <p:nvPr/>
        </p:nvSpPr>
        <p:spPr>
          <a:xfrm>
            <a:off x="8788893" y="319596"/>
            <a:ext cx="2821413" cy="276999"/>
          </a:xfrm>
          <a:prstGeom prst="rect">
            <a:avLst/>
          </a:prstGeom>
          <a:noFill/>
        </p:spPr>
        <p:txBody>
          <a:bodyPr wrap="none" rtlCol="0">
            <a:spAutoFit/>
          </a:body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10" name="Date Placeholder 9">
            <a:extLst>
              <a:ext uri="{FF2B5EF4-FFF2-40B4-BE49-F238E27FC236}">
                <a16:creationId xmlns:a16="http://schemas.microsoft.com/office/drawing/2014/main" id="{27329A9F-220C-A9C8-73E0-4C1C21044AC4}"/>
              </a:ext>
            </a:extLst>
          </p:cNvPr>
          <p:cNvSpPr>
            <a:spLocks noGrp="1"/>
          </p:cNvSpPr>
          <p:nvPr>
            <p:ph type="dt" sz="half" idx="10"/>
          </p:nvPr>
        </p:nvSpPr>
        <p:spPr>
          <a:xfrm>
            <a:off x="838200" y="6492875"/>
            <a:ext cx="2743200" cy="365125"/>
          </a:xfrm>
        </p:spPr>
        <p:txBody>
          <a:bodyPr/>
          <a:lstStyle/>
          <a:p>
            <a:fld id="{1C63A99E-B57C-4637-B2CF-5EF0C75CDABE}" type="datetime1">
              <a:rPr lang="en-IN" smtClean="0"/>
              <a:t>22-07-2025</a:t>
            </a:fld>
            <a:endParaRPr lang="en-IN"/>
          </a:p>
        </p:txBody>
      </p:sp>
      <p:sp>
        <p:nvSpPr>
          <p:cNvPr id="11" name="Slide Number Placeholder 10">
            <a:extLst>
              <a:ext uri="{FF2B5EF4-FFF2-40B4-BE49-F238E27FC236}">
                <a16:creationId xmlns:a16="http://schemas.microsoft.com/office/drawing/2014/main" id="{C8DF01B4-FF8A-1AE9-1A11-E2BD4C81BD8D}"/>
              </a:ext>
            </a:extLst>
          </p:cNvPr>
          <p:cNvSpPr>
            <a:spLocks noGrp="1"/>
          </p:cNvSpPr>
          <p:nvPr>
            <p:ph type="sldNum" sz="quarter" idx="12"/>
          </p:nvPr>
        </p:nvSpPr>
        <p:spPr>
          <a:xfrm>
            <a:off x="8734887" y="6492875"/>
            <a:ext cx="2743200" cy="365125"/>
          </a:xfrm>
        </p:spPr>
        <p:txBody>
          <a:bodyPr/>
          <a:lstStyle/>
          <a:p>
            <a:fld id="{3C3E5B82-863A-4B66-9E4F-DCFAD2A3B854}" type="slidenum">
              <a:rPr lang="en-IN" smtClean="0"/>
              <a:t>5</a:t>
            </a:fld>
            <a:endParaRPr lang="en-IN"/>
          </a:p>
        </p:txBody>
      </p:sp>
      <p:sp>
        <p:nvSpPr>
          <p:cNvPr id="12" name="Footer Placeholder 11">
            <a:extLst>
              <a:ext uri="{FF2B5EF4-FFF2-40B4-BE49-F238E27FC236}">
                <a16:creationId xmlns:a16="http://schemas.microsoft.com/office/drawing/2014/main" id="{7111AABB-BC57-8B0B-F2F1-AD05EB3399F7}"/>
              </a:ext>
            </a:extLst>
          </p:cNvPr>
          <p:cNvSpPr>
            <a:spLocks noGrp="1"/>
          </p:cNvSpPr>
          <p:nvPr>
            <p:ph type="ftr" sz="quarter" idx="11"/>
          </p:nvPr>
        </p:nvSpPr>
        <p:spPr>
          <a:xfrm>
            <a:off x="4038600" y="6492875"/>
            <a:ext cx="4114800" cy="365125"/>
          </a:xfrm>
        </p:spPr>
        <p:txBody>
          <a:bodyPr/>
          <a:lstStyle/>
          <a:p>
            <a:r>
              <a:rPr lang="en-US"/>
              <a:t>20CYS 495 B.Tech CYS: 2022 - 2026 Project Presentation </a:t>
            </a:r>
            <a:endParaRPr lang="en-IN"/>
          </a:p>
        </p:txBody>
      </p:sp>
      <p:sp>
        <p:nvSpPr>
          <p:cNvPr id="15" name="TextBox 14">
            <a:extLst>
              <a:ext uri="{FF2B5EF4-FFF2-40B4-BE49-F238E27FC236}">
                <a16:creationId xmlns:a16="http://schemas.microsoft.com/office/drawing/2014/main" id="{18168489-7873-CB8C-292A-644C8D82BF8E}"/>
              </a:ext>
            </a:extLst>
          </p:cNvPr>
          <p:cNvSpPr txBox="1"/>
          <p:nvPr/>
        </p:nvSpPr>
        <p:spPr>
          <a:xfrm>
            <a:off x="479148" y="2747706"/>
            <a:ext cx="10508942" cy="677365"/>
          </a:xfrm>
          <a:prstGeom prst="rect">
            <a:avLst/>
          </a:prstGeom>
          <a:noFill/>
        </p:spPr>
        <p:txBody>
          <a:bodyPr wrap="square">
            <a:spAutoFit/>
          </a:bodyPr>
          <a:lstStyle/>
          <a:p>
            <a:pPr lvl="0">
              <a:lnSpc>
                <a:spcPct val="115000"/>
              </a:lnSpc>
              <a:spcAft>
                <a:spcPts val="1000"/>
              </a:spcAft>
              <a:tabLst>
                <a:tab pos="457200" algn="l"/>
              </a:tabLst>
            </a:pPr>
            <a:br>
              <a:rPr lang="en-IN" sz="1800">
                <a:effectLst/>
                <a:latin typeface="Times New Roman"/>
                <a:ea typeface="Times New Roman" panose="02020603050405020304" pitchFamily="18" charset="0"/>
                <a:cs typeface="Times New Roman"/>
              </a:rPr>
            </a:br>
            <a:endParaRPr lang="en-IN" sz="1600">
              <a:effectLst/>
              <a:latin typeface="Times New Roman"/>
              <a:ea typeface="Calibri" panose="020F0502020204030204" pitchFamily="34" charset="0"/>
              <a:cs typeface="Times New Roman"/>
            </a:endParaRPr>
          </a:p>
        </p:txBody>
      </p:sp>
      <p:sp>
        <p:nvSpPr>
          <p:cNvPr id="3" name="TextBox 2">
            <a:extLst>
              <a:ext uri="{FF2B5EF4-FFF2-40B4-BE49-F238E27FC236}">
                <a16:creationId xmlns:a16="http://schemas.microsoft.com/office/drawing/2014/main" id="{C1E373A8-3049-7C81-CC0E-FA0141BAD136}"/>
              </a:ext>
            </a:extLst>
          </p:cNvPr>
          <p:cNvSpPr txBox="1"/>
          <p:nvPr/>
        </p:nvSpPr>
        <p:spPr>
          <a:xfrm>
            <a:off x="643830" y="650033"/>
            <a:ext cx="238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ea typeface="+mn-lt"/>
                <a:cs typeface="+mn-lt"/>
              </a:rPr>
              <a:t>Literature Survey</a:t>
            </a:r>
            <a:endParaRPr lang="en-US" b="1"/>
          </a:p>
        </p:txBody>
      </p:sp>
      <p:graphicFrame>
        <p:nvGraphicFramePr>
          <p:cNvPr id="6" name="Table 8">
            <a:extLst>
              <a:ext uri="{FF2B5EF4-FFF2-40B4-BE49-F238E27FC236}">
                <a16:creationId xmlns:a16="http://schemas.microsoft.com/office/drawing/2014/main" id="{9EFA53A8-E454-B574-CC1D-A28FF1A8AB0A}"/>
              </a:ext>
            </a:extLst>
          </p:cNvPr>
          <p:cNvGraphicFramePr>
            <a:graphicFrameLocks noGrp="1"/>
          </p:cNvGraphicFramePr>
          <p:nvPr>
            <p:extLst>
              <p:ext uri="{D42A27DB-BD31-4B8C-83A1-F6EECF244321}">
                <p14:modId xmlns:p14="http://schemas.microsoft.com/office/powerpoint/2010/main" val="4170420661"/>
              </p:ext>
            </p:extLst>
          </p:nvPr>
        </p:nvGraphicFramePr>
        <p:xfrm>
          <a:off x="420000" y="1110000"/>
          <a:ext cx="11346789" cy="5594119"/>
        </p:xfrm>
        <a:graphic>
          <a:graphicData uri="http://schemas.openxmlformats.org/drawingml/2006/table">
            <a:tbl>
              <a:tblPr firstRow="1" bandRow="1">
                <a:tableStyleId>{5940675A-B579-460E-94D1-54222C63F5DA}</a:tableStyleId>
              </a:tblPr>
              <a:tblGrid>
                <a:gridCol w="2428067">
                  <a:extLst>
                    <a:ext uri="{9D8B030D-6E8A-4147-A177-3AD203B41FA5}">
                      <a16:colId xmlns:a16="http://schemas.microsoft.com/office/drawing/2014/main" val="3083436795"/>
                    </a:ext>
                  </a:extLst>
                </a:gridCol>
                <a:gridCol w="1407762">
                  <a:extLst>
                    <a:ext uri="{9D8B030D-6E8A-4147-A177-3AD203B41FA5}">
                      <a16:colId xmlns:a16="http://schemas.microsoft.com/office/drawing/2014/main" val="2087519358"/>
                    </a:ext>
                  </a:extLst>
                </a:gridCol>
                <a:gridCol w="1964334">
                  <a:extLst>
                    <a:ext uri="{9D8B030D-6E8A-4147-A177-3AD203B41FA5}">
                      <a16:colId xmlns:a16="http://schemas.microsoft.com/office/drawing/2014/main" val="1666616656"/>
                    </a:ext>
                  </a:extLst>
                </a:gridCol>
                <a:gridCol w="3326237">
                  <a:extLst>
                    <a:ext uri="{9D8B030D-6E8A-4147-A177-3AD203B41FA5}">
                      <a16:colId xmlns:a16="http://schemas.microsoft.com/office/drawing/2014/main" val="3406322634"/>
                    </a:ext>
                  </a:extLst>
                </a:gridCol>
                <a:gridCol w="2220389">
                  <a:extLst>
                    <a:ext uri="{9D8B030D-6E8A-4147-A177-3AD203B41FA5}">
                      <a16:colId xmlns:a16="http://schemas.microsoft.com/office/drawing/2014/main" val="2543252967"/>
                    </a:ext>
                  </a:extLst>
                </a:gridCol>
              </a:tblGrid>
              <a:tr h="585426">
                <a:tc>
                  <a:txBody>
                    <a:bodyPr/>
                    <a:lstStyle/>
                    <a:p>
                      <a:pPr algn="ctr"/>
                      <a:r>
                        <a:rPr lang="en-US" b="1"/>
                        <a:t>Paper Name</a:t>
                      </a:r>
                    </a:p>
                  </a:txBody>
                  <a:tcPr anchor="ctr"/>
                </a:tc>
                <a:tc>
                  <a:txBody>
                    <a:bodyPr/>
                    <a:lstStyle/>
                    <a:p>
                      <a:pPr algn="ctr"/>
                      <a:r>
                        <a:rPr lang="en-US" b="1"/>
                        <a:t>Publication Year</a:t>
                      </a:r>
                    </a:p>
                  </a:txBody>
                  <a:tcPr anchor="ctr"/>
                </a:tc>
                <a:tc>
                  <a:txBody>
                    <a:bodyPr/>
                    <a:lstStyle/>
                    <a:p>
                      <a:pPr algn="ctr"/>
                      <a:r>
                        <a:rPr lang="en-US" b="1"/>
                        <a:t>Journal Published </a:t>
                      </a:r>
                    </a:p>
                  </a:txBody>
                  <a:tcPr anchor="ctr"/>
                </a:tc>
                <a:tc>
                  <a:txBody>
                    <a:bodyPr/>
                    <a:lstStyle/>
                    <a:p>
                      <a:pPr algn="ctr"/>
                      <a:r>
                        <a:rPr lang="en-US" b="1"/>
                        <a:t>Similarities</a:t>
                      </a:r>
                    </a:p>
                  </a:txBody>
                  <a:tcPr anchor="ctr"/>
                </a:tc>
                <a:tc>
                  <a:txBody>
                    <a:bodyPr/>
                    <a:lstStyle/>
                    <a:p>
                      <a:pPr algn="ctr"/>
                      <a:r>
                        <a:rPr lang="en-US" b="1"/>
                        <a:t>Challenges </a:t>
                      </a:r>
                    </a:p>
                  </a:txBody>
                  <a:tcPr anchor="ctr"/>
                </a:tc>
                <a:extLst>
                  <a:ext uri="{0D108BD9-81ED-4DB2-BD59-A6C34878D82A}">
                    <a16:rowId xmlns:a16="http://schemas.microsoft.com/office/drawing/2014/main" val="3128747429"/>
                  </a:ext>
                </a:extLst>
              </a:tr>
              <a:tr h="991639">
                <a:tc>
                  <a:txBody>
                    <a:bodyPr/>
                    <a:lstStyle/>
                    <a:p>
                      <a:pPr algn="ctr"/>
                      <a:r>
                        <a:rPr lang="en-US" sz="1600">
                          <a:latin typeface="Times New Roman"/>
                        </a:rPr>
                        <a:t>Advanced Persistent Threat Analysis using Splunk </a:t>
                      </a:r>
                    </a:p>
                  </a:txBody>
                  <a:tcPr/>
                </a:tc>
                <a:tc>
                  <a:txBody>
                    <a:bodyPr/>
                    <a:lstStyle/>
                    <a:p>
                      <a:pPr algn="ctr"/>
                      <a:r>
                        <a:rPr lang="en-US" sz="1600">
                          <a:latin typeface="Times New Roman"/>
                        </a:rPr>
                        <a:t>2018</a:t>
                      </a:r>
                    </a:p>
                  </a:txBody>
                  <a:tcPr anchor="ctr"/>
                </a:tc>
                <a:tc>
                  <a:txBody>
                    <a:bodyPr/>
                    <a:lstStyle/>
                    <a:p>
                      <a:r>
                        <a:rPr lang="en-US" sz="1600">
                          <a:latin typeface="Times New Roman"/>
                        </a:rPr>
                        <a:t>International Journal of Pure and Applied Mathematics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latin typeface="Times New Roman"/>
                        </a:rPr>
                        <a:t>Addressing  the challenge of APT  detection through a Splunk.</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latin typeface="Times New Roman"/>
                        </a:rPr>
                        <a:t>Detection is challenged by stealth, honeypot, and exfiltration.</a:t>
                      </a:r>
                    </a:p>
                  </a:txBody>
                  <a:tcPr/>
                </a:tc>
                <a:extLst>
                  <a:ext uri="{0D108BD9-81ED-4DB2-BD59-A6C34878D82A}">
                    <a16:rowId xmlns:a16="http://schemas.microsoft.com/office/drawing/2014/main" val="2537808415"/>
                  </a:ext>
                </a:extLst>
              </a:tr>
              <a:tr h="991639">
                <a:tc>
                  <a:txBody>
                    <a:bodyPr/>
                    <a:lstStyle/>
                    <a:p>
                      <a:pPr lvl="0" algn="ctr">
                        <a:buNone/>
                      </a:pPr>
                      <a:r>
                        <a:rPr lang="en-US" sz="1600" b="0" i="0" u="none" strike="noStrike" noProof="0">
                          <a:latin typeface="Times New Roman"/>
                        </a:rPr>
                        <a:t>Advance Persistent Threat Detection Using Long Short Term Memory (LSTM) Neural Networks</a:t>
                      </a:r>
                      <a:endParaRPr lang="en-US" sz="1600">
                        <a:latin typeface="Times New Roman"/>
                      </a:endParaRPr>
                    </a:p>
                  </a:txBody>
                  <a:tcPr/>
                </a:tc>
                <a:tc>
                  <a:txBody>
                    <a:bodyPr/>
                    <a:lstStyle/>
                    <a:p>
                      <a:pPr algn="ctr"/>
                      <a:r>
                        <a:rPr lang="en-US" sz="1600"/>
                        <a:t>2019</a:t>
                      </a:r>
                    </a:p>
                    <a:p>
                      <a:pPr lvl="0">
                        <a:buNone/>
                      </a:pPr>
                      <a:endParaRPr lang="en-US"/>
                    </a:p>
                  </a:txBody>
                  <a:tcPr anchor="ctr"/>
                </a:tc>
                <a:tc>
                  <a:txBody>
                    <a:bodyPr/>
                    <a:lstStyle/>
                    <a:p>
                      <a:endParaRPr lang="en-US"/>
                    </a:p>
                  </a:txBody>
                  <a:tcPr/>
                </a:tc>
                <a:tc>
                  <a:txBody>
                    <a:bodyPr/>
                    <a:lstStyle/>
                    <a:p>
                      <a:pPr lvl="0">
                        <a:buNone/>
                      </a:pPr>
                      <a:r>
                        <a:rPr lang="en-US" sz="1600" b="0" i="0" u="none" strike="noStrike" noProof="0">
                          <a:latin typeface="Times New Roman"/>
                        </a:rPr>
                        <a:t>Leverage Splunk SIEM logs to detect stealthy APT activity</a:t>
                      </a:r>
                      <a:endParaRPr lang="en-US" sz="1600">
                        <a:latin typeface="Times New Roman"/>
                      </a:endParaRPr>
                    </a:p>
                  </a:txBody>
                  <a:tcPr/>
                </a:tc>
                <a:tc>
                  <a:txBody>
                    <a:bodyPr/>
                    <a:lstStyle/>
                    <a:p>
                      <a:pPr lvl="0" algn="l">
                        <a:lnSpc>
                          <a:spcPct val="100000"/>
                        </a:lnSpc>
                        <a:spcBef>
                          <a:spcPts val="0"/>
                        </a:spcBef>
                        <a:spcAft>
                          <a:spcPts val="0"/>
                        </a:spcAft>
                        <a:buNone/>
                      </a:pPr>
                      <a:r>
                        <a:rPr lang="en-US" sz="1600" b="0" i="0" u="none" strike="noStrike" noProof="0">
                          <a:latin typeface="Times New Roman"/>
                        </a:rPr>
                        <a:t>Filtering massive, unstructured SIEM logs to pinpoint stealthy APT activity</a:t>
                      </a:r>
                      <a:endParaRPr lang="en-US" sz="1600">
                        <a:latin typeface="Times New Roman"/>
                      </a:endParaRPr>
                    </a:p>
                  </a:txBody>
                  <a:tcPr/>
                </a:tc>
                <a:extLst>
                  <a:ext uri="{0D108BD9-81ED-4DB2-BD59-A6C34878D82A}">
                    <a16:rowId xmlns:a16="http://schemas.microsoft.com/office/drawing/2014/main" val="568965440"/>
                  </a:ext>
                </a:extLst>
              </a:tr>
              <a:tr h="1445643">
                <a:tc>
                  <a:txBody>
                    <a:bodyPr/>
                    <a:lstStyle/>
                    <a:p>
                      <a:pPr marL="0" lvl="0" indent="0" algn="ctr">
                        <a:lnSpc>
                          <a:spcPct val="100000"/>
                        </a:lnSpc>
                        <a:buNone/>
                      </a:pPr>
                      <a:r>
                        <a:rPr lang="en-US" sz="1600" b="0" i="0" u="none" strike="noStrike" baseline="0" noProof="0">
                          <a:solidFill>
                            <a:srgbClr val="141413"/>
                          </a:solidFill>
                          <a:latin typeface="Times New Roman"/>
                        </a:rPr>
                        <a:t>ADAPT: Adaptive Camouflage-based Deception Orchestration For Trapping Advanced Persistent Threats</a:t>
                      </a:r>
                      <a:endParaRPr lang="en-US" sz="1600">
                        <a:latin typeface="Times New Roman"/>
                      </a:endParaRPr>
                    </a:p>
                  </a:txBody>
                  <a:tcPr/>
                </a:tc>
                <a:tc>
                  <a:txBody>
                    <a:bodyPr/>
                    <a:lstStyle/>
                    <a:p>
                      <a:pPr algn="ctr"/>
                      <a:r>
                        <a:rPr lang="en-US" sz="1600"/>
                        <a:t>2024</a:t>
                      </a:r>
                    </a:p>
                  </a:txBody>
                  <a:tcPr anchor="ctr"/>
                </a:tc>
                <a:tc>
                  <a:txBody>
                    <a:bodyPr/>
                    <a:lstStyle/>
                    <a:p>
                      <a:pPr algn="ctr"/>
                      <a:r>
                        <a:rPr lang="en-US" sz="1600"/>
                        <a:t>Journal of ACM</a:t>
                      </a:r>
                    </a:p>
                  </a:txBody>
                  <a:tcPr anchor="ctr"/>
                </a:tc>
                <a:tc>
                  <a:txBody>
                    <a:bodyPr/>
                    <a:lstStyle/>
                    <a:p>
                      <a:pPr lvl="0">
                        <a:buNone/>
                      </a:pPr>
                      <a:r>
                        <a:rPr lang="en-US" sz="1600" b="0" i="0" u="none" strike="noStrike" noProof="0">
                          <a:latin typeface="Times New Roman"/>
                        </a:rPr>
                        <a:t>Providing a realistic environment where attackers can execute a complete attack     chain</a:t>
                      </a:r>
                    </a:p>
                  </a:txBody>
                  <a:tcPr/>
                </a:tc>
                <a:tc>
                  <a:txBody>
                    <a:bodyPr/>
                    <a:lstStyle/>
                    <a:p>
                      <a:pPr lvl="0">
                        <a:buNone/>
                      </a:pPr>
                      <a:r>
                        <a:rPr lang="en-US" sz="1600" b="0" i="0" u="none" strike="noStrike" noProof="0">
                          <a:latin typeface="Times New Roman"/>
                        </a:rPr>
                        <a:t>Complex network orchestration and the significant expertise required for implementation and maintenance</a:t>
                      </a:r>
                      <a:endParaRPr lang="en-US" sz="1600">
                        <a:latin typeface="Times New Roman"/>
                      </a:endParaRPr>
                    </a:p>
                  </a:txBody>
                  <a:tcPr/>
                </a:tc>
                <a:extLst>
                  <a:ext uri="{0D108BD9-81ED-4DB2-BD59-A6C34878D82A}">
                    <a16:rowId xmlns:a16="http://schemas.microsoft.com/office/drawing/2014/main" val="2040888598"/>
                  </a:ext>
                </a:extLst>
              </a:tr>
              <a:tr h="1242536">
                <a:tc>
                  <a:txBody>
                    <a:bodyPr/>
                    <a:lstStyle/>
                    <a:p>
                      <a:pPr lvl="0" algn="l">
                        <a:lnSpc>
                          <a:spcPct val="100000"/>
                        </a:lnSpc>
                        <a:spcBef>
                          <a:spcPts val="0"/>
                        </a:spcBef>
                        <a:spcAft>
                          <a:spcPts val="0"/>
                        </a:spcAft>
                        <a:buNone/>
                      </a:pPr>
                      <a:r>
                        <a:rPr lang="en-US" sz="1600" b="0" i="0">
                          <a:solidFill>
                            <a:schemeClr val="tx1"/>
                          </a:solidFill>
                          <a:latin typeface="Times New Roman"/>
                        </a:rPr>
                        <a:t>Advanced Persistent Threats (APTs): Detection Techniques and Mitigation Strategies</a:t>
                      </a:r>
                      <a:endParaRPr lang="en-US" sz="1600">
                        <a:solidFill>
                          <a:schemeClr val="tx1"/>
                        </a:solidFill>
                        <a:latin typeface="Times New Roman"/>
                      </a:endParaRPr>
                    </a:p>
                    <a:p>
                      <a:pPr lvl="0">
                        <a:buNone/>
                      </a:pPr>
                      <a:endParaRPr lang="en-US"/>
                    </a:p>
                  </a:txBody>
                  <a:tcPr/>
                </a:tc>
                <a:tc>
                  <a:txBody>
                    <a:bodyPr/>
                    <a:lstStyle/>
                    <a:p>
                      <a:r>
                        <a:rPr lang="en-US">
                          <a:latin typeface="Times New Roman"/>
                        </a:rPr>
                        <a:t>   </a:t>
                      </a:r>
                    </a:p>
                    <a:p>
                      <a:pPr lvl="0">
                        <a:buNone/>
                      </a:pPr>
                      <a:r>
                        <a:rPr lang="en-US">
                          <a:latin typeface="Times New Roman"/>
                        </a:rPr>
                        <a:t>   2024</a:t>
                      </a:r>
                    </a:p>
                  </a:txBody>
                  <a:tcPr/>
                </a:tc>
                <a:tc>
                  <a:txBody>
                    <a:bodyPr/>
                    <a:lstStyle/>
                    <a:p>
                      <a:pPr lvl="0">
                        <a:buNone/>
                      </a:pPr>
                      <a:r>
                        <a:rPr lang="en-US" sz="1600" b="0" i="0" u="none" strike="noStrike" noProof="0">
                          <a:latin typeface="Times New Roman"/>
                        </a:rPr>
                        <a:t>International Journal of Global Innovations and Solutions (IJGIS)</a:t>
                      </a:r>
                      <a:endParaRPr lang="en-US" sz="1600">
                        <a:latin typeface="Times New Roman"/>
                      </a:endParaRPr>
                    </a:p>
                  </a:txBody>
                  <a:tcPr/>
                </a:tc>
                <a:tc>
                  <a:txBody>
                    <a:bodyPr/>
                    <a:lstStyle/>
                    <a:p>
                      <a:pPr lvl="0" algn="l">
                        <a:lnSpc>
                          <a:spcPct val="100000"/>
                        </a:lnSpc>
                        <a:spcBef>
                          <a:spcPts val="0"/>
                        </a:spcBef>
                        <a:spcAft>
                          <a:spcPts val="0"/>
                        </a:spcAft>
                        <a:buNone/>
                      </a:pPr>
                      <a:r>
                        <a:rPr lang="en-US" sz="1600" b="0" i="0" u="none" strike="noStrike" noProof="0">
                          <a:latin typeface="Times New Roman"/>
                        </a:rPr>
                        <a:t>APT detection and mitigation require a multi-layered, AI-driven, behavior-focused approach rooted in continuous monitoring, Zero Trust, and lifecycle awareness.</a:t>
                      </a:r>
                      <a:endParaRPr lang="en-US" sz="1600">
                        <a:latin typeface="Times New Roman"/>
                      </a:endParaRPr>
                    </a:p>
                  </a:txBody>
                  <a:tcPr/>
                </a:tc>
                <a:tc>
                  <a:txBody>
                    <a:bodyPr/>
                    <a:lstStyle/>
                    <a:p>
                      <a:pPr lvl="0">
                        <a:buNone/>
                      </a:pPr>
                      <a:r>
                        <a:rPr lang="en-US" sz="1400" b="0" i="0" u="none" strike="noStrike" noProof="0">
                          <a:latin typeface="Times New Roman"/>
                        </a:rPr>
                        <a:t>stealthy APT behavior, difficulty in attribution, evolving attack techniques, and the shortage of skilled cybersecurity professionals.</a:t>
                      </a:r>
                      <a:endParaRPr lang="en-US" sz="1400">
                        <a:latin typeface="Times New Roman"/>
                      </a:endParaRPr>
                    </a:p>
                  </a:txBody>
                  <a:tcPr/>
                </a:tc>
                <a:extLst>
                  <a:ext uri="{0D108BD9-81ED-4DB2-BD59-A6C34878D82A}">
                    <a16:rowId xmlns:a16="http://schemas.microsoft.com/office/drawing/2014/main" val="2393930909"/>
                  </a:ext>
                </a:extLst>
              </a:tr>
            </a:tbl>
          </a:graphicData>
        </a:graphic>
      </p:graphicFrame>
    </p:spTree>
    <p:extLst>
      <p:ext uri="{BB962C8B-B14F-4D97-AF65-F5344CB8AC3E}">
        <p14:creationId xmlns:p14="http://schemas.microsoft.com/office/powerpoint/2010/main" val="31282139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00353-0219-1A1C-C7CB-87FFF379388E}"/>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E33C0BCD-659D-8A58-6366-B4BB0F42DA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4" name="Straight Connector 3">
            <a:extLst>
              <a:ext uri="{FF2B5EF4-FFF2-40B4-BE49-F238E27FC236}">
                <a16:creationId xmlns:a16="http://schemas.microsoft.com/office/drawing/2014/main" id="{79CFDFD1-5964-0D36-622F-FE7E004FB278}"/>
              </a:ext>
            </a:extLst>
          </p:cNvPr>
          <p:cNvCxnSpPr>
            <a:cxnSpLocks/>
          </p:cNvCxnSpPr>
          <p:nvPr/>
        </p:nvCxnSpPr>
        <p:spPr>
          <a:xfrm>
            <a:off x="1109709" y="594804"/>
            <a:ext cx="10235953" cy="0"/>
          </a:xfrm>
          <a:prstGeom prst="line">
            <a:avLst/>
          </a:prstGeom>
        </p:spPr>
        <p:style>
          <a:lnRef idx="3">
            <a:schemeClr val="dk1"/>
          </a:lnRef>
          <a:fillRef idx="0">
            <a:schemeClr val="dk1"/>
          </a:fillRef>
          <a:effectRef idx="2">
            <a:schemeClr val="dk1"/>
          </a:effectRef>
          <a:fontRef idx="minor">
            <a:schemeClr val="tx1"/>
          </a:fontRef>
        </p:style>
      </p:cxnSp>
      <p:cxnSp>
        <p:nvCxnSpPr>
          <p:cNvPr id="7" name="Straight Connector 6">
            <a:extLst>
              <a:ext uri="{FF2B5EF4-FFF2-40B4-BE49-F238E27FC236}">
                <a16:creationId xmlns:a16="http://schemas.microsoft.com/office/drawing/2014/main" id="{6A9397C6-C493-B314-651C-EC6C55CED750}"/>
              </a:ext>
            </a:extLst>
          </p:cNvPr>
          <p:cNvCxnSpPr/>
          <p:nvPr/>
        </p:nvCxnSpPr>
        <p:spPr>
          <a:xfrm>
            <a:off x="1038687" y="6462943"/>
            <a:ext cx="10369119" cy="0"/>
          </a:xfrm>
          <a:prstGeom prst="line">
            <a:avLst/>
          </a:prstGeom>
        </p:spPr>
        <p:style>
          <a:lnRef idx="3">
            <a:schemeClr val="dk1"/>
          </a:lnRef>
          <a:fillRef idx="0">
            <a:schemeClr val="dk1"/>
          </a:fillRef>
          <a:effectRef idx="2">
            <a:schemeClr val="dk1"/>
          </a:effectRef>
          <a:fontRef idx="minor">
            <a:schemeClr val="tx1"/>
          </a:fontRef>
        </p:style>
      </p:cxnSp>
      <p:sp>
        <p:nvSpPr>
          <p:cNvPr id="8" name="TextBox 7">
            <a:extLst>
              <a:ext uri="{FF2B5EF4-FFF2-40B4-BE49-F238E27FC236}">
                <a16:creationId xmlns:a16="http://schemas.microsoft.com/office/drawing/2014/main" id="{C447CB3F-35D2-CEE4-05F0-5AAA71C61A6D}"/>
              </a:ext>
            </a:extLst>
          </p:cNvPr>
          <p:cNvSpPr txBox="1"/>
          <p:nvPr/>
        </p:nvSpPr>
        <p:spPr>
          <a:xfrm>
            <a:off x="8788893" y="319596"/>
            <a:ext cx="2821413" cy="276999"/>
          </a:xfrm>
          <a:prstGeom prst="rect">
            <a:avLst/>
          </a:prstGeom>
          <a:noFill/>
        </p:spPr>
        <p:txBody>
          <a:bodyPr wrap="none" rtlCol="0">
            <a:spAutoFit/>
          </a:body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10" name="Date Placeholder 9">
            <a:extLst>
              <a:ext uri="{FF2B5EF4-FFF2-40B4-BE49-F238E27FC236}">
                <a16:creationId xmlns:a16="http://schemas.microsoft.com/office/drawing/2014/main" id="{CCC61410-100C-83BB-D3C3-F267692E7578}"/>
              </a:ext>
            </a:extLst>
          </p:cNvPr>
          <p:cNvSpPr>
            <a:spLocks noGrp="1"/>
          </p:cNvSpPr>
          <p:nvPr>
            <p:ph type="dt" sz="half" idx="10"/>
          </p:nvPr>
        </p:nvSpPr>
        <p:spPr>
          <a:xfrm>
            <a:off x="838200" y="6492875"/>
            <a:ext cx="2743200" cy="365125"/>
          </a:xfrm>
        </p:spPr>
        <p:txBody>
          <a:bodyPr/>
          <a:lstStyle/>
          <a:p>
            <a:fld id="{EA79F306-FA4D-4663-80D5-A7BEC3B1FE19}" type="datetime1">
              <a:rPr lang="en-IN" smtClean="0"/>
              <a:t>22-07-2025</a:t>
            </a:fld>
            <a:endParaRPr lang="en-IN"/>
          </a:p>
        </p:txBody>
      </p:sp>
      <p:sp>
        <p:nvSpPr>
          <p:cNvPr id="11" name="Slide Number Placeholder 10">
            <a:extLst>
              <a:ext uri="{FF2B5EF4-FFF2-40B4-BE49-F238E27FC236}">
                <a16:creationId xmlns:a16="http://schemas.microsoft.com/office/drawing/2014/main" id="{5992A6A2-AA94-D1AE-E858-1191804F0413}"/>
              </a:ext>
            </a:extLst>
          </p:cNvPr>
          <p:cNvSpPr>
            <a:spLocks noGrp="1"/>
          </p:cNvSpPr>
          <p:nvPr>
            <p:ph type="sldNum" sz="quarter" idx="12"/>
          </p:nvPr>
        </p:nvSpPr>
        <p:spPr>
          <a:xfrm>
            <a:off x="8734887" y="6492875"/>
            <a:ext cx="2743200" cy="365125"/>
          </a:xfrm>
        </p:spPr>
        <p:txBody>
          <a:bodyPr/>
          <a:lstStyle/>
          <a:p>
            <a:fld id="{3C3E5B82-863A-4B66-9E4F-DCFAD2A3B854}" type="slidenum">
              <a:rPr lang="en-IN" smtClean="0"/>
              <a:t>6</a:t>
            </a:fld>
            <a:endParaRPr lang="en-IN"/>
          </a:p>
        </p:txBody>
      </p:sp>
      <p:sp>
        <p:nvSpPr>
          <p:cNvPr id="12" name="Footer Placeholder 11">
            <a:extLst>
              <a:ext uri="{FF2B5EF4-FFF2-40B4-BE49-F238E27FC236}">
                <a16:creationId xmlns:a16="http://schemas.microsoft.com/office/drawing/2014/main" id="{531AFF82-6B9E-5AF8-3D7B-B9D5CCD46B01}"/>
              </a:ext>
            </a:extLst>
          </p:cNvPr>
          <p:cNvSpPr>
            <a:spLocks noGrp="1"/>
          </p:cNvSpPr>
          <p:nvPr>
            <p:ph type="ftr" sz="quarter" idx="11"/>
          </p:nvPr>
        </p:nvSpPr>
        <p:spPr>
          <a:xfrm>
            <a:off x="4038600" y="6492875"/>
            <a:ext cx="4114800" cy="365125"/>
          </a:xfrm>
        </p:spPr>
        <p:txBody>
          <a:bodyPr/>
          <a:lstStyle/>
          <a:p>
            <a:r>
              <a:rPr lang="en-US"/>
              <a:t>20CYS 495 B.Tech CYS: 2022 - 2026 Project Presentation </a:t>
            </a:r>
            <a:endParaRPr lang="en-IN"/>
          </a:p>
        </p:txBody>
      </p:sp>
      <p:sp>
        <p:nvSpPr>
          <p:cNvPr id="6" name="TextBox 5">
            <a:extLst>
              <a:ext uri="{FF2B5EF4-FFF2-40B4-BE49-F238E27FC236}">
                <a16:creationId xmlns:a16="http://schemas.microsoft.com/office/drawing/2014/main" id="{4DF961AD-6610-21E3-4A22-9A71DAC40BFC}"/>
              </a:ext>
            </a:extLst>
          </p:cNvPr>
          <p:cNvSpPr txBox="1"/>
          <p:nvPr/>
        </p:nvSpPr>
        <p:spPr>
          <a:xfrm>
            <a:off x="696738" y="750929"/>
            <a:ext cx="2641068" cy="738664"/>
          </a:xfrm>
          <a:prstGeom prst="rect">
            <a:avLst/>
          </a:prstGeom>
          <a:noFill/>
        </p:spPr>
        <p:txBody>
          <a:bodyPr wrap="square" lIns="91440" tIns="45720" rIns="91440" bIns="45720" anchor="t">
            <a:spAutoFit/>
          </a:bodyPr>
          <a:lstStyle/>
          <a:p>
            <a:r>
              <a:rPr lang="en-US" sz="2400" b="1">
                <a:latin typeface="Times New Roman"/>
                <a:cs typeface="Times New Roman"/>
              </a:rPr>
              <a:t>Project Objective</a:t>
            </a:r>
            <a:endParaRPr lang="en-US" sz="2400" b="1">
              <a:latin typeface="Times New Roman"/>
              <a:ea typeface="Calibri"/>
              <a:cs typeface="Times New Roman"/>
            </a:endParaRPr>
          </a:p>
          <a:p>
            <a:endParaRPr lang="en-US" b="1"/>
          </a:p>
        </p:txBody>
      </p:sp>
      <p:sp>
        <p:nvSpPr>
          <p:cNvPr id="3" name="TextBox 2">
            <a:extLst>
              <a:ext uri="{FF2B5EF4-FFF2-40B4-BE49-F238E27FC236}">
                <a16:creationId xmlns:a16="http://schemas.microsoft.com/office/drawing/2014/main" id="{6D9DA1E5-2170-1F8A-2DDF-3333C84ED60E}"/>
              </a:ext>
            </a:extLst>
          </p:cNvPr>
          <p:cNvSpPr txBox="1"/>
          <p:nvPr/>
        </p:nvSpPr>
        <p:spPr>
          <a:xfrm>
            <a:off x="675050" y="1380101"/>
            <a:ext cx="10927200" cy="44012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000" b="1">
                <a:latin typeface="Times New Roman"/>
                <a:ea typeface="+mn-lt"/>
                <a:cs typeface="+mn-lt"/>
              </a:rPr>
              <a:t>Build a deception environment</a:t>
            </a:r>
            <a:endParaRPr lang="en-US" sz="2000" b="1">
              <a:latin typeface="Times New Roman"/>
              <a:ea typeface="Calibri" panose="020F0502020204030204"/>
              <a:cs typeface="Calibri" panose="020F0502020204030204"/>
            </a:endParaRPr>
          </a:p>
          <a:p>
            <a:r>
              <a:rPr lang="en-US" sz="2000">
                <a:latin typeface="Times New Roman"/>
                <a:ea typeface="+mn-lt"/>
                <a:cs typeface="+mn-lt"/>
              </a:rPr>
              <a:t>Set up fake credentials, decoy file shares, bogus Active Directory objects and stand-alone decoy systems.</a:t>
            </a:r>
            <a:endParaRPr lang="en-US" sz="2000">
              <a:latin typeface="Times New Roman"/>
              <a:cs typeface="Times New Roman"/>
            </a:endParaRPr>
          </a:p>
          <a:p>
            <a:endParaRPr lang="en-US" sz="2000" b="1">
              <a:latin typeface="Times New Roman"/>
              <a:ea typeface="Calibri"/>
              <a:cs typeface="Calibri"/>
            </a:endParaRPr>
          </a:p>
          <a:p>
            <a:pPr marL="285750" indent="-285750">
              <a:buFont typeface="Arial"/>
              <a:buChar char="•"/>
            </a:pPr>
            <a:r>
              <a:rPr lang="en-US" sz="2000" b="1">
                <a:latin typeface="Times New Roman"/>
                <a:ea typeface="+mn-lt"/>
                <a:cs typeface="+mn-lt"/>
              </a:rPr>
              <a:t>APT attack simulations</a:t>
            </a:r>
            <a:endParaRPr lang="en-US" sz="2000" b="1">
              <a:latin typeface="Times New Roman"/>
              <a:ea typeface="Calibri" panose="020F0502020204030204"/>
              <a:cs typeface="Calibri" panose="020F0502020204030204"/>
            </a:endParaRPr>
          </a:p>
          <a:p>
            <a:r>
              <a:rPr lang="en-US" sz="2000">
                <a:latin typeface="Times New Roman"/>
                <a:ea typeface="+mn-lt"/>
                <a:cs typeface="+mn-lt"/>
              </a:rPr>
              <a:t>Use red-team tools (Cobalt Strike/Empire/Metasploit) to see how an attacker interacts with your decoys.</a:t>
            </a:r>
            <a:endParaRPr lang="en-US" sz="2000">
              <a:latin typeface="Times New Roman"/>
              <a:cs typeface="Times New Roman"/>
            </a:endParaRPr>
          </a:p>
          <a:p>
            <a:endParaRPr lang="en-US" sz="2000">
              <a:latin typeface="Times New Roman"/>
              <a:cs typeface="Times New Roman"/>
            </a:endParaRPr>
          </a:p>
          <a:p>
            <a:pPr marL="285750" indent="-285750">
              <a:buFont typeface="Arial"/>
              <a:buChar char="•"/>
            </a:pPr>
            <a:r>
              <a:rPr lang="en-US" sz="2000" b="1">
                <a:latin typeface="Times New Roman"/>
                <a:ea typeface="+mn-lt"/>
                <a:cs typeface="+mn-lt"/>
              </a:rPr>
              <a:t>Feed all deception logs into Splunk</a:t>
            </a:r>
            <a:endParaRPr lang="en-US" sz="2000" b="1">
              <a:latin typeface="Times New Roman"/>
              <a:ea typeface="Calibri"/>
              <a:cs typeface="Calibri"/>
            </a:endParaRPr>
          </a:p>
          <a:p>
            <a:r>
              <a:rPr lang="en-US" sz="2000">
                <a:latin typeface="Times New Roman"/>
                <a:ea typeface="+mn-lt"/>
                <a:cs typeface="+mn-lt"/>
              </a:rPr>
              <a:t>Forward every triggered event from your fake assets into a central SIEM for full visibility.</a:t>
            </a:r>
            <a:endParaRPr lang="en-US" sz="2000">
              <a:latin typeface="Times New Roman"/>
              <a:cs typeface="Times New Roman"/>
            </a:endParaRPr>
          </a:p>
          <a:p>
            <a:endParaRPr lang="en-US" sz="2000">
              <a:latin typeface="Times New Roman"/>
              <a:cs typeface="Times New Roman"/>
            </a:endParaRPr>
          </a:p>
          <a:p>
            <a:pPr marL="285750" indent="-285750">
              <a:buFont typeface="Arial"/>
              <a:buChar char="•"/>
            </a:pPr>
            <a:r>
              <a:rPr lang="en-US" sz="2000" b="1">
                <a:latin typeface="Times New Roman"/>
                <a:ea typeface="+mn-lt"/>
                <a:cs typeface="+mn-lt"/>
              </a:rPr>
              <a:t>Create Splunk dashboards &amp; alerts</a:t>
            </a:r>
            <a:endParaRPr lang="en-US" sz="2000" b="1">
              <a:latin typeface="Times New Roman"/>
              <a:ea typeface="Calibri"/>
              <a:cs typeface="Calibri"/>
            </a:endParaRPr>
          </a:p>
          <a:p>
            <a:r>
              <a:rPr lang="en-US" sz="2000">
                <a:latin typeface="Times New Roman"/>
                <a:ea typeface="+mn-lt"/>
                <a:cs typeface="+mn-lt"/>
              </a:rPr>
              <a:t>– Detect lateral moves using dummy credentials or decoy sessions</a:t>
            </a:r>
            <a:endParaRPr lang="en-US" sz="2000">
              <a:latin typeface="Times New Roman"/>
              <a:ea typeface="Calibri" panose="020F0502020204030204"/>
              <a:cs typeface="Calibri" panose="020F0502020204030204"/>
            </a:endParaRPr>
          </a:p>
          <a:p>
            <a:r>
              <a:rPr lang="en-US" sz="2000">
                <a:latin typeface="Times New Roman"/>
                <a:ea typeface="+mn-lt"/>
                <a:cs typeface="+mn-lt"/>
              </a:rPr>
              <a:t>– Spot privilege-escalation attempts on fake admin accounts</a:t>
            </a:r>
            <a:endParaRPr lang="en-US" sz="2000">
              <a:latin typeface="Times New Roman"/>
              <a:ea typeface="Calibri" panose="020F0502020204030204"/>
              <a:cs typeface="Calibri" panose="020F0502020204030204"/>
            </a:endParaRPr>
          </a:p>
          <a:p>
            <a:r>
              <a:rPr lang="en-US" sz="2000">
                <a:latin typeface="Times New Roman"/>
                <a:ea typeface="+mn-lt"/>
                <a:cs typeface="+mn-lt"/>
              </a:rPr>
              <a:t>– Watch for exfiltration via </a:t>
            </a:r>
            <a:r>
              <a:rPr lang="en-US" sz="2000" err="1">
                <a:latin typeface="Times New Roman"/>
                <a:ea typeface="+mn-lt"/>
                <a:cs typeface="+mn-lt"/>
              </a:rPr>
              <a:t>honeyfiles</a:t>
            </a:r>
            <a:r>
              <a:rPr lang="en-US" sz="2000">
                <a:latin typeface="Times New Roman"/>
                <a:ea typeface="+mn-lt"/>
                <a:cs typeface="+mn-lt"/>
              </a:rPr>
              <a:t> or fake shares</a:t>
            </a:r>
            <a:endParaRPr lang="en-US" sz="2000">
              <a:latin typeface="Times New Roman"/>
              <a:ea typeface="Calibri" panose="020F0502020204030204"/>
              <a:cs typeface="Calibri" panose="020F0502020204030204"/>
            </a:endParaRPr>
          </a:p>
          <a:p>
            <a:r>
              <a:rPr lang="en-US" sz="2000">
                <a:latin typeface="Times New Roman"/>
                <a:ea typeface="+mn-lt"/>
                <a:cs typeface="+mn-lt"/>
              </a:rPr>
              <a:t>– Flag persistence actions (scheduled tasks, services, registry tweaks)</a:t>
            </a:r>
            <a:endParaRPr lang="en-US" sz="2000">
              <a:latin typeface="Times New Roman"/>
              <a:ea typeface="Calibri" panose="020F0502020204030204"/>
              <a:cs typeface="Calibri" panose="020F0502020204030204"/>
            </a:endParaRPr>
          </a:p>
        </p:txBody>
      </p:sp>
    </p:spTree>
    <p:extLst>
      <p:ext uri="{BB962C8B-B14F-4D97-AF65-F5344CB8AC3E}">
        <p14:creationId xmlns:p14="http://schemas.microsoft.com/office/powerpoint/2010/main" val="37909942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C81CD-F79D-44BB-D403-AE9ECFD0E1BE}"/>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8F8E7C0E-B904-666B-04BF-A600309115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4" name="Straight Connector 3">
            <a:extLst>
              <a:ext uri="{FF2B5EF4-FFF2-40B4-BE49-F238E27FC236}">
                <a16:creationId xmlns:a16="http://schemas.microsoft.com/office/drawing/2014/main" id="{8FD1154F-2DB8-9337-8F5B-28DE9346E259}"/>
              </a:ext>
            </a:extLst>
          </p:cNvPr>
          <p:cNvCxnSpPr>
            <a:cxnSpLocks/>
          </p:cNvCxnSpPr>
          <p:nvPr/>
        </p:nvCxnSpPr>
        <p:spPr>
          <a:xfrm>
            <a:off x="1109709" y="594804"/>
            <a:ext cx="10235953" cy="0"/>
          </a:xfrm>
          <a:prstGeom prst="line">
            <a:avLst/>
          </a:prstGeom>
        </p:spPr>
        <p:style>
          <a:lnRef idx="3">
            <a:schemeClr val="dk1"/>
          </a:lnRef>
          <a:fillRef idx="0">
            <a:schemeClr val="dk1"/>
          </a:fillRef>
          <a:effectRef idx="2">
            <a:schemeClr val="dk1"/>
          </a:effectRef>
          <a:fontRef idx="minor">
            <a:schemeClr val="tx1"/>
          </a:fontRef>
        </p:style>
      </p:cxnSp>
      <p:cxnSp>
        <p:nvCxnSpPr>
          <p:cNvPr id="7" name="Straight Connector 6">
            <a:extLst>
              <a:ext uri="{FF2B5EF4-FFF2-40B4-BE49-F238E27FC236}">
                <a16:creationId xmlns:a16="http://schemas.microsoft.com/office/drawing/2014/main" id="{17F22B4D-5610-3C75-0821-A4582F66386A}"/>
              </a:ext>
            </a:extLst>
          </p:cNvPr>
          <p:cNvCxnSpPr/>
          <p:nvPr/>
        </p:nvCxnSpPr>
        <p:spPr>
          <a:xfrm>
            <a:off x="1038687" y="6462943"/>
            <a:ext cx="10369119" cy="0"/>
          </a:xfrm>
          <a:prstGeom prst="line">
            <a:avLst/>
          </a:prstGeom>
        </p:spPr>
        <p:style>
          <a:lnRef idx="3">
            <a:schemeClr val="dk1"/>
          </a:lnRef>
          <a:fillRef idx="0">
            <a:schemeClr val="dk1"/>
          </a:fillRef>
          <a:effectRef idx="2">
            <a:schemeClr val="dk1"/>
          </a:effectRef>
          <a:fontRef idx="minor">
            <a:schemeClr val="tx1"/>
          </a:fontRef>
        </p:style>
      </p:cxnSp>
      <p:sp>
        <p:nvSpPr>
          <p:cNvPr id="8" name="TextBox 7">
            <a:extLst>
              <a:ext uri="{FF2B5EF4-FFF2-40B4-BE49-F238E27FC236}">
                <a16:creationId xmlns:a16="http://schemas.microsoft.com/office/drawing/2014/main" id="{53858159-AED3-AC9F-95B0-DD0249BAD567}"/>
              </a:ext>
            </a:extLst>
          </p:cNvPr>
          <p:cNvSpPr txBox="1"/>
          <p:nvPr/>
        </p:nvSpPr>
        <p:spPr>
          <a:xfrm>
            <a:off x="8788893" y="319596"/>
            <a:ext cx="2821413" cy="276999"/>
          </a:xfrm>
          <a:prstGeom prst="rect">
            <a:avLst/>
          </a:prstGeom>
          <a:noFill/>
        </p:spPr>
        <p:txBody>
          <a:bodyPr wrap="none" rtlCol="0">
            <a:spAutoFit/>
          </a:body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10" name="Date Placeholder 9">
            <a:extLst>
              <a:ext uri="{FF2B5EF4-FFF2-40B4-BE49-F238E27FC236}">
                <a16:creationId xmlns:a16="http://schemas.microsoft.com/office/drawing/2014/main" id="{7F3022C3-2448-8D98-7E08-E1BD01BBA338}"/>
              </a:ext>
            </a:extLst>
          </p:cNvPr>
          <p:cNvSpPr>
            <a:spLocks noGrp="1"/>
          </p:cNvSpPr>
          <p:nvPr>
            <p:ph type="dt" sz="half" idx="10"/>
          </p:nvPr>
        </p:nvSpPr>
        <p:spPr>
          <a:xfrm>
            <a:off x="838200" y="6492875"/>
            <a:ext cx="2743200" cy="365125"/>
          </a:xfrm>
        </p:spPr>
        <p:txBody>
          <a:bodyPr/>
          <a:lstStyle/>
          <a:p>
            <a:fld id="{EA79F306-FA4D-4663-80D5-A7BEC3B1FE19}" type="datetime1">
              <a:rPr lang="en-IN" smtClean="0"/>
              <a:t>22-07-2025</a:t>
            </a:fld>
            <a:endParaRPr lang="en-IN"/>
          </a:p>
        </p:txBody>
      </p:sp>
      <p:sp>
        <p:nvSpPr>
          <p:cNvPr id="11" name="Slide Number Placeholder 10">
            <a:extLst>
              <a:ext uri="{FF2B5EF4-FFF2-40B4-BE49-F238E27FC236}">
                <a16:creationId xmlns:a16="http://schemas.microsoft.com/office/drawing/2014/main" id="{61AF48DE-9B2E-4739-94B3-43CADE21FFEF}"/>
              </a:ext>
            </a:extLst>
          </p:cNvPr>
          <p:cNvSpPr>
            <a:spLocks noGrp="1"/>
          </p:cNvSpPr>
          <p:nvPr>
            <p:ph type="sldNum" sz="quarter" idx="12"/>
          </p:nvPr>
        </p:nvSpPr>
        <p:spPr>
          <a:xfrm>
            <a:off x="8734887" y="6492875"/>
            <a:ext cx="2743200" cy="365125"/>
          </a:xfrm>
        </p:spPr>
        <p:txBody>
          <a:bodyPr/>
          <a:lstStyle/>
          <a:p>
            <a:fld id="{3C3E5B82-863A-4B66-9E4F-DCFAD2A3B854}" type="slidenum">
              <a:rPr lang="en-IN" smtClean="0"/>
              <a:t>7</a:t>
            </a:fld>
            <a:endParaRPr lang="en-IN"/>
          </a:p>
        </p:txBody>
      </p:sp>
      <p:sp>
        <p:nvSpPr>
          <p:cNvPr id="12" name="Footer Placeholder 11">
            <a:extLst>
              <a:ext uri="{FF2B5EF4-FFF2-40B4-BE49-F238E27FC236}">
                <a16:creationId xmlns:a16="http://schemas.microsoft.com/office/drawing/2014/main" id="{AD139A3A-5556-EF31-886F-3AA3F6E40CED}"/>
              </a:ext>
            </a:extLst>
          </p:cNvPr>
          <p:cNvSpPr>
            <a:spLocks noGrp="1"/>
          </p:cNvSpPr>
          <p:nvPr>
            <p:ph type="ftr" sz="quarter" idx="11"/>
          </p:nvPr>
        </p:nvSpPr>
        <p:spPr>
          <a:xfrm>
            <a:off x="4038600" y="6492875"/>
            <a:ext cx="4114800" cy="365125"/>
          </a:xfrm>
        </p:spPr>
        <p:txBody>
          <a:bodyPr/>
          <a:lstStyle/>
          <a:p>
            <a:r>
              <a:rPr lang="en-US"/>
              <a:t>20CYS 495 B.Tech CYS: 2022 - 2026 Project Presentation </a:t>
            </a:r>
            <a:endParaRPr lang="en-IN"/>
          </a:p>
        </p:txBody>
      </p:sp>
      <p:sp>
        <p:nvSpPr>
          <p:cNvPr id="6" name="TextBox 5">
            <a:extLst>
              <a:ext uri="{FF2B5EF4-FFF2-40B4-BE49-F238E27FC236}">
                <a16:creationId xmlns:a16="http://schemas.microsoft.com/office/drawing/2014/main" id="{94FABB7F-F8FC-9813-8AE1-12D34FFB4D81}"/>
              </a:ext>
            </a:extLst>
          </p:cNvPr>
          <p:cNvSpPr txBox="1"/>
          <p:nvPr/>
        </p:nvSpPr>
        <p:spPr>
          <a:xfrm>
            <a:off x="696738" y="750929"/>
            <a:ext cx="2641068" cy="738664"/>
          </a:xfrm>
          <a:prstGeom prst="rect">
            <a:avLst/>
          </a:prstGeom>
          <a:noFill/>
        </p:spPr>
        <p:txBody>
          <a:bodyPr wrap="square" lIns="91440" tIns="45720" rIns="91440" bIns="45720" anchor="t">
            <a:spAutoFit/>
          </a:bodyPr>
          <a:lstStyle/>
          <a:p>
            <a:r>
              <a:rPr lang="en-US" sz="2400" b="1">
                <a:latin typeface="Times New Roman"/>
                <a:cs typeface="Times New Roman"/>
              </a:rPr>
              <a:t>Project Objective</a:t>
            </a:r>
            <a:endParaRPr lang="en-US" sz="2400" b="1">
              <a:latin typeface="Times New Roman"/>
              <a:ea typeface="Calibri"/>
              <a:cs typeface="Times New Roman"/>
            </a:endParaRPr>
          </a:p>
          <a:p>
            <a:endParaRPr lang="en-US" b="1"/>
          </a:p>
        </p:txBody>
      </p:sp>
      <p:sp>
        <p:nvSpPr>
          <p:cNvPr id="3" name="TextBox 2">
            <a:extLst>
              <a:ext uri="{FF2B5EF4-FFF2-40B4-BE49-F238E27FC236}">
                <a16:creationId xmlns:a16="http://schemas.microsoft.com/office/drawing/2014/main" id="{6060F0D5-2CCA-6303-89F2-F4705991BE60}"/>
              </a:ext>
            </a:extLst>
          </p:cNvPr>
          <p:cNvSpPr txBox="1"/>
          <p:nvPr/>
        </p:nvSpPr>
        <p:spPr>
          <a:xfrm>
            <a:off x="675050" y="1380101"/>
            <a:ext cx="10927200"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Arial"/>
              <a:buChar char="•"/>
            </a:pPr>
            <a:r>
              <a:rPr lang="en-US" sz="2000" dirty="0">
                <a:latin typeface="Times New Roman"/>
                <a:ea typeface="Calibri" panose="020F0502020204030204"/>
                <a:cs typeface="Times New Roman"/>
              </a:rPr>
              <a:t> </a:t>
            </a:r>
            <a:r>
              <a:rPr lang="en-US" sz="2000" b="1" dirty="0">
                <a:latin typeface="Times New Roman"/>
                <a:ea typeface="Calibri" panose="020F0502020204030204"/>
                <a:cs typeface="Times New Roman"/>
              </a:rPr>
              <a:t> Map detections to MITRE ATT&amp;CK </a:t>
            </a:r>
            <a:endParaRPr lang="en-US" sz="2000" b="1" dirty="0">
              <a:latin typeface="Times New Roman"/>
              <a:ea typeface="Calibri" panose="020F0502020204030204"/>
              <a:cs typeface="Calibri" panose="020F0502020204030204"/>
            </a:endParaRPr>
          </a:p>
          <a:p>
            <a:r>
              <a:rPr lang="en-US" sz="2000" dirty="0">
                <a:latin typeface="Times New Roman"/>
                <a:ea typeface="Calibri" panose="020F0502020204030204"/>
                <a:cs typeface="Times New Roman"/>
              </a:rPr>
              <a:t>Tie observed attacker steps back to ATT&amp;CK techniques to check your coverage at each stage. </a:t>
            </a:r>
            <a:endParaRPr lang="en-US" sz="2000">
              <a:latin typeface="Times New Roman"/>
              <a:ea typeface="Calibri" panose="020F0502020204030204"/>
              <a:cs typeface="Calibri" panose="020F0502020204030204"/>
            </a:endParaRPr>
          </a:p>
          <a:p>
            <a:pPr>
              <a:buFont typeface="Arial"/>
              <a:buChar char="•"/>
            </a:pPr>
            <a:endParaRPr lang="en-US" sz="2000" dirty="0">
              <a:latin typeface="Times New Roman"/>
              <a:cs typeface="Times New Roman"/>
            </a:endParaRPr>
          </a:p>
          <a:p>
            <a:pPr>
              <a:buFont typeface="Arial"/>
              <a:buChar char="•"/>
            </a:pPr>
            <a:r>
              <a:rPr lang="en-US" sz="2000" dirty="0">
                <a:latin typeface="Times New Roman"/>
                <a:ea typeface="Calibri" panose="020F0502020204030204"/>
                <a:cs typeface="Times New Roman"/>
              </a:rPr>
              <a:t> </a:t>
            </a:r>
            <a:r>
              <a:rPr lang="en-US" sz="2000" b="1" dirty="0">
                <a:latin typeface="Times New Roman"/>
                <a:ea typeface="Calibri" panose="020F0502020204030204"/>
                <a:cs typeface="Times New Roman"/>
              </a:rPr>
              <a:t>Measure deception effectiveness </a:t>
            </a:r>
            <a:endParaRPr lang="en-US" sz="2000" b="1">
              <a:latin typeface="Times New Roman"/>
              <a:ea typeface="Calibri" panose="020F0502020204030204"/>
              <a:cs typeface="Calibri" panose="020F0502020204030204"/>
            </a:endParaRPr>
          </a:p>
          <a:p>
            <a:r>
              <a:rPr lang="en-US" sz="2000" dirty="0">
                <a:latin typeface="Times New Roman"/>
                <a:ea typeface="Calibri" panose="020F0502020204030204"/>
                <a:cs typeface="Times New Roman"/>
              </a:rPr>
              <a:t>Track metrics like time-to-detect, number of decoys triggered, attacker dwell time, depth of engagement, and false vs. true positives.</a:t>
            </a:r>
            <a:endParaRPr lang="en-US" sz="2000">
              <a:latin typeface="Times New Roman"/>
              <a:ea typeface="Calibri" panose="020F0502020204030204"/>
              <a:cs typeface="Calibri" panose="020F0502020204030204"/>
            </a:endParaRPr>
          </a:p>
          <a:p>
            <a:pPr marL="285750" indent="-285750">
              <a:buFont typeface="Arial"/>
              <a:buChar char="•"/>
            </a:pPr>
            <a:endParaRPr lang="en-US" sz="2000" b="1" dirty="0">
              <a:latin typeface="Times New Roman"/>
              <a:ea typeface="Calibri" panose="020F0502020204030204"/>
              <a:cs typeface="Calibri" panose="020F0502020204030204"/>
            </a:endParaRPr>
          </a:p>
        </p:txBody>
      </p:sp>
    </p:spTree>
    <p:extLst>
      <p:ext uri="{BB962C8B-B14F-4D97-AF65-F5344CB8AC3E}">
        <p14:creationId xmlns:p14="http://schemas.microsoft.com/office/powerpoint/2010/main" val="14853479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9B6D3-228A-F8D3-31D8-F2EC21084B7A}"/>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5B20B0DE-0928-D7E2-C08F-269BFAEE9D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4" name="Straight Connector 3">
            <a:extLst>
              <a:ext uri="{FF2B5EF4-FFF2-40B4-BE49-F238E27FC236}">
                <a16:creationId xmlns:a16="http://schemas.microsoft.com/office/drawing/2014/main" id="{BB99C888-89F1-F619-1997-B90283ED435B}"/>
              </a:ext>
            </a:extLst>
          </p:cNvPr>
          <p:cNvCxnSpPr>
            <a:cxnSpLocks/>
          </p:cNvCxnSpPr>
          <p:nvPr/>
        </p:nvCxnSpPr>
        <p:spPr>
          <a:xfrm>
            <a:off x="1109709" y="594804"/>
            <a:ext cx="10235953" cy="0"/>
          </a:xfrm>
          <a:prstGeom prst="line">
            <a:avLst/>
          </a:prstGeom>
        </p:spPr>
        <p:style>
          <a:lnRef idx="3">
            <a:schemeClr val="dk1"/>
          </a:lnRef>
          <a:fillRef idx="0">
            <a:schemeClr val="dk1"/>
          </a:fillRef>
          <a:effectRef idx="2">
            <a:schemeClr val="dk1"/>
          </a:effectRef>
          <a:fontRef idx="minor">
            <a:schemeClr val="tx1"/>
          </a:fontRef>
        </p:style>
      </p:cxnSp>
      <p:cxnSp>
        <p:nvCxnSpPr>
          <p:cNvPr id="7" name="Straight Connector 6">
            <a:extLst>
              <a:ext uri="{FF2B5EF4-FFF2-40B4-BE49-F238E27FC236}">
                <a16:creationId xmlns:a16="http://schemas.microsoft.com/office/drawing/2014/main" id="{034CED35-9A8C-693A-54EE-922C1474EE40}"/>
              </a:ext>
            </a:extLst>
          </p:cNvPr>
          <p:cNvCxnSpPr/>
          <p:nvPr/>
        </p:nvCxnSpPr>
        <p:spPr>
          <a:xfrm>
            <a:off x="1038687" y="6462943"/>
            <a:ext cx="10369119" cy="0"/>
          </a:xfrm>
          <a:prstGeom prst="line">
            <a:avLst/>
          </a:prstGeom>
        </p:spPr>
        <p:style>
          <a:lnRef idx="3">
            <a:schemeClr val="dk1"/>
          </a:lnRef>
          <a:fillRef idx="0">
            <a:schemeClr val="dk1"/>
          </a:fillRef>
          <a:effectRef idx="2">
            <a:schemeClr val="dk1"/>
          </a:effectRef>
          <a:fontRef idx="minor">
            <a:schemeClr val="tx1"/>
          </a:fontRef>
        </p:style>
      </p:cxnSp>
      <p:sp>
        <p:nvSpPr>
          <p:cNvPr id="8" name="TextBox 7">
            <a:extLst>
              <a:ext uri="{FF2B5EF4-FFF2-40B4-BE49-F238E27FC236}">
                <a16:creationId xmlns:a16="http://schemas.microsoft.com/office/drawing/2014/main" id="{7CD25AB8-5145-8F9C-A87F-D697F7D0CBF3}"/>
              </a:ext>
            </a:extLst>
          </p:cNvPr>
          <p:cNvSpPr txBox="1"/>
          <p:nvPr/>
        </p:nvSpPr>
        <p:spPr>
          <a:xfrm>
            <a:off x="8788893" y="319596"/>
            <a:ext cx="2821413" cy="276999"/>
          </a:xfrm>
          <a:prstGeom prst="rect">
            <a:avLst/>
          </a:prstGeom>
          <a:noFill/>
        </p:spPr>
        <p:txBody>
          <a:bodyPr wrap="none" rtlCol="0">
            <a:spAutoFit/>
          </a:body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10" name="Date Placeholder 9">
            <a:extLst>
              <a:ext uri="{FF2B5EF4-FFF2-40B4-BE49-F238E27FC236}">
                <a16:creationId xmlns:a16="http://schemas.microsoft.com/office/drawing/2014/main" id="{AC053268-9535-6E9B-DB55-79884C0D2024}"/>
              </a:ext>
            </a:extLst>
          </p:cNvPr>
          <p:cNvSpPr>
            <a:spLocks noGrp="1"/>
          </p:cNvSpPr>
          <p:nvPr>
            <p:ph type="dt" sz="half" idx="10"/>
          </p:nvPr>
        </p:nvSpPr>
        <p:spPr>
          <a:xfrm>
            <a:off x="838200" y="6492875"/>
            <a:ext cx="2743200" cy="365125"/>
          </a:xfrm>
        </p:spPr>
        <p:txBody>
          <a:bodyPr/>
          <a:lstStyle/>
          <a:p>
            <a:fld id="{1C63A99E-B57C-4637-B2CF-5EF0C75CDABE}" type="datetime1">
              <a:rPr lang="en-IN" smtClean="0"/>
              <a:t>22-07-2025</a:t>
            </a:fld>
            <a:endParaRPr lang="en-IN"/>
          </a:p>
        </p:txBody>
      </p:sp>
      <p:sp>
        <p:nvSpPr>
          <p:cNvPr id="11" name="Slide Number Placeholder 10">
            <a:extLst>
              <a:ext uri="{FF2B5EF4-FFF2-40B4-BE49-F238E27FC236}">
                <a16:creationId xmlns:a16="http://schemas.microsoft.com/office/drawing/2014/main" id="{EC3C3E6B-8676-8274-4FD1-DB5FD2CEAEA9}"/>
              </a:ext>
            </a:extLst>
          </p:cNvPr>
          <p:cNvSpPr>
            <a:spLocks noGrp="1"/>
          </p:cNvSpPr>
          <p:nvPr>
            <p:ph type="sldNum" sz="quarter" idx="12"/>
          </p:nvPr>
        </p:nvSpPr>
        <p:spPr>
          <a:xfrm>
            <a:off x="8734887" y="6492875"/>
            <a:ext cx="2743200" cy="365125"/>
          </a:xfrm>
        </p:spPr>
        <p:txBody>
          <a:bodyPr/>
          <a:lstStyle/>
          <a:p>
            <a:fld id="{3C3E5B82-863A-4B66-9E4F-DCFAD2A3B854}" type="slidenum">
              <a:rPr lang="en-IN" smtClean="0"/>
              <a:t>8</a:t>
            </a:fld>
            <a:endParaRPr lang="en-IN"/>
          </a:p>
        </p:txBody>
      </p:sp>
      <p:sp>
        <p:nvSpPr>
          <p:cNvPr id="12" name="Footer Placeholder 11">
            <a:extLst>
              <a:ext uri="{FF2B5EF4-FFF2-40B4-BE49-F238E27FC236}">
                <a16:creationId xmlns:a16="http://schemas.microsoft.com/office/drawing/2014/main" id="{A81F8591-49C8-3B1D-8C84-2E68232DD430}"/>
              </a:ext>
            </a:extLst>
          </p:cNvPr>
          <p:cNvSpPr>
            <a:spLocks noGrp="1"/>
          </p:cNvSpPr>
          <p:nvPr>
            <p:ph type="ftr" sz="quarter" idx="11"/>
          </p:nvPr>
        </p:nvSpPr>
        <p:spPr>
          <a:xfrm>
            <a:off x="4038600" y="6492875"/>
            <a:ext cx="4114800" cy="365125"/>
          </a:xfrm>
        </p:spPr>
        <p:txBody>
          <a:bodyPr/>
          <a:lstStyle/>
          <a:p>
            <a:r>
              <a:rPr lang="en-US"/>
              <a:t>20CYS 495 B.Tech CYS: 2022 - 2026 Project Presentation </a:t>
            </a:r>
            <a:endParaRPr lang="en-IN"/>
          </a:p>
        </p:txBody>
      </p:sp>
      <p:sp>
        <p:nvSpPr>
          <p:cNvPr id="15" name="TextBox 14">
            <a:extLst>
              <a:ext uri="{FF2B5EF4-FFF2-40B4-BE49-F238E27FC236}">
                <a16:creationId xmlns:a16="http://schemas.microsoft.com/office/drawing/2014/main" id="{274456FF-B261-5711-E285-FDC0087F2A2E}"/>
              </a:ext>
            </a:extLst>
          </p:cNvPr>
          <p:cNvSpPr txBox="1"/>
          <p:nvPr/>
        </p:nvSpPr>
        <p:spPr>
          <a:xfrm>
            <a:off x="479148" y="2747706"/>
            <a:ext cx="10508942" cy="677365"/>
          </a:xfrm>
          <a:prstGeom prst="rect">
            <a:avLst/>
          </a:prstGeom>
          <a:noFill/>
        </p:spPr>
        <p:txBody>
          <a:bodyPr wrap="square">
            <a:spAutoFit/>
          </a:bodyPr>
          <a:lstStyle/>
          <a:p>
            <a:pPr lvl="0">
              <a:lnSpc>
                <a:spcPct val="115000"/>
              </a:lnSpc>
              <a:spcAft>
                <a:spcPts val="1000"/>
              </a:spcAft>
              <a:tabLst>
                <a:tab pos="457200" algn="l"/>
              </a:tabLst>
            </a:pPr>
            <a:br>
              <a:rPr lang="en-IN" sz="1800">
                <a:effectLst/>
                <a:latin typeface="Times New Roman"/>
                <a:ea typeface="Times New Roman" panose="02020603050405020304" pitchFamily="18" charset="0"/>
                <a:cs typeface="Times New Roman"/>
              </a:rPr>
            </a:br>
            <a:endParaRPr lang="en-IN" sz="1600">
              <a:effectLst/>
              <a:latin typeface="Times New Roman"/>
              <a:ea typeface="Calibri" panose="020F0502020204030204" pitchFamily="34" charset="0"/>
              <a:cs typeface="Times New Roman"/>
            </a:endParaRPr>
          </a:p>
        </p:txBody>
      </p:sp>
      <p:sp>
        <p:nvSpPr>
          <p:cNvPr id="3" name="TextBox 2">
            <a:extLst>
              <a:ext uri="{FF2B5EF4-FFF2-40B4-BE49-F238E27FC236}">
                <a16:creationId xmlns:a16="http://schemas.microsoft.com/office/drawing/2014/main" id="{33D130F1-90E8-FB01-E099-FC1549C29027}"/>
              </a:ext>
            </a:extLst>
          </p:cNvPr>
          <p:cNvSpPr txBox="1"/>
          <p:nvPr/>
        </p:nvSpPr>
        <p:spPr>
          <a:xfrm>
            <a:off x="571830" y="1286033"/>
            <a:ext cx="11611200" cy="44012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000">
                <a:latin typeface="Times New Roman"/>
                <a:ea typeface="+mn-lt"/>
                <a:cs typeface="+mn-lt"/>
              </a:rPr>
              <a:t>RQ1: How effective are our decoy assets (fake credentials, file shares, AD objects, standalone systems) at engaging APT tools?</a:t>
            </a:r>
            <a:endParaRPr lang="en-US" sz="2000">
              <a:latin typeface="Times New Roman"/>
              <a:ea typeface="Calibri"/>
              <a:cs typeface="Calibri"/>
            </a:endParaRPr>
          </a:p>
          <a:p>
            <a:pPr algn="just"/>
            <a:endParaRPr lang="en-US" sz="2000">
              <a:latin typeface="Times New Roman"/>
              <a:ea typeface="Calibri"/>
              <a:cs typeface="Calibri"/>
            </a:endParaRPr>
          </a:p>
          <a:p>
            <a:pPr algn="just"/>
            <a:r>
              <a:rPr lang="en-US" sz="2000">
                <a:latin typeface="Times New Roman"/>
                <a:ea typeface="+mn-lt"/>
                <a:cs typeface="+mn-lt"/>
              </a:rPr>
              <a:t>RQ2: Which attacker TTPs interact with the deception environment during Cobalt Strike/Empire/Metasploit simulations?</a:t>
            </a:r>
            <a:endParaRPr lang="en-US" sz="2000">
              <a:latin typeface="Times New Roman"/>
              <a:ea typeface="Calibri"/>
              <a:cs typeface="Calibri"/>
            </a:endParaRPr>
          </a:p>
          <a:p>
            <a:pPr algn="just"/>
            <a:endParaRPr lang="en-US" sz="2000">
              <a:latin typeface="Times New Roman"/>
              <a:ea typeface="Calibri"/>
              <a:cs typeface="Calibri"/>
            </a:endParaRPr>
          </a:p>
          <a:p>
            <a:pPr algn="just"/>
            <a:r>
              <a:rPr lang="en-US" sz="2000">
                <a:latin typeface="Times New Roman"/>
                <a:ea typeface="+mn-lt"/>
                <a:cs typeface="+mn-lt"/>
              </a:rPr>
              <a:t>RQ3: How reliably and with what latency are deception-triggered events forwarded into Splunk?</a:t>
            </a:r>
            <a:endParaRPr lang="en-US" sz="2000">
              <a:latin typeface="Times New Roman"/>
              <a:ea typeface="Calibri"/>
              <a:cs typeface="Calibri"/>
            </a:endParaRPr>
          </a:p>
          <a:p>
            <a:pPr algn="just"/>
            <a:endParaRPr lang="en-US" sz="2000">
              <a:latin typeface="Times New Roman"/>
              <a:ea typeface="Calibri"/>
              <a:cs typeface="Calibri"/>
            </a:endParaRPr>
          </a:p>
          <a:p>
            <a:pPr algn="just"/>
            <a:r>
              <a:rPr lang="en-US" sz="2000">
                <a:latin typeface="Times New Roman"/>
                <a:ea typeface="+mn-lt"/>
                <a:cs typeface="+mn-lt"/>
              </a:rPr>
              <a:t>RQ4: How accurately do custom Splunk dashboards and alerts detect lateral movement, privilege escalation, exfiltration, and persistence?</a:t>
            </a:r>
            <a:endParaRPr lang="en-US" sz="2000">
              <a:latin typeface="Times New Roman"/>
              <a:ea typeface="Calibri"/>
              <a:cs typeface="Calibri"/>
            </a:endParaRPr>
          </a:p>
          <a:p>
            <a:pPr algn="just"/>
            <a:endParaRPr lang="en-US" sz="2000">
              <a:latin typeface="Times New Roman"/>
              <a:ea typeface="Calibri"/>
              <a:cs typeface="Calibri"/>
            </a:endParaRPr>
          </a:p>
          <a:p>
            <a:pPr algn="just"/>
            <a:r>
              <a:rPr lang="en-US" sz="2000">
                <a:latin typeface="Times New Roman"/>
                <a:ea typeface="+mn-lt"/>
                <a:cs typeface="+mn-lt"/>
              </a:rPr>
              <a:t>RQ5: How complete is our coverage of MITRE ATT&amp;CK techniques based on detected deception events?</a:t>
            </a:r>
            <a:endParaRPr lang="en-US" sz="2000">
              <a:latin typeface="Times New Roman"/>
              <a:ea typeface="Calibri"/>
              <a:cs typeface="Calibri"/>
            </a:endParaRPr>
          </a:p>
          <a:p>
            <a:pPr algn="just"/>
            <a:endParaRPr lang="en-US" sz="2000">
              <a:latin typeface="Times New Roman"/>
              <a:ea typeface="Calibri"/>
              <a:cs typeface="Calibri"/>
            </a:endParaRPr>
          </a:p>
          <a:p>
            <a:pPr algn="just"/>
            <a:r>
              <a:rPr lang="en-US" sz="2000">
                <a:latin typeface="Times New Roman"/>
                <a:ea typeface="+mn-lt"/>
                <a:cs typeface="+mn-lt"/>
              </a:rPr>
              <a:t>RQ6: Which metrics most meaningfully assess overall deception effectiveness?</a:t>
            </a:r>
            <a:endParaRPr lang="en-US" sz="2000">
              <a:latin typeface="Times New Roman"/>
              <a:ea typeface="Calibri"/>
              <a:cs typeface="Calibri"/>
            </a:endParaRPr>
          </a:p>
        </p:txBody>
      </p:sp>
      <p:sp>
        <p:nvSpPr>
          <p:cNvPr id="5" name="TextBox 4">
            <a:extLst>
              <a:ext uri="{FF2B5EF4-FFF2-40B4-BE49-F238E27FC236}">
                <a16:creationId xmlns:a16="http://schemas.microsoft.com/office/drawing/2014/main" id="{96851B91-6C37-7287-49A1-5095FA29368A}"/>
              </a:ext>
            </a:extLst>
          </p:cNvPr>
          <p:cNvSpPr txBox="1"/>
          <p:nvPr/>
        </p:nvSpPr>
        <p:spPr>
          <a:xfrm>
            <a:off x="600048" y="718320"/>
            <a:ext cx="3289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Times New Roman"/>
                <a:ea typeface="Calibri"/>
                <a:cs typeface="Calibri"/>
              </a:rPr>
              <a:t>Research Questions</a:t>
            </a:r>
          </a:p>
        </p:txBody>
      </p:sp>
    </p:spTree>
    <p:extLst>
      <p:ext uri="{BB962C8B-B14F-4D97-AF65-F5344CB8AC3E}">
        <p14:creationId xmlns:p14="http://schemas.microsoft.com/office/powerpoint/2010/main" val="31311416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8E09C-9F1B-AD1A-9AB9-84FA74C4F4DF}"/>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FD13ECDC-0552-89A9-CE01-3373C9614B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4" name="Straight Connector 3">
            <a:extLst>
              <a:ext uri="{FF2B5EF4-FFF2-40B4-BE49-F238E27FC236}">
                <a16:creationId xmlns:a16="http://schemas.microsoft.com/office/drawing/2014/main" id="{D7144F39-07E7-38DE-75D1-EBEBE1304DAA}"/>
              </a:ext>
            </a:extLst>
          </p:cNvPr>
          <p:cNvCxnSpPr>
            <a:cxnSpLocks/>
          </p:cNvCxnSpPr>
          <p:nvPr/>
        </p:nvCxnSpPr>
        <p:spPr>
          <a:xfrm>
            <a:off x="1176944" y="583598"/>
            <a:ext cx="10235953" cy="0"/>
          </a:xfrm>
          <a:prstGeom prst="line">
            <a:avLst/>
          </a:prstGeom>
        </p:spPr>
        <p:style>
          <a:lnRef idx="3">
            <a:schemeClr val="dk1"/>
          </a:lnRef>
          <a:fillRef idx="0">
            <a:schemeClr val="dk1"/>
          </a:fillRef>
          <a:effectRef idx="2">
            <a:schemeClr val="dk1"/>
          </a:effectRef>
          <a:fontRef idx="minor">
            <a:schemeClr val="tx1"/>
          </a:fontRef>
        </p:style>
      </p:cxnSp>
      <p:cxnSp>
        <p:nvCxnSpPr>
          <p:cNvPr id="7" name="Straight Connector 6">
            <a:extLst>
              <a:ext uri="{FF2B5EF4-FFF2-40B4-BE49-F238E27FC236}">
                <a16:creationId xmlns:a16="http://schemas.microsoft.com/office/drawing/2014/main" id="{F0EDB716-05C6-D627-BAC6-A601E9197FAA}"/>
              </a:ext>
            </a:extLst>
          </p:cNvPr>
          <p:cNvCxnSpPr/>
          <p:nvPr/>
        </p:nvCxnSpPr>
        <p:spPr>
          <a:xfrm>
            <a:off x="1038687" y="6462943"/>
            <a:ext cx="10369119" cy="0"/>
          </a:xfrm>
          <a:prstGeom prst="line">
            <a:avLst/>
          </a:prstGeom>
        </p:spPr>
        <p:style>
          <a:lnRef idx="3">
            <a:schemeClr val="dk1"/>
          </a:lnRef>
          <a:fillRef idx="0">
            <a:schemeClr val="dk1"/>
          </a:fillRef>
          <a:effectRef idx="2">
            <a:schemeClr val="dk1"/>
          </a:effectRef>
          <a:fontRef idx="minor">
            <a:schemeClr val="tx1"/>
          </a:fontRef>
        </p:style>
      </p:cxnSp>
      <p:sp>
        <p:nvSpPr>
          <p:cNvPr id="8" name="TextBox 7">
            <a:extLst>
              <a:ext uri="{FF2B5EF4-FFF2-40B4-BE49-F238E27FC236}">
                <a16:creationId xmlns:a16="http://schemas.microsoft.com/office/drawing/2014/main" id="{58DE51A8-E8FA-DB98-0405-4EC2FD52306F}"/>
              </a:ext>
            </a:extLst>
          </p:cNvPr>
          <p:cNvSpPr txBox="1"/>
          <p:nvPr/>
        </p:nvSpPr>
        <p:spPr>
          <a:xfrm>
            <a:off x="8788893" y="319596"/>
            <a:ext cx="2821413" cy="276999"/>
          </a:xfrm>
          <a:prstGeom prst="rect">
            <a:avLst/>
          </a:prstGeom>
          <a:noFill/>
        </p:spPr>
        <p:txBody>
          <a:bodyPr wrap="none" rtlCol="0">
            <a:spAutoFit/>
          </a:body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10" name="Date Placeholder 9">
            <a:extLst>
              <a:ext uri="{FF2B5EF4-FFF2-40B4-BE49-F238E27FC236}">
                <a16:creationId xmlns:a16="http://schemas.microsoft.com/office/drawing/2014/main" id="{8A6766AD-EFEB-9994-BCD9-ACF48105F6CC}"/>
              </a:ext>
            </a:extLst>
          </p:cNvPr>
          <p:cNvSpPr>
            <a:spLocks noGrp="1"/>
          </p:cNvSpPr>
          <p:nvPr>
            <p:ph type="dt" sz="half" idx="10"/>
          </p:nvPr>
        </p:nvSpPr>
        <p:spPr>
          <a:xfrm>
            <a:off x="838200" y="6492875"/>
            <a:ext cx="2743200" cy="365125"/>
          </a:xfrm>
        </p:spPr>
        <p:txBody>
          <a:bodyPr/>
          <a:lstStyle/>
          <a:p>
            <a:fld id="{1C63A99E-B57C-4637-B2CF-5EF0C75CDABE}" type="datetime1">
              <a:rPr lang="en-IN" smtClean="0"/>
              <a:t>22-07-2025</a:t>
            </a:fld>
            <a:endParaRPr lang="en-IN"/>
          </a:p>
        </p:txBody>
      </p:sp>
      <p:sp>
        <p:nvSpPr>
          <p:cNvPr id="11" name="Slide Number Placeholder 10">
            <a:extLst>
              <a:ext uri="{FF2B5EF4-FFF2-40B4-BE49-F238E27FC236}">
                <a16:creationId xmlns:a16="http://schemas.microsoft.com/office/drawing/2014/main" id="{6C1CF998-EB6A-A6E8-7800-640464166EDA}"/>
              </a:ext>
            </a:extLst>
          </p:cNvPr>
          <p:cNvSpPr>
            <a:spLocks noGrp="1"/>
          </p:cNvSpPr>
          <p:nvPr>
            <p:ph type="sldNum" sz="quarter" idx="12"/>
          </p:nvPr>
        </p:nvSpPr>
        <p:spPr>
          <a:xfrm>
            <a:off x="8734887" y="6492875"/>
            <a:ext cx="2743200" cy="365125"/>
          </a:xfrm>
        </p:spPr>
        <p:txBody>
          <a:bodyPr/>
          <a:lstStyle/>
          <a:p>
            <a:fld id="{3C3E5B82-863A-4B66-9E4F-DCFAD2A3B854}" type="slidenum">
              <a:rPr lang="en-IN" smtClean="0"/>
              <a:t>9</a:t>
            </a:fld>
            <a:endParaRPr lang="en-IN"/>
          </a:p>
        </p:txBody>
      </p:sp>
      <p:sp>
        <p:nvSpPr>
          <p:cNvPr id="12" name="Footer Placeholder 11">
            <a:extLst>
              <a:ext uri="{FF2B5EF4-FFF2-40B4-BE49-F238E27FC236}">
                <a16:creationId xmlns:a16="http://schemas.microsoft.com/office/drawing/2014/main" id="{0F3F0013-31A5-20E1-D463-F0D30456EB22}"/>
              </a:ext>
            </a:extLst>
          </p:cNvPr>
          <p:cNvSpPr>
            <a:spLocks noGrp="1"/>
          </p:cNvSpPr>
          <p:nvPr>
            <p:ph type="ftr" sz="quarter" idx="11"/>
          </p:nvPr>
        </p:nvSpPr>
        <p:spPr>
          <a:xfrm>
            <a:off x="4038600" y="6492875"/>
            <a:ext cx="4114800" cy="365125"/>
          </a:xfrm>
        </p:spPr>
        <p:txBody>
          <a:bodyPr/>
          <a:lstStyle/>
          <a:p>
            <a:r>
              <a:rPr lang="en-US"/>
              <a:t>20CYS 495 B.Tech CYS: 2022 - 2026 Project Presentation </a:t>
            </a:r>
            <a:endParaRPr lang="en-IN"/>
          </a:p>
        </p:txBody>
      </p:sp>
      <p:sp>
        <p:nvSpPr>
          <p:cNvPr id="15" name="TextBox 14">
            <a:extLst>
              <a:ext uri="{FF2B5EF4-FFF2-40B4-BE49-F238E27FC236}">
                <a16:creationId xmlns:a16="http://schemas.microsoft.com/office/drawing/2014/main" id="{6DA76AFE-B68B-7455-F1BB-94B1649FF5AD}"/>
              </a:ext>
            </a:extLst>
          </p:cNvPr>
          <p:cNvSpPr txBox="1"/>
          <p:nvPr/>
        </p:nvSpPr>
        <p:spPr>
          <a:xfrm>
            <a:off x="479148" y="2747706"/>
            <a:ext cx="10508942" cy="677365"/>
          </a:xfrm>
          <a:prstGeom prst="rect">
            <a:avLst/>
          </a:prstGeom>
          <a:noFill/>
        </p:spPr>
        <p:txBody>
          <a:bodyPr wrap="square">
            <a:spAutoFit/>
          </a:bodyPr>
          <a:lstStyle/>
          <a:p>
            <a:pPr lvl="0">
              <a:lnSpc>
                <a:spcPct val="115000"/>
              </a:lnSpc>
              <a:spcAft>
                <a:spcPts val="1000"/>
              </a:spcAft>
              <a:tabLst>
                <a:tab pos="457200" algn="l"/>
              </a:tabLst>
            </a:pPr>
            <a:br>
              <a:rPr lang="en-IN" sz="1800">
                <a:effectLst/>
                <a:latin typeface="Times New Roman"/>
                <a:ea typeface="Times New Roman" panose="02020603050405020304" pitchFamily="18" charset="0"/>
                <a:cs typeface="Times New Roman"/>
              </a:rPr>
            </a:br>
            <a:endParaRPr lang="en-IN" sz="1600">
              <a:effectLst/>
              <a:latin typeface="Times New Roman"/>
              <a:ea typeface="Calibri" panose="020F0502020204030204" pitchFamily="34" charset="0"/>
              <a:cs typeface="Times New Roman"/>
            </a:endParaRPr>
          </a:p>
        </p:txBody>
      </p:sp>
      <p:graphicFrame>
        <p:nvGraphicFramePr>
          <p:cNvPr id="6" name="Table 5">
            <a:extLst>
              <a:ext uri="{FF2B5EF4-FFF2-40B4-BE49-F238E27FC236}">
                <a16:creationId xmlns:a16="http://schemas.microsoft.com/office/drawing/2014/main" id="{7E421964-3BFB-5532-DD4F-B2930F65AEB4}"/>
              </a:ext>
            </a:extLst>
          </p:cNvPr>
          <p:cNvGraphicFramePr>
            <a:graphicFrameLocks noGrp="1"/>
          </p:cNvGraphicFramePr>
          <p:nvPr>
            <p:extLst>
              <p:ext uri="{D42A27DB-BD31-4B8C-83A1-F6EECF244321}">
                <p14:modId xmlns:p14="http://schemas.microsoft.com/office/powerpoint/2010/main" val="1697424856"/>
              </p:ext>
            </p:extLst>
          </p:nvPr>
        </p:nvGraphicFramePr>
        <p:xfrm>
          <a:off x="1079268" y="1474966"/>
          <a:ext cx="10038496" cy="4168156"/>
        </p:xfrm>
        <a:graphic>
          <a:graphicData uri="http://schemas.openxmlformats.org/drawingml/2006/table">
            <a:tbl>
              <a:tblPr firstRow="1" bandRow="1">
                <a:tableStyleId>{5940675A-B579-460E-94D1-54222C63F5DA}</a:tableStyleId>
              </a:tblPr>
              <a:tblGrid>
                <a:gridCol w="5019248">
                  <a:extLst>
                    <a:ext uri="{9D8B030D-6E8A-4147-A177-3AD203B41FA5}">
                      <a16:colId xmlns:a16="http://schemas.microsoft.com/office/drawing/2014/main" val="585748421"/>
                    </a:ext>
                  </a:extLst>
                </a:gridCol>
                <a:gridCol w="5019248">
                  <a:extLst>
                    <a:ext uri="{9D8B030D-6E8A-4147-A177-3AD203B41FA5}">
                      <a16:colId xmlns:a16="http://schemas.microsoft.com/office/drawing/2014/main" val="2011680965"/>
                    </a:ext>
                  </a:extLst>
                </a:gridCol>
              </a:tblGrid>
              <a:tr h="601996">
                <a:tc>
                  <a:txBody>
                    <a:bodyPr/>
                    <a:lstStyle/>
                    <a:p>
                      <a:r>
                        <a:rPr lang="en-US" b="1"/>
                        <a:t>Honeypot </a:t>
                      </a:r>
                    </a:p>
                  </a:txBody>
                  <a:tcPr/>
                </a:tc>
                <a:tc>
                  <a:txBody>
                    <a:bodyPr/>
                    <a:lstStyle/>
                    <a:p>
                      <a:r>
                        <a:rPr lang="en-US" b="1"/>
                        <a:t>Deception Tech</a:t>
                      </a:r>
                    </a:p>
                  </a:txBody>
                  <a:tcPr/>
                </a:tc>
                <a:extLst>
                  <a:ext uri="{0D108BD9-81ED-4DB2-BD59-A6C34878D82A}">
                    <a16:rowId xmlns:a16="http://schemas.microsoft.com/office/drawing/2014/main" val="497343608"/>
                  </a:ext>
                </a:extLst>
              </a:tr>
              <a:tr h="1106898">
                <a:tc>
                  <a:txBody>
                    <a:bodyPr/>
                    <a:lstStyle/>
                    <a:p>
                      <a:pPr lvl="0">
                        <a:buNone/>
                      </a:pPr>
                      <a:r>
                        <a:rPr lang="en-US" sz="1800" b="0" i="0" u="none" strike="noStrike" noProof="0">
                          <a:solidFill>
                            <a:srgbClr val="111111"/>
                          </a:solidFill>
                          <a:latin typeface="Arial"/>
                        </a:rPr>
                        <a:t>Deploying and maintaining a honeypot is a manually intensive process which can be a long and time-consuming process. It can be costly and complex to deploy</a:t>
                      </a:r>
                      <a:endParaRPr lang="en-US" sz="1800"/>
                    </a:p>
                  </a:txBody>
                  <a:tcPr/>
                </a:tc>
                <a:tc>
                  <a:txBody>
                    <a:bodyPr/>
                    <a:lstStyle/>
                    <a:p>
                      <a:pPr lvl="0">
                        <a:buNone/>
                      </a:pPr>
                      <a:r>
                        <a:rPr lang="en-US" sz="1800" b="0" i="0" u="none" strike="noStrike" noProof="0">
                          <a:solidFill>
                            <a:srgbClr val="111111"/>
                          </a:solidFill>
                          <a:latin typeface="Arial"/>
                        </a:rPr>
                        <a:t>Deploying and maintaining deception tech solutions is quite an automated process and requires comparatively less human effort.</a:t>
                      </a:r>
                      <a:endParaRPr lang="en-US" sz="1800"/>
                    </a:p>
                  </a:txBody>
                  <a:tcPr/>
                </a:tc>
                <a:extLst>
                  <a:ext uri="{0D108BD9-81ED-4DB2-BD59-A6C34878D82A}">
                    <a16:rowId xmlns:a16="http://schemas.microsoft.com/office/drawing/2014/main" val="4191510371"/>
                  </a:ext>
                </a:extLst>
              </a:tr>
              <a:tr h="1106898">
                <a:tc>
                  <a:txBody>
                    <a:bodyPr/>
                    <a:lstStyle/>
                    <a:p>
                      <a:pPr lvl="0">
                        <a:buNone/>
                      </a:pPr>
                      <a:r>
                        <a:rPr lang="en-US" sz="1800" b="0" i="0" u="none" strike="noStrike" noProof="0">
                          <a:solidFill>
                            <a:srgbClr val="111111"/>
                          </a:solidFill>
                          <a:latin typeface="Arial"/>
                        </a:rPr>
                        <a:t>Generally deployed in highly targeted areas of a network where they are most likely to attract cyber attackers like a database of a financial service.</a:t>
                      </a:r>
                      <a:endParaRPr lang="en-US" sz="1800"/>
                    </a:p>
                  </a:txBody>
                  <a:tcPr/>
                </a:tc>
                <a:tc>
                  <a:txBody>
                    <a:bodyPr/>
                    <a:lstStyle/>
                    <a:p>
                      <a:pPr lvl="0">
                        <a:buNone/>
                      </a:pPr>
                      <a:r>
                        <a:rPr lang="en-US" sz="1800" b="0" i="0" u="none" strike="noStrike" noProof="0">
                          <a:solidFill>
                            <a:srgbClr val="111111"/>
                          </a:solidFill>
                          <a:latin typeface="Arial"/>
                        </a:rPr>
                        <a:t>Modern deception solutions can mimic servers, applications, an endpoint device, and IoT devices. They can emulate just about anything.</a:t>
                      </a:r>
                      <a:endParaRPr lang="en-US" sz="1800"/>
                    </a:p>
                  </a:txBody>
                  <a:tcPr/>
                </a:tc>
                <a:extLst>
                  <a:ext uri="{0D108BD9-81ED-4DB2-BD59-A6C34878D82A}">
                    <a16:rowId xmlns:a16="http://schemas.microsoft.com/office/drawing/2014/main" val="2143728038"/>
                  </a:ext>
                </a:extLst>
              </a:tr>
              <a:tr h="1106898">
                <a:tc>
                  <a:txBody>
                    <a:bodyPr/>
                    <a:lstStyle/>
                    <a:p>
                      <a:pPr lvl="0">
                        <a:buNone/>
                      </a:pPr>
                      <a:r>
                        <a:rPr lang="en-US" sz="1800" b="0" i="0" u="none" strike="noStrike" noProof="0">
                          <a:solidFill>
                            <a:srgbClr val="111111"/>
                          </a:solidFill>
                          <a:latin typeface="Arial"/>
                        </a:rPr>
                        <a:t>Offers limited integration capabilities into enterprise security infrastructure as it is deployed as a stand-alone system.</a:t>
                      </a:r>
                      <a:endParaRPr lang="en-US" sz="1800"/>
                    </a:p>
                  </a:txBody>
                  <a:tcPr/>
                </a:tc>
                <a:tc>
                  <a:txBody>
                    <a:bodyPr/>
                    <a:lstStyle/>
                    <a:p>
                      <a:pPr lvl="0">
                        <a:buNone/>
                      </a:pPr>
                      <a:r>
                        <a:rPr lang="en-US" sz="1800" b="0" i="0" u="none" strike="noStrike" noProof="0">
                          <a:solidFill>
                            <a:srgbClr val="111111"/>
                          </a:solidFill>
                          <a:latin typeface="Arial"/>
                        </a:rPr>
                        <a:t>Seamlessly integrates with modern cybersecurity tools such as security information and event management (SIEM) and security information and event management (SOAR).</a:t>
                      </a:r>
                      <a:endParaRPr lang="en-US" sz="1800"/>
                    </a:p>
                  </a:txBody>
                  <a:tcPr/>
                </a:tc>
                <a:extLst>
                  <a:ext uri="{0D108BD9-81ED-4DB2-BD59-A6C34878D82A}">
                    <a16:rowId xmlns:a16="http://schemas.microsoft.com/office/drawing/2014/main" val="924013979"/>
                  </a:ext>
                </a:extLst>
              </a:tr>
            </a:tbl>
          </a:graphicData>
        </a:graphic>
      </p:graphicFrame>
      <p:sp>
        <p:nvSpPr>
          <p:cNvPr id="9" name="TextBox 8">
            <a:extLst>
              <a:ext uri="{FF2B5EF4-FFF2-40B4-BE49-F238E27FC236}">
                <a16:creationId xmlns:a16="http://schemas.microsoft.com/office/drawing/2014/main" id="{84352311-B5F2-D795-FC56-EF9B8D2A10D4}"/>
              </a:ext>
            </a:extLst>
          </p:cNvPr>
          <p:cNvSpPr txBox="1"/>
          <p:nvPr/>
        </p:nvSpPr>
        <p:spPr>
          <a:xfrm>
            <a:off x="4040833" y="765075"/>
            <a:ext cx="614536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ea typeface="Calibri"/>
                <a:cs typeface="Calibri"/>
              </a:rPr>
              <a:t>Honeypot Vs Deception Tech</a:t>
            </a:r>
            <a:endParaRPr lang="en-US" sz="2000" b="1"/>
          </a:p>
        </p:txBody>
      </p:sp>
    </p:spTree>
    <p:extLst>
      <p:ext uri="{BB962C8B-B14F-4D97-AF65-F5344CB8AC3E}">
        <p14:creationId xmlns:p14="http://schemas.microsoft.com/office/powerpoint/2010/main" val="5342522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BA0542C-48C4-3504-66B3-1A73816311A3}"/>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AFBC9A94-FE97-B7F2-E632-C3CDB52E24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4" name="Straight Connector 3">
            <a:extLst>
              <a:ext uri="{FF2B5EF4-FFF2-40B4-BE49-F238E27FC236}">
                <a16:creationId xmlns:a16="http://schemas.microsoft.com/office/drawing/2014/main" id="{6540A858-8F19-35A9-9016-22DF250BCC32}"/>
              </a:ext>
            </a:extLst>
          </p:cNvPr>
          <p:cNvCxnSpPr>
            <a:cxnSpLocks/>
          </p:cNvCxnSpPr>
          <p:nvPr/>
        </p:nvCxnSpPr>
        <p:spPr>
          <a:xfrm>
            <a:off x="1109709" y="594804"/>
            <a:ext cx="10235953" cy="0"/>
          </a:xfrm>
          <a:prstGeom prst="line">
            <a:avLst/>
          </a:prstGeom>
        </p:spPr>
        <p:style>
          <a:lnRef idx="3">
            <a:schemeClr val="dk1"/>
          </a:lnRef>
          <a:fillRef idx="0">
            <a:schemeClr val="dk1"/>
          </a:fillRef>
          <a:effectRef idx="2">
            <a:schemeClr val="dk1"/>
          </a:effectRef>
          <a:fontRef idx="minor">
            <a:schemeClr val="tx1"/>
          </a:fontRef>
        </p:style>
      </p:cxnSp>
      <p:cxnSp>
        <p:nvCxnSpPr>
          <p:cNvPr id="7" name="Straight Connector 6">
            <a:extLst>
              <a:ext uri="{FF2B5EF4-FFF2-40B4-BE49-F238E27FC236}">
                <a16:creationId xmlns:a16="http://schemas.microsoft.com/office/drawing/2014/main" id="{2641504B-2023-4237-A645-2776E0017A2C}"/>
              </a:ext>
            </a:extLst>
          </p:cNvPr>
          <p:cNvCxnSpPr/>
          <p:nvPr/>
        </p:nvCxnSpPr>
        <p:spPr>
          <a:xfrm>
            <a:off x="1038687" y="6462943"/>
            <a:ext cx="10369119" cy="0"/>
          </a:xfrm>
          <a:prstGeom prst="line">
            <a:avLst/>
          </a:prstGeom>
        </p:spPr>
        <p:style>
          <a:lnRef idx="3">
            <a:schemeClr val="dk1"/>
          </a:lnRef>
          <a:fillRef idx="0">
            <a:schemeClr val="dk1"/>
          </a:fillRef>
          <a:effectRef idx="2">
            <a:schemeClr val="dk1"/>
          </a:effectRef>
          <a:fontRef idx="minor">
            <a:schemeClr val="tx1"/>
          </a:fontRef>
        </p:style>
      </p:cxnSp>
      <p:sp>
        <p:nvSpPr>
          <p:cNvPr id="8" name="TextBox 7">
            <a:extLst>
              <a:ext uri="{FF2B5EF4-FFF2-40B4-BE49-F238E27FC236}">
                <a16:creationId xmlns:a16="http://schemas.microsoft.com/office/drawing/2014/main" id="{A0FCFAD2-1278-2833-CBE6-43AAE40EC2E7}"/>
              </a:ext>
            </a:extLst>
          </p:cNvPr>
          <p:cNvSpPr txBox="1"/>
          <p:nvPr/>
        </p:nvSpPr>
        <p:spPr>
          <a:xfrm>
            <a:off x="8788893" y="319596"/>
            <a:ext cx="2821413" cy="276999"/>
          </a:xfrm>
          <a:prstGeom prst="rect">
            <a:avLst/>
          </a:prstGeom>
          <a:noFill/>
        </p:spPr>
        <p:txBody>
          <a:bodyPr wrap="none" rtlCol="0">
            <a:spAutoFit/>
          </a:body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10" name="Date Placeholder 9">
            <a:extLst>
              <a:ext uri="{FF2B5EF4-FFF2-40B4-BE49-F238E27FC236}">
                <a16:creationId xmlns:a16="http://schemas.microsoft.com/office/drawing/2014/main" id="{27329A9F-220C-A9C8-73E0-4C1C21044AC4}"/>
              </a:ext>
            </a:extLst>
          </p:cNvPr>
          <p:cNvSpPr>
            <a:spLocks noGrp="1"/>
          </p:cNvSpPr>
          <p:nvPr>
            <p:ph type="dt" sz="half" idx="10"/>
          </p:nvPr>
        </p:nvSpPr>
        <p:spPr>
          <a:xfrm>
            <a:off x="838200" y="6492875"/>
            <a:ext cx="2743200" cy="365125"/>
          </a:xfrm>
        </p:spPr>
        <p:txBody>
          <a:bodyPr/>
          <a:lstStyle/>
          <a:p>
            <a:fld id="{1C63A99E-B57C-4637-B2CF-5EF0C75CDABE}" type="datetime1">
              <a:rPr lang="en-IN" smtClean="0"/>
              <a:t>22-07-2025</a:t>
            </a:fld>
            <a:endParaRPr lang="en-IN"/>
          </a:p>
        </p:txBody>
      </p:sp>
      <p:sp>
        <p:nvSpPr>
          <p:cNvPr id="11" name="Slide Number Placeholder 10">
            <a:extLst>
              <a:ext uri="{FF2B5EF4-FFF2-40B4-BE49-F238E27FC236}">
                <a16:creationId xmlns:a16="http://schemas.microsoft.com/office/drawing/2014/main" id="{C8DF01B4-FF8A-1AE9-1A11-E2BD4C81BD8D}"/>
              </a:ext>
            </a:extLst>
          </p:cNvPr>
          <p:cNvSpPr>
            <a:spLocks noGrp="1"/>
          </p:cNvSpPr>
          <p:nvPr>
            <p:ph type="sldNum" sz="quarter" idx="12"/>
          </p:nvPr>
        </p:nvSpPr>
        <p:spPr>
          <a:xfrm>
            <a:off x="8734887" y="6492875"/>
            <a:ext cx="2743200" cy="365125"/>
          </a:xfrm>
        </p:spPr>
        <p:txBody>
          <a:bodyPr/>
          <a:lstStyle/>
          <a:p>
            <a:fld id="{3C3E5B82-863A-4B66-9E4F-DCFAD2A3B854}" type="slidenum">
              <a:rPr lang="en-IN" smtClean="0"/>
              <a:t>10</a:t>
            </a:fld>
            <a:endParaRPr lang="en-IN"/>
          </a:p>
        </p:txBody>
      </p:sp>
      <p:sp>
        <p:nvSpPr>
          <p:cNvPr id="12" name="Footer Placeholder 11">
            <a:extLst>
              <a:ext uri="{FF2B5EF4-FFF2-40B4-BE49-F238E27FC236}">
                <a16:creationId xmlns:a16="http://schemas.microsoft.com/office/drawing/2014/main" id="{7111AABB-BC57-8B0B-F2F1-AD05EB3399F7}"/>
              </a:ext>
            </a:extLst>
          </p:cNvPr>
          <p:cNvSpPr>
            <a:spLocks noGrp="1"/>
          </p:cNvSpPr>
          <p:nvPr>
            <p:ph type="ftr" sz="quarter" idx="11"/>
          </p:nvPr>
        </p:nvSpPr>
        <p:spPr>
          <a:xfrm>
            <a:off x="4038600" y="6492875"/>
            <a:ext cx="4114800" cy="365125"/>
          </a:xfrm>
        </p:spPr>
        <p:txBody>
          <a:bodyPr/>
          <a:lstStyle/>
          <a:p>
            <a:r>
              <a:rPr lang="en-US"/>
              <a:t>20CYS 495 B.Tech CYS: 2022 - 2026 Project Presentation </a:t>
            </a:r>
            <a:endParaRPr lang="en-IN"/>
          </a:p>
        </p:txBody>
      </p:sp>
      <p:sp>
        <p:nvSpPr>
          <p:cNvPr id="15" name="TextBox 14">
            <a:extLst>
              <a:ext uri="{FF2B5EF4-FFF2-40B4-BE49-F238E27FC236}">
                <a16:creationId xmlns:a16="http://schemas.microsoft.com/office/drawing/2014/main" id="{18168489-7873-CB8C-292A-644C8D82BF8E}"/>
              </a:ext>
            </a:extLst>
          </p:cNvPr>
          <p:cNvSpPr txBox="1"/>
          <p:nvPr/>
        </p:nvSpPr>
        <p:spPr>
          <a:xfrm>
            <a:off x="479148" y="2747706"/>
            <a:ext cx="10508942" cy="677365"/>
          </a:xfrm>
          <a:prstGeom prst="rect">
            <a:avLst/>
          </a:prstGeom>
          <a:noFill/>
        </p:spPr>
        <p:txBody>
          <a:bodyPr wrap="square">
            <a:spAutoFit/>
          </a:bodyPr>
          <a:lstStyle/>
          <a:p>
            <a:pPr lvl="0">
              <a:lnSpc>
                <a:spcPct val="115000"/>
              </a:lnSpc>
              <a:spcAft>
                <a:spcPts val="1000"/>
              </a:spcAft>
              <a:tabLst>
                <a:tab pos="457200" algn="l"/>
              </a:tabLst>
            </a:pPr>
            <a:br>
              <a:rPr lang="en-IN" sz="1800">
                <a:effectLst/>
                <a:latin typeface="Times New Roman"/>
                <a:ea typeface="Times New Roman" panose="02020603050405020304" pitchFamily="18" charset="0"/>
                <a:cs typeface="Times New Roman"/>
              </a:rPr>
            </a:br>
            <a:endParaRPr lang="en-IN" sz="1600">
              <a:effectLst/>
              <a:latin typeface="Times New Roman"/>
              <a:ea typeface="Calibri" panose="020F0502020204030204" pitchFamily="34" charset="0"/>
              <a:cs typeface="Times New Roman"/>
            </a:endParaRPr>
          </a:p>
        </p:txBody>
      </p:sp>
      <p:pic>
        <p:nvPicPr>
          <p:cNvPr id="5" name="Picture 4" descr="A diagram of a process&#10;&#10;AI-generated content may be incorrect.">
            <a:extLst>
              <a:ext uri="{FF2B5EF4-FFF2-40B4-BE49-F238E27FC236}">
                <a16:creationId xmlns:a16="http://schemas.microsoft.com/office/drawing/2014/main" id="{DDC80F54-A93C-9006-4CA0-9A7BEA3170F5}"/>
              </a:ext>
            </a:extLst>
          </p:cNvPr>
          <p:cNvPicPr>
            <a:picLocks noChangeAspect="1"/>
          </p:cNvPicPr>
          <p:nvPr/>
        </p:nvPicPr>
        <p:blipFill>
          <a:blip r:embed="rId3"/>
          <a:stretch>
            <a:fillRect/>
          </a:stretch>
        </p:blipFill>
        <p:spPr>
          <a:xfrm>
            <a:off x="762000" y="792191"/>
            <a:ext cx="10227973" cy="5396026"/>
          </a:xfrm>
          <a:prstGeom prst="rect">
            <a:avLst/>
          </a:prstGeom>
        </p:spPr>
      </p:pic>
    </p:spTree>
    <p:extLst>
      <p:ext uri="{BB962C8B-B14F-4D97-AF65-F5344CB8AC3E}">
        <p14:creationId xmlns:p14="http://schemas.microsoft.com/office/powerpoint/2010/main" val="28042688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FE9374F-8DD8-4480-8590-778239D8B0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4" name="Straight Connector 3">
            <a:extLst>
              <a:ext uri="{FF2B5EF4-FFF2-40B4-BE49-F238E27FC236}">
                <a16:creationId xmlns:a16="http://schemas.microsoft.com/office/drawing/2014/main" id="{C86AE5E2-AE54-4C65-842F-C82D80DE5FE3}"/>
              </a:ext>
            </a:extLst>
          </p:cNvPr>
          <p:cNvCxnSpPr>
            <a:cxnSpLocks/>
          </p:cNvCxnSpPr>
          <p:nvPr/>
        </p:nvCxnSpPr>
        <p:spPr>
          <a:xfrm>
            <a:off x="1109709" y="594804"/>
            <a:ext cx="10235953" cy="0"/>
          </a:xfrm>
          <a:prstGeom prst="line">
            <a:avLst/>
          </a:prstGeom>
        </p:spPr>
        <p:style>
          <a:lnRef idx="3">
            <a:schemeClr val="dk1"/>
          </a:lnRef>
          <a:fillRef idx="0">
            <a:schemeClr val="dk1"/>
          </a:fillRef>
          <a:effectRef idx="2">
            <a:schemeClr val="dk1"/>
          </a:effectRef>
          <a:fontRef idx="minor">
            <a:schemeClr val="tx1"/>
          </a:fontRef>
        </p:style>
      </p:cxnSp>
      <p:cxnSp>
        <p:nvCxnSpPr>
          <p:cNvPr id="7" name="Straight Connector 6">
            <a:extLst>
              <a:ext uri="{FF2B5EF4-FFF2-40B4-BE49-F238E27FC236}">
                <a16:creationId xmlns:a16="http://schemas.microsoft.com/office/drawing/2014/main" id="{85230674-9C20-4A48-BEDB-3E71685A6837}"/>
              </a:ext>
            </a:extLst>
          </p:cNvPr>
          <p:cNvCxnSpPr/>
          <p:nvPr/>
        </p:nvCxnSpPr>
        <p:spPr>
          <a:xfrm>
            <a:off x="1038687" y="6462943"/>
            <a:ext cx="10369119" cy="0"/>
          </a:xfrm>
          <a:prstGeom prst="line">
            <a:avLst/>
          </a:prstGeom>
        </p:spPr>
        <p:style>
          <a:lnRef idx="3">
            <a:schemeClr val="dk1"/>
          </a:lnRef>
          <a:fillRef idx="0">
            <a:schemeClr val="dk1"/>
          </a:fillRef>
          <a:effectRef idx="2">
            <a:schemeClr val="dk1"/>
          </a:effectRef>
          <a:fontRef idx="minor">
            <a:schemeClr val="tx1"/>
          </a:fontRef>
        </p:style>
      </p:cxnSp>
      <p:sp>
        <p:nvSpPr>
          <p:cNvPr id="8" name="TextBox 7">
            <a:extLst>
              <a:ext uri="{FF2B5EF4-FFF2-40B4-BE49-F238E27FC236}">
                <a16:creationId xmlns:a16="http://schemas.microsoft.com/office/drawing/2014/main" id="{83B72D3C-7AEE-4C83-8156-6FCDFB64EDF4}"/>
              </a:ext>
            </a:extLst>
          </p:cNvPr>
          <p:cNvSpPr txBox="1"/>
          <p:nvPr/>
        </p:nvSpPr>
        <p:spPr>
          <a:xfrm>
            <a:off x="8788893" y="319596"/>
            <a:ext cx="2821413" cy="276999"/>
          </a:xfrm>
          <a:prstGeom prst="rect">
            <a:avLst/>
          </a:prstGeom>
          <a:noFill/>
        </p:spPr>
        <p:txBody>
          <a:bodyPr wrap="none" rtlCol="0">
            <a:spAutoFit/>
          </a:body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10" name="Date Placeholder 9">
            <a:extLst>
              <a:ext uri="{FF2B5EF4-FFF2-40B4-BE49-F238E27FC236}">
                <a16:creationId xmlns:a16="http://schemas.microsoft.com/office/drawing/2014/main" id="{05A0A882-B0D8-45B0-88B6-4D8C07400180}"/>
              </a:ext>
            </a:extLst>
          </p:cNvPr>
          <p:cNvSpPr>
            <a:spLocks noGrp="1"/>
          </p:cNvSpPr>
          <p:nvPr>
            <p:ph type="dt" sz="half" idx="10"/>
          </p:nvPr>
        </p:nvSpPr>
        <p:spPr>
          <a:xfrm>
            <a:off x="838200" y="6492875"/>
            <a:ext cx="2743200" cy="365125"/>
          </a:xfrm>
        </p:spPr>
        <p:txBody>
          <a:bodyPr/>
          <a:lstStyle/>
          <a:p>
            <a:fld id="{1C63A99E-B57C-4637-B2CF-5EF0C75CDABE}" type="datetime1">
              <a:rPr lang="en-IN" smtClean="0"/>
              <a:t>22-07-2025</a:t>
            </a:fld>
            <a:endParaRPr lang="en-IN"/>
          </a:p>
        </p:txBody>
      </p:sp>
      <p:sp>
        <p:nvSpPr>
          <p:cNvPr id="11" name="Slide Number Placeholder 10">
            <a:extLst>
              <a:ext uri="{FF2B5EF4-FFF2-40B4-BE49-F238E27FC236}">
                <a16:creationId xmlns:a16="http://schemas.microsoft.com/office/drawing/2014/main" id="{D560B5BB-12C6-40D2-9763-B27B8ACDE663}"/>
              </a:ext>
            </a:extLst>
          </p:cNvPr>
          <p:cNvSpPr>
            <a:spLocks noGrp="1"/>
          </p:cNvSpPr>
          <p:nvPr>
            <p:ph type="sldNum" sz="quarter" idx="12"/>
          </p:nvPr>
        </p:nvSpPr>
        <p:spPr>
          <a:xfrm>
            <a:off x="8734887" y="6492875"/>
            <a:ext cx="2743200" cy="365125"/>
          </a:xfrm>
        </p:spPr>
        <p:txBody>
          <a:bodyPr/>
          <a:lstStyle/>
          <a:p>
            <a:fld id="{3C3E5B82-863A-4B66-9E4F-DCFAD2A3B854}" type="slidenum">
              <a:rPr lang="en-IN" smtClean="0"/>
              <a:t>11</a:t>
            </a:fld>
            <a:endParaRPr lang="en-IN"/>
          </a:p>
        </p:txBody>
      </p:sp>
      <p:sp>
        <p:nvSpPr>
          <p:cNvPr id="12" name="Footer Placeholder 11">
            <a:extLst>
              <a:ext uri="{FF2B5EF4-FFF2-40B4-BE49-F238E27FC236}">
                <a16:creationId xmlns:a16="http://schemas.microsoft.com/office/drawing/2014/main" id="{F6D4F79C-3FA2-494F-BB27-8CB7272816E9}"/>
              </a:ext>
            </a:extLst>
          </p:cNvPr>
          <p:cNvSpPr>
            <a:spLocks noGrp="1"/>
          </p:cNvSpPr>
          <p:nvPr>
            <p:ph type="ftr" sz="quarter" idx="11"/>
          </p:nvPr>
        </p:nvSpPr>
        <p:spPr>
          <a:xfrm>
            <a:off x="4038600" y="6492875"/>
            <a:ext cx="4114800" cy="365125"/>
          </a:xfrm>
        </p:spPr>
        <p:txBody>
          <a:bodyPr/>
          <a:lstStyle/>
          <a:p>
            <a:r>
              <a:rPr lang="en-US"/>
              <a:t>20CYS 495 B.Tech CYS: 2022 - 2026 Project Presentation </a:t>
            </a:r>
            <a:endParaRPr lang="en-IN"/>
          </a:p>
        </p:txBody>
      </p:sp>
      <p:sp>
        <p:nvSpPr>
          <p:cNvPr id="15" name="TextBox 14">
            <a:extLst>
              <a:ext uri="{FF2B5EF4-FFF2-40B4-BE49-F238E27FC236}">
                <a16:creationId xmlns:a16="http://schemas.microsoft.com/office/drawing/2014/main" id="{4AFC871B-D9C7-4788-858B-B5E480FEF05B}"/>
              </a:ext>
            </a:extLst>
          </p:cNvPr>
          <p:cNvSpPr txBox="1"/>
          <p:nvPr/>
        </p:nvSpPr>
        <p:spPr>
          <a:xfrm>
            <a:off x="479148" y="2747706"/>
            <a:ext cx="10508942" cy="677365"/>
          </a:xfrm>
          <a:prstGeom prst="rect">
            <a:avLst/>
          </a:prstGeom>
          <a:noFill/>
        </p:spPr>
        <p:txBody>
          <a:bodyPr wrap="square">
            <a:spAutoFit/>
          </a:bodyPr>
          <a:lstStyle/>
          <a:p>
            <a:pPr lvl="0">
              <a:lnSpc>
                <a:spcPct val="115000"/>
              </a:lnSpc>
              <a:spcAft>
                <a:spcPts val="1000"/>
              </a:spcAft>
              <a:tabLst>
                <a:tab pos="457200" algn="l"/>
              </a:tabLst>
            </a:pPr>
            <a:br>
              <a:rPr lang="en-IN" sz="1800">
                <a:effectLst/>
                <a:latin typeface="Times New Roman"/>
                <a:ea typeface="Times New Roman" panose="02020603050405020304" pitchFamily="18" charset="0"/>
                <a:cs typeface="Times New Roman"/>
              </a:rPr>
            </a:br>
            <a:endParaRPr lang="en-IN" sz="1600">
              <a:effectLst/>
              <a:latin typeface="Times New Roman"/>
              <a:ea typeface="Calibri" panose="020F0502020204030204" pitchFamily="34" charset="0"/>
              <a:cs typeface="Times New Roman"/>
            </a:endParaRPr>
          </a:p>
        </p:txBody>
      </p:sp>
      <p:sp>
        <p:nvSpPr>
          <p:cNvPr id="6" name="TextBox 5">
            <a:extLst>
              <a:ext uri="{FF2B5EF4-FFF2-40B4-BE49-F238E27FC236}">
                <a16:creationId xmlns:a16="http://schemas.microsoft.com/office/drawing/2014/main" id="{A547D940-B9BC-2A4C-B4A2-EF25A1A4056B}"/>
              </a:ext>
            </a:extLst>
          </p:cNvPr>
          <p:cNvSpPr txBox="1"/>
          <p:nvPr/>
        </p:nvSpPr>
        <p:spPr>
          <a:xfrm>
            <a:off x="671362" y="1117257"/>
            <a:ext cx="6097604" cy="461665"/>
          </a:xfrm>
          <a:prstGeom prst="rect">
            <a:avLst/>
          </a:prstGeom>
          <a:noFill/>
        </p:spPr>
        <p:txBody>
          <a:bodyPr wrap="square" lIns="91440" tIns="45720" rIns="91440" bIns="45720" anchor="t">
            <a:spAutoFit/>
          </a:bodyPr>
          <a:lstStyle/>
          <a:p>
            <a:r>
              <a:rPr lang="en-US" sz="2400" b="1">
                <a:latin typeface="Times New Roman"/>
                <a:cs typeface="Times New Roman"/>
              </a:rPr>
              <a:t>Tools, Methodologies, and Technologies </a:t>
            </a:r>
            <a:endParaRPr lang="en-US" sz="2400" b="1">
              <a:latin typeface="Times New Roman"/>
              <a:ea typeface="Calibri"/>
              <a:cs typeface="Times New Roman"/>
            </a:endParaRPr>
          </a:p>
        </p:txBody>
      </p:sp>
      <p:sp>
        <p:nvSpPr>
          <p:cNvPr id="3" name="TextBox 2">
            <a:extLst>
              <a:ext uri="{FF2B5EF4-FFF2-40B4-BE49-F238E27FC236}">
                <a16:creationId xmlns:a16="http://schemas.microsoft.com/office/drawing/2014/main" id="{F1B892B5-A3CB-AAA5-7CF3-58CEDD32E587}"/>
              </a:ext>
            </a:extLst>
          </p:cNvPr>
          <p:cNvSpPr txBox="1"/>
          <p:nvPr/>
        </p:nvSpPr>
        <p:spPr>
          <a:xfrm>
            <a:off x="689389" y="1760440"/>
            <a:ext cx="10957200" cy="34778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latin typeface="Times New Roman"/>
                <a:ea typeface="Calibri"/>
                <a:cs typeface="Calibri"/>
              </a:rPr>
              <a:t>Tools:</a:t>
            </a:r>
          </a:p>
          <a:p>
            <a:endParaRPr lang="en-US" sz="2000" b="1">
              <a:latin typeface="Times New Roman"/>
              <a:ea typeface="+mn-lt"/>
              <a:cs typeface="+mn-lt"/>
            </a:endParaRPr>
          </a:p>
          <a:p>
            <a:pPr marL="285750" indent="-285750">
              <a:buFont typeface="Arial"/>
              <a:buChar char="•"/>
            </a:pPr>
            <a:r>
              <a:rPr lang="en-US" sz="2000" b="1">
                <a:latin typeface="Times New Roman"/>
                <a:ea typeface="+mn-lt"/>
                <a:cs typeface="+mn-lt"/>
              </a:rPr>
              <a:t>VMs: </a:t>
            </a:r>
            <a:r>
              <a:rPr lang="en-US" sz="2000">
                <a:latin typeface="Times New Roman"/>
                <a:ea typeface="+mn-lt"/>
                <a:cs typeface="+mn-lt"/>
              </a:rPr>
              <a:t>(VMware/Hyper-V) Spin up pretend servers.</a:t>
            </a:r>
            <a:endParaRPr lang="en-US" sz="2000">
              <a:latin typeface="Times New Roman"/>
              <a:ea typeface="Calibri" panose="020F0502020204030204"/>
              <a:cs typeface="Calibri" panose="020F0502020204030204"/>
            </a:endParaRPr>
          </a:p>
          <a:p>
            <a:pPr marL="285750" indent="-285750">
              <a:buFont typeface="Arial"/>
              <a:buChar char="•"/>
            </a:pPr>
            <a:endParaRPr lang="en-US" sz="2000">
              <a:latin typeface="Times New Roman"/>
              <a:ea typeface="Calibri" panose="020F0502020204030204"/>
              <a:cs typeface="Calibri" panose="020F0502020204030204"/>
            </a:endParaRPr>
          </a:p>
          <a:p>
            <a:pPr marL="285750" indent="-285750">
              <a:buFont typeface="Arial"/>
              <a:buChar char="•"/>
            </a:pPr>
            <a:r>
              <a:rPr lang="en-US" sz="2000" b="1">
                <a:latin typeface="Times New Roman"/>
                <a:ea typeface="+mn-lt"/>
                <a:cs typeface="+mn-lt"/>
              </a:rPr>
              <a:t>Active Directory Users &amp; Computers: </a:t>
            </a:r>
            <a:r>
              <a:rPr lang="en-US" sz="2000">
                <a:latin typeface="Times New Roman"/>
                <a:ea typeface="+mn-lt"/>
                <a:cs typeface="+mn-lt"/>
              </a:rPr>
              <a:t>Create fake user accounts/OUs.</a:t>
            </a:r>
          </a:p>
          <a:p>
            <a:pPr marL="285750" indent="-285750">
              <a:buFont typeface="Arial"/>
              <a:buChar char="•"/>
            </a:pPr>
            <a:endParaRPr lang="en-US" sz="2000">
              <a:latin typeface="Times New Roman"/>
              <a:ea typeface="+mn-lt"/>
              <a:cs typeface="+mn-lt"/>
            </a:endParaRPr>
          </a:p>
          <a:p>
            <a:pPr marL="285750" indent="-285750">
              <a:buFont typeface="Arial"/>
              <a:buChar char="•"/>
            </a:pPr>
            <a:r>
              <a:rPr lang="en-US" sz="2000" b="1">
                <a:latin typeface="Times New Roman"/>
                <a:ea typeface="+mn-lt"/>
                <a:cs typeface="+mn-lt"/>
              </a:rPr>
              <a:t>Honeytoken scripts:</a:t>
            </a:r>
            <a:r>
              <a:rPr lang="en-US" sz="2000">
                <a:latin typeface="Times New Roman"/>
                <a:ea typeface="+mn-lt"/>
                <a:cs typeface="+mn-lt"/>
              </a:rPr>
              <a:t> Plant dummy passwords or shares.</a:t>
            </a:r>
            <a:br>
              <a:rPr lang="en-US" sz="2000">
                <a:latin typeface="Times New Roman"/>
                <a:ea typeface="+mn-lt"/>
                <a:cs typeface="+mn-lt"/>
              </a:rPr>
            </a:br>
            <a:endParaRPr lang="en-US" sz="2000">
              <a:latin typeface="Times New Roman"/>
              <a:ea typeface="Calibri" panose="020F0502020204030204"/>
              <a:cs typeface="Calibri" panose="020F0502020204030204"/>
            </a:endParaRPr>
          </a:p>
          <a:p>
            <a:pPr marL="285750" indent="-285750">
              <a:buFont typeface="Arial"/>
              <a:buChar char="•"/>
            </a:pPr>
            <a:r>
              <a:rPr lang="en-US" sz="2000" b="1">
                <a:latin typeface="Times New Roman"/>
                <a:ea typeface="+mn-lt"/>
                <a:cs typeface="+mn-lt"/>
              </a:rPr>
              <a:t>Red-team tools (Cobalt Strike/Metasploit):</a:t>
            </a:r>
            <a:r>
              <a:rPr lang="en-US" sz="2000">
                <a:latin typeface="Times New Roman"/>
                <a:ea typeface="+mn-lt"/>
                <a:cs typeface="+mn-lt"/>
              </a:rPr>
              <a:t> Simulate attacker moves.</a:t>
            </a:r>
            <a:endParaRPr lang="en-US" sz="2000">
              <a:latin typeface="Times New Roman"/>
              <a:ea typeface="Calibri" panose="020F0502020204030204"/>
              <a:cs typeface="Calibri" panose="020F0502020204030204"/>
            </a:endParaRPr>
          </a:p>
          <a:p>
            <a:pPr marL="285750" indent="-285750">
              <a:buFont typeface="Arial"/>
              <a:buChar char="•"/>
            </a:pPr>
            <a:endParaRPr lang="en-US" sz="2000">
              <a:latin typeface="Times New Roman"/>
              <a:ea typeface="Calibri" panose="020F0502020204030204"/>
              <a:cs typeface="Calibri" panose="020F0502020204030204"/>
            </a:endParaRPr>
          </a:p>
          <a:p>
            <a:pPr marL="285750" indent="-285750">
              <a:buFont typeface="Arial"/>
              <a:buChar char="•"/>
            </a:pPr>
            <a:r>
              <a:rPr lang="en-US" sz="2000" b="1">
                <a:latin typeface="Times New Roman"/>
                <a:ea typeface="+mn-lt"/>
                <a:cs typeface="+mn-lt"/>
              </a:rPr>
              <a:t>SIEM (Splunk):</a:t>
            </a:r>
            <a:r>
              <a:rPr lang="en-US" sz="2000">
                <a:latin typeface="Times New Roman"/>
                <a:ea typeface="+mn-lt"/>
                <a:cs typeface="+mn-lt"/>
              </a:rPr>
              <a:t> Capture and review every alert.</a:t>
            </a:r>
            <a:endParaRPr lang="en-US" sz="2000">
              <a:latin typeface="Times New Roman"/>
              <a:ea typeface="Calibri" panose="020F0502020204030204"/>
              <a:cs typeface="Calibri" panose="020F0502020204030204"/>
            </a:endParaRPr>
          </a:p>
        </p:txBody>
      </p:sp>
    </p:spTree>
    <p:extLst>
      <p:ext uri="{BB962C8B-B14F-4D97-AF65-F5344CB8AC3E}">
        <p14:creationId xmlns:p14="http://schemas.microsoft.com/office/powerpoint/2010/main" val="20697011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5D6B3-82B5-D6A6-9F76-823F0A13D601}"/>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D8484630-2684-5A3B-B6E9-5EF0479911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4" name="Straight Connector 3">
            <a:extLst>
              <a:ext uri="{FF2B5EF4-FFF2-40B4-BE49-F238E27FC236}">
                <a16:creationId xmlns:a16="http://schemas.microsoft.com/office/drawing/2014/main" id="{481B4C54-03DA-7951-6C14-667CC7BEFF97}"/>
              </a:ext>
            </a:extLst>
          </p:cNvPr>
          <p:cNvCxnSpPr>
            <a:cxnSpLocks/>
          </p:cNvCxnSpPr>
          <p:nvPr/>
        </p:nvCxnSpPr>
        <p:spPr>
          <a:xfrm>
            <a:off x="1109709" y="594804"/>
            <a:ext cx="10235953" cy="0"/>
          </a:xfrm>
          <a:prstGeom prst="line">
            <a:avLst/>
          </a:prstGeom>
        </p:spPr>
        <p:style>
          <a:lnRef idx="3">
            <a:schemeClr val="dk1"/>
          </a:lnRef>
          <a:fillRef idx="0">
            <a:schemeClr val="dk1"/>
          </a:fillRef>
          <a:effectRef idx="2">
            <a:schemeClr val="dk1"/>
          </a:effectRef>
          <a:fontRef idx="minor">
            <a:schemeClr val="tx1"/>
          </a:fontRef>
        </p:style>
      </p:cxnSp>
      <p:cxnSp>
        <p:nvCxnSpPr>
          <p:cNvPr id="7" name="Straight Connector 6">
            <a:extLst>
              <a:ext uri="{FF2B5EF4-FFF2-40B4-BE49-F238E27FC236}">
                <a16:creationId xmlns:a16="http://schemas.microsoft.com/office/drawing/2014/main" id="{7FEECA2F-1242-04C5-DA4C-7852BBC7EA4F}"/>
              </a:ext>
            </a:extLst>
          </p:cNvPr>
          <p:cNvCxnSpPr/>
          <p:nvPr/>
        </p:nvCxnSpPr>
        <p:spPr>
          <a:xfrm>
            <a:off x="1038687" y="6462943"/>
            <a:ext cx="10369119" cy="0"/>
          </a:xfrm>
          <a:prstGeom prst="line">
            <a:avLst/>
          </a:prstGeom>
        </p:spPr>
        <p:style>
          <a:lnRef idx="3">
            <a:schemeClr val="dk1"/>
          </a:lnRef>
          <a:fillRef idx="0">
            <a:schemeClr val="dk1"/>
          </a:fillRef>
          <a:effectRef idx="2">
            <a:schemeClr val="dk1"/>
          </a:effectRef>
          <a:fontRef idx="minor">
            <a:schemeClr val="tx1"/>
          </a:fontRef>
        </p:style>
      </p:cxnSp>
      <p:sp>
        <p:nvSpPr>
          <p:cNvPr id="8" name="TextBox 7">
            <a:extLst>
              <a:ext uri="{FF2B5EF4-FFF2-40B4-BE49-F238E27FC236}">
                <a16:creationId xmlns:a16="http://schemas.microsoft.com/office/drawing/2014/main" id="{162CF634-0B9D-F1B3-51FE-43070F915D90}"/>
              </a:ext>
            </a:extLst>
          </p:cNvPr>
          <p:cNvSpPr txBox="1"/>
          <p:nvPr/>
        </p:nvSpPr>
        <p:spPr>
          <a:xfrm>
            <a:off x="8788893" y="319596"/>
            <a:ext cx="2821413" cy="276999"/>
          </a:xfrm>
          <a:prstGeom prst="rect">
            <a:avLst/>
          </a:prstGeom>
          <a:noFill/>
        </p:spPr>
        <p:txBody>
          <a:bodyPr wrap="none" rtlCol="0">
            <a:spAutoFit/>
          </a:body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10" name="Date Placeholder 9">
            <a:extLst>
              <a:ext uri="{FF2B5EF4-FFF2-40B4-BE49-F238E27FC236}">
                <a16:creationId xmlns:a16="http://schemas.microsoft.com/office/drawing/2014/main" id="{881132D1-2971-BC3F-AA06-727E43079165}"/>
              </a:ext>
            </a:extLst>
          </p:cNvPr>
          <p:cNvSpPr>
            <a:spLocks noGrp="1"/>
          </p:cNvSpPr>
          <p:nvPr>
            <p:ph type="dt" sz="half" idx="10"/>
          </p:nvPr>
        </p:nvSpPr>
        <p:spPr>
          <a:xfrm>
            <a:off x="838200" y="6492875"/>
            <a:ext cx="2743200" cy="365125"/>
          </a:xfrm>
        </p:spPr>
        <p:txBody>
          <a:bodyPr/>
          <a:lstStyle/>
          <a:p>
            <a:fld id="{1C63A99E-B57C-4637-B2CF-5EF0C75CDABE}" type="datetime1">
              <a:rPr lang="en-IN" smtClean="0"/>
              <a:t>22-07-2025</a:t>
            </a:fld>
            <a:endParaRPr lang="en-IN"/>
          </a:p>
        </p:txBody>
      </p:sp>
      <p:sp>
        <p:nvSpPr>
          <p:cNvPr id="11" name="Slide Number Placeholder 10">
            <a:extLst>
              <a:ext uri="{FF2B5EF4-FFF2-40B4-BE49-F238E27FC236}">
                <a16:creationId xmlns:a16="http://schemas.microsoft.com/office/drawing/2014/main" id="{2747203C-8FE3-6DFC-08D6-599FBE37120F}"/>
              </a:ext>
            </a:extLst>
          </p:cNvPr>
          <p:cNvSpPr>
            <a:spLocks noGrp="1"/>
          </p:cNvSpPr>
          <p:nvPr>
            <p:ph type="sldNum" sz="quarter" idx="12"/>
          </p:nvPr>
        </p:nvSpPr>
        <p:spPr>
          <a:xfrm>
            <a:off x="8734887" y="6492875"/>
            <a:ext cx="2743200" cy="365125"/>
          </a:xfrm>
        </p:spPr>
        <p:txBody>
          <a:bodyPr/>
          <a:lstStyle/>
          <a:p>
            <a:fld id="{3C3E5B82-863A-4B66-9E4F-DCFAD2A3B854}" type="slidenum">
              <a:rPr lang="en-IN" smtClean="0"/>
              <a:t>12</a:t>
            </a:fld>
            <a:endParaRPr lang="en-IN"/>
          </a:p>
        </p:txBody>
      </p:sp>
      <p:sp>
        <p:nvSpPr>
          <p:cNvPr id="12" name="Footer Placeholder 11">
            <a:extLst>
              <a:ext uri="{FF2B5EF4-FFF2-40B4-BE49-F238E27FC236}">
                <a16:creationId xmlns:a16="http://schemas.microsoft.com/office/drawing/2014/main" id="{B0498D0B-E7A0-2BE7-566D-92CC8061A9CA}"/>
              </a:ext>
            </a:extLst>
          </p:cNvPr>
          <p:cNvSpPr>
            <a:spLocks noGrp="1"/>
          </p:cNvSpPr>
          <p:nvPr>
            <p:ph type="ftr" sz="quarter" idx="11"/>
          </p:nvPr>
        </p:nvSpPr>
        <p:spPr>
          <a:xfrm>
            <a:off x="4038600" y="6492875"/>
            <a:ext cx="4114800" cy="365125"/>
          </a:xfrm>
        </p:spPr>
        <p:txBody>
          <a:bodyPr/>
          <a:lstStyle/>
          <a:p>
            <a:r>
              <a:rPr lang="en-US"/>
              <a:t>20CYS 495 B.Tech CYS: 2022 - 2026 Project Presentation </a:t>
            </a:r>
            <a:endParaRPr lang="en-IN"/>
          </a:p>
        </p:txBody>
      </p:sp>
      <p:sp>
        <p:nvSpPr>
          <p:cNvPr id="15" name="TextBox 14">
            <a:extLst>
              <a:ext uri="{FF2B5EF4-FFF2-40B4-BE49-F238E27FC236}">
                <a16:creationId xmlns:a16="http://schemas.microsoft.com/office/drawing/2014/main" id="{88B6C78E-B681-D677-F8B9-43EBC5B8ADC8}"/>
              </a:ext>
            </a:extLst>
          </p:cNvPr>
          <p:cNvSpPr txBox="1"/>
          <p:nvPr/>
        </p:nvSpPr>
        <p:spPr>
          <a:xfrm>
            <a:off x="479148" y="2747706"/>
            <a:ext cx="10508942" cy="677365"/>
          </a:xfrm>
          <a:prstGeom prst="rect">
            <a:avLst/>
          </a:prstGeom>
          <a:noFill/>
        </p:spPr>
        <p:txBody>
          <a:bodyPr wrap="square">
            <a:spAutoFit/>
          </a:bodyPr>
          <a:lstStyle/>
          <a:p>
            <a:pPr lvl="0">
              <a:lnSpc>
                <a:spcPct val="115000"/>
              </a:lnSpc>
              <a:spcAft>
                <a:spcPts val="1000"/>
              </a:spcAft>
              <a:tabLst>
                <a:tab pos="457200" algn="l"/>
              </a:tabLst>
            </a:pPr>
            <a:br>
              <a:rPr lang="en-IN" sz="1800">
                <a:effectLst/>
                <a:latin typeface="Times New Roman"/>
                <a:ea typeface="Times New Roman" panose="02020603050405020304" pitchFamily="18" charset="0"/>
                <a:cs typeface="Times New Roman"/>
              </a:rPr>
            </a:br>
            <a:endParaRPr lang="en-IN" sz="1600">
              <a:effectLst/>
              <a:latin typeface="Times New Roman"/>
              <a:ea typeface="Calibri" panose="020F0502020204030204" pitchFamily="34" charset="0"/>
              <a:cs typeface="Times New Roman"/>
            </a:endParaRPr>
          </a:p>
        </p:txBody>
      </p:sp>
      <p:sp>
        <p:nvSpPr>
          <p:cNvPr id="6" name="TextBox 5">
            <a:extLst>
              <a:ext uri="{FF2B5EF4-FFF2-40B4-BE49-F238E27FC236}">
                <a16:creationId xmlns:a16="http://schemas.microsoft.com/office/drawing/2014/main" id="{11435CF7-989C-CC74-E029-C972FD0CA0D3}"/>
              </a:ext>
            </a:extLst>
          </p:cNvPr>
          <p:cNvSpPr txBox="1"/>
          <p:nvPr/>
        </p:nvSpPr>
        <p:spPr>
          <a:xfrm>
            <a:off x="476303" y="746736"/>
            <a:ext cx="11269200" cy="569386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latin typeface="Times New Roman"/>
                <a:ea typeface="+mn-lt"/>
                <a:cs typeface="+mn-lt"/>
              </a:rPr>
              <a:t>Methodologies</a:t>
            </a:r>
            <a:endParaRPr lang="en-US" sz="2000" b="1">
              <a:latin typeface="Times New Roman"/>
              <a:cs typeface="Times New Roman"/>
            </a:endParaRPr>
          </a:p>
          <a:p>
            <a:endParaRPr lang="en-US" sz="2000" b="1">
              <a:latin typeface="Times New Roman"/>
              <a:ea typeface="+mn-lt"/>
              <a:cs typeface="+mn-lt"/>
            </a:endParaRPr>
          </a:p>
          <a:p>
            <a:pPr marL="285750" indent="-285750" algn="just">
              <a:buFont typeface="Arial"/>
              <a:buChar char="•"/>
            </a:pPr>
            <a:r>
              <a:rPr lang="en-US" b="1">
                <a:latin typeface="Times New Roman"/>
                <a:ea typeface="+mn-lt"/>
                <a:cs typeface="+mn-lt"/>
              </a:rPr>
              <a:t>Craft Deceptive Assets</a:t>
            </a:r>
            <a:endParaRPr lang="en-US" b="1">
              <a:latin typeface="Times New Roman"/>
              <a:ea typeface="Calibri"/>
              <a:cs typeface="Calibri"/>
            </a:endParaRPr>
          </a:p>
          <a:p>
            <a:pPr algn="just"/>
            <a:r>
              <a:rPr lang="en-US">
                <a:latin typeface="Times New Roman"/>
                <a:ea typeface="+mn-lt"/>
                <a:cs typeface="+mn-lt"/>
              </a:rPr>
              <a:t>Deploy decoy servers, accounts and file shares with production-grade names and behaviors to blend into your environment.</a:t>
            </a:r>
          </a:p>
          <a:p>
            <a:pPr algn="just"/>
            <a:endParaRPr lang="en-US">
              <a:latin typeface="Times New Roman"/>
              <a:ea typeface="Calibri" panose="020F0502020204030204"/>
              <a:cs typeface="Times New Roman"/>
            </a:endParaRPr>
          </a:p>
          <a:p>
            <a:pPr marL="285750" indent="-285750" algn="just">
              <a:buFont typeface="Arial"/>
              <a:buChar char="•"/>
            </a:pPr>
            <a:r>
              <a:rPr lang="en-US" b="1">
                <a:latin typeface="Times New Roman"/>
                <a:ea typeface="+mn-lt"/>
                <a:cs typeface="+mn-lt"/>
              </a:rPr>
              <a:t>Conduct Simulated Intrusions:</a:t>
            </a:r>
            <a:endParaRPr lang="en-US" b="1">
              <a:latin typeface="Times New Roman"/>
              <a:ea typeface="Calibri"/>
              <a:cs typeface="Calibri"/>
            </a:endParaRPr>
          </a:p>
          <a:p>
            <a:pPr algn="just"/>
            <a:r>
              <a:rPr lang="en-US">
                <a:latin typeface="Times New Roman"/>
                <a:ea typeface="+mn-lt"/>
                <a:cs typeface="+mn-lt"/>
              </a:rPr>
              <a:t>Utilize red-team frameworks to mimic real-world adversary actions—credential theft, lateral moves, privilege escalation and persistence—against your traps.</a:t>
            </a:r>
          </a:p>
          <a:p>
            <a:pPr marL="285750" indent="-285750" algn="just">
              <a:buFont typeface="Arial"/>
              <a:buChar char="•"/>
            </a:pPr>
            <a:endParaRPr lang="en-US">
              <a:latin typeface="Times New Roman"/>
              <a:cs typeface="Times New Roman"/>
            </a:endParaRPr>
          </a:p>
          <a:p>
            <a:pPr marL="285750" indent="-285750" algn="just">
              <a:buFont typeface="Arial"/>
              <a:buChar char="•"/>
            </a:pPr>
            <a:r>
              <a:rPr lang="en-US" b="1">
                <a:latin typeface="Times New Roman"/>
                <a:ea typeface="+mn-lt"/>
                <a:cs typeface="+mn-lt"/>
              </a:rPr>
              <a:t>Aggregate &amp; Classify Logs:</a:t>
            </a:r>
            <a:r>
              <a:rPr lang="en-US">
                <a:latin typeface="Times New Roman"/>
                <a:ea typeface="+mn-lt"/>
                <a:cs typeface="+mn-lt"/>
              </a:rPr>
              <a:t> </a:t>
            </a:r>
            <a:endParaRPr lang="en-US" b="1">
              <a:latin typeface="Times New Roman"/>
              <a:ea typeface="Calibri" panose="020F0502020204030204"/>
              <a:cs typeface="Calibri" panose="020F0502020204030204"/>
            </a:endParaRPr>
          </a:p>
          <a:p>
            <a:pPr algn="just"/>
            <a:r>
              <a:rPr lang="en-US">
                <a:latin typeface="Times New Roman"/>
                <a:ea typeface="+mn-lt"/>
                <a:cs typeface="+mn-lt"/>
              </a:rPr>
              <a:t>Centralize every decoy alert in your SIEM and systematically tag events for expedited investigation.</a:t>
            </a:r>
          </a:p>
          <a:p>
            <a:pPr marL="285750" indent="-285750" algn="just">
              <a:buFont typeface="Arial"/>
              <a:buChar char="•"/>
            </a:pPr>
            <a:endParaRPr lang="en-US">
              <a:latin typeface="Times New Roman"/>
              <a:cs typeface="Times New Roman"/>
            </a:endParaRPr>
          </a:p>
          <a:p>
            <a:pPr marL="285750" indent="-285750" algn="just">
              <a:buFont typeface="Arial"/>
              <a:buChar char="•"/>
            </a:pPr>
            <a:r>
              <a:rPr lang="en-US" b="1">
                <a:latin typeface="Times New Roman"/>
                <a:ea typeface="+mn-lt"/>
                <a:cs typeface="+mn-lt"/>
              </a:rPr>
              <a:t>Engineer Precise Alerts:</a:t>
            </a:r>
            <a:endParaRPr lang="en-US" b="1">
              <a:latin typeface="Times New Roman"/>
              <a:ea typeface="Calibri" panose="020F0502020204030204"/>
              <a:cs typeface="Calibri" panose="020F0502020204030204"/>
            </a:endParaRPr>
          </a:p>
          <a:p>
            <a:pPr algn="just"/>
            <a:r>
              <a:rPr lang="en-US">
                <a:latin typeface="Times New Roman"/>
                <a:ea typeface="+mn-lt"/>
                <a:cs typeface="+mn-lt"/>
              </a:rPr>
              <a:t>Build focused Splunk searches and dashboards to catch lateral movement, exfiltration via </a:t>
            </a:r>
            <a:r>
              <a:rPr lang="en-US" err="1">
                <a:latin typeface="Times New Roman"/>
                <a:ea typeface="+mn-lt"/>
                <a:cs typeface="+mn-lt"/>
              </a:rPr>
              <a:t>honeyfiles</a:t>
            </a:r>
            <a:r>
              <a:rPr lang="en-US">
                <a:latin typeface="Times New Roman"/>
                <a:ea typeface="+mn-lt"/>
                <a:cs typeface="+mn-lt"/>
              </a:rPr>
              <a:t>, and registry or scheduled-task changes.</a:t>
            </a:r>
            <a:endParaRPr lang="en-US">
              <a:latin typeface="Times New Roman"/>
              <a:cs typeface="Times New Roman"/>
            </a:endParaRPr>
          </a:p>
          <a:p>
            <a:pPr marL="285750" indent="-285750" algn="just">
              <a:buFont typeface="Arial"/>
              <a:buChar char="•"/>
            </a:pPr>
            <a:endParaRPr lang="en-US" b="1">
              <a:latin typeface="Times New Roman"/>
              <a:ea typeface="Calibri" panose="020F0502020204030204"/>
              <a:cs typeface="Calibri" panose="020F0502020204030204"/>
            </a:endParaRPr>
          </a:p>
          <a:p>
            <a:pPr marL="285750" indent="-285750" algn="just">
              <a:buFont typeface="Arial"/>
              <a:buChar char="•"/>
            </a:pPr>
            <a:r>
              <a:rPr lang="en-US" b="1">
                <a:latin typeface="Times New Roman"/>
                <a:ea typeface="+mn-lt"/>
                <a:cs typeface="+mn-lt"/>
              </a:rPr>
              <a:t>Align with MITRE ATT&amp;CK:</a:t>
            </a:r>
            <a:r>
              <a:rPr lang="en-US">
                <a:latin typeface="Times New Roman"/>
                <a:ea typeface="+mn-lt"/>
                <a:cs typeface="+mn-lt"/>
              </a:rPr>
              <a:t> </a:t>
            </a:r>
          </a:p>
          <a:p>
            <a:pPr algn="just"/>
            <a:r>
              <a:rPr lang="en-US">
                <a:latin typeface="Times New Roman"/>
                <a:ea typeface="+mn-lt"/>
                <a:cs typeface="+mn-lt"/>
              </a:rPr>
              <a:t>Assign each detection its corresponding ATT&amp;CK technique ID and regularly audit a coverage matrix to close visibility gaps.</a:t>
            </a:r>
            <a:endParaRPr lang="en-US">
              <a:ea typeface="Calibri" panose="020F0502020204030204"/>
              <a:cs typeface="Calibri" panose="020F0502020204030204"/>
            </a:endParaRPr>
          </a:p>
        </p:txBody>
      </p:sp>
    </p:spTree>
    <p:extLst>
      <p:ext uri="{BB962C8B-B14F-4D97-AF65-F5344CB8AC3E}">
        <p14:creationId xmlns:p14="http://schemas.microsoft.com/office/powerpoint/2010/main" val="41234437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BBD73-144E-B9DF-AFFF-74A357836714}"/>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C6BBAAD3-D470-B755-8C39-E515F0A5B5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4" name="Straight Connector 3">
            <a:extLst>
              <a:ext uri="{FF2B5EF4-FFF2-40B4-BE49-F238E27FC236}">
                <a16:creationId xmlns:a16="http://schemas.microsoft.com/office/drawing/2014/main" id="{86163CA3-EB86-826D-A62F-2EDE2A1E02B4}"/>
              </a:ext>
            </a:extLst>
          </p:cNvPr>
          <p:cNvCxnSpPr>
            <a:cxnSpLocks/>
          </p:cNvCxnSpPr>
          <p:nvPr/>
        </p:nvCxnSpPr>
        <p:spPr>
          <a:xfrm>
            <a:off x="1109709" y="594804"/>
            <a:ext cx="10235953" cy="0"/>
          </a:xfrm>
          <a:prstGeom prst="line">
            <a:avLst/>
          </a:prstGeom>
        </p:spPr>
        <p:style>
          <a:lnRef idx="3">
            <a:schemeClr val="dk1"/>
          </a:lnRef>
          <a:fillRef idx="0">
            <a:schemeClr val="dk1"/>
          </a:fillRef>
          <a:effectRef idx="2">
            <a:schemeClr val="dk1"/>
          </a:effectRef>
          <a:fontRef idx="minor">
            <a:schemeClr val="tx1"/>
          </a:fontRef>
        </p:style>
      </p:cxnSp>
      <p:cxnSp>
        <p:nvCxnSpPr>
          <p:cNvPr id="7" name="Straight Connector 6">
            <a:extLst>
              <a:ext uri="{FF2B5EF4-FFF2-40B4-BE49-F238E27FC236}">
                <a16:creationId xmlns:a16="http://schemas.microsoft.com/office/drawing/2014/main" id="{3BBCB0B3-465A-DFF9-A525-22A3E4F24897}"/>
              </a:ext>
            </a:extLst>
          </p:cNvPr>
          <p:cNvCxnSpPr/>
          <p:nvPr/>
        </p:nvCxnSpPr>
        <p:spPr>
          <a:xfrm>
            <a:off x="1038687" y="6462943"/>
            <a:ext cx="10369119" cy="0"/>
          </a:xfrm>
          <a:prstGeom prst="line">
            <a:avLst/>
          </a:prstGeom>
        </p:spPr>
        <p:style>
          <a:lnRef idx="3">
            <a:schemeClr val="dk1"/>
          </a:lnRef>
          <a:fillRef idx="0">
            <a:schemeClr val="dk1"/>
          </a:fillRef>
          <a:effectRef idx="2">
            <a:schemeClr val="dk1"/>
          </a:effectRef>
          <a:fontRef idx="minor">
            <a:schemeClr val="tx1"/>
          </a:fontRef>
        </p:style>
      </p:cxnSp>
      <p:sp>
        <p:nvSpPr>
          <p:cNvPr id="8" name="TextBox 7">
            <a:extLst>
              <a:ext uri="{FF2B5EF4-FFF2-40B4-BE49-F238E27FC236}">
                <a16:creationId xmlns:a16="http://schemas.microsoft.com/office/drawing/2014/main" id="{F51284D5-3337-4AE2-F5F3-CC520B91AA0D}"/>
              </a:ext>
            </a:extLst>
          </p:cNvPr>
          <p:cNvSpPr txBox="1"/>
          <p:nvPr/>
        </p:nvSpPr>
        <p:spPr>
          <a:xfrm>
            <a:off x="8788893" y="319596"/>
            <a:ext cx="2821413" cy="276999"/>
          </a:xfrm>
          <a:prstGeom prst="rect">
            <a:avLst/>
          </a:prstGeom>
          <a:noFill/>
        </p:spPr>
        <p:txBody>
          <a:bodyPr wrap="none" rtlCol="0">
            <a:spAutoFit/>
          </a:body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10" name="Date Placeholder 9">
            <a:extLst>
              <a:ext uri="{FF2B5EF4-FFF2-40B4-BE49-F238E27FC236}">
                <a16:creationId xmlns:a16="http://schemas.microsoft.com/office/drawing/2014/main" id="{54D90CB9-C6D3-FCC0-90DF-3FBE8A33840E}"/>
              </a:ext>
            </a:extLst>
          </p:cNvPr>
          <p:cNvSpPr>
            <a:spLocks noGrp="1"/>
          </p:cNvSpPr>
          <p:nvPr>
            <p:ph type="dt" sz="half" idx="10"/>
          </p:nvPr>
        </p:nvSpPr>
        <p:spPr>
          <a:xfrm>
            <a:off x="838200" y="6492875"/>
            <a:ext cx="2743200" cy="365125"/>
          </a:xfrm>
        </p:spPr>
        <p:txBody>
          <a:bodyPr/>
          <a:lstStyle/>
          <a:p>
            <a:fld id="{EA79F306-FA4D-4663-80D5-A7BEC3B1FE19}" type="datetime1">
              <a:rPr lang="en-IN" smtClean="0"/>
              <a:t>22-07-2025</a:t>
            </a:fld>
            <a:endParaRPr lang="en-IN"/>
          </a:p>
        </p:txBody>
      </p:sp>
      <p:sp>
        <p:nvSpPr>
          <p:cNvPr id="11" name="Slide Number Placeholder 10">
            <a:extLst>
              <a:ext uri="{FF2B5EF4-FFF2-40B4-BE49-F238E27FC236}">
                <a16:creationId xmlns:a16="http://schemas.microsoft.com/office/drawing/2014/main" id="{5B21DAB5-A712-0A7D-5F91-6EAD9ACFD111}"/>
              </a:ext>
            </a:extLst>
          </p:cNvPr>
          <p:cNvSpPr>
            <a:spLocks noGrp="1"/>
          </p:cNvSpPr>
          <p:nvPr>
            <p:ph type="sldNum" sz="quarter" idx="12"/>
          </p:nvPr>
        </p:nvSpPr>
        <p:spPr>
          <a:xfrm>
            <a:off x="8734887" y="6492875"/>
            <a:ext cx="2743200" cy="365125"/>
          </a:xfrm>
        </p:spPr>
        <p:txBody>
          <a:bodyPr/>
          <a:lstStyle/>
          <a:p>
            <a:fld id="{3C3E5B82-863A-4B66-9E4F-DCFAD2A3B854}" type="slidenum">
              <a:rPr lang="en-IN" smtClean="0"/>
              <a:t>13</a:t>
            </a:fld>
            <a:endParaRPr lang="en-IN"/>
          </a:p>
        </p:txBody>
      </p:sp>
      <p:sp>
        <p:nvSpPr>
          <p:cNvPr id="12" name="Footer Placeholder 11">
            <a:extLst>
              <a:ext uri="{FF2B5EF4-FFF2-40B4-BE49-F238E27FC236}">
                <a16:creationId xmlns:a16="http://schemas.microsoft.com/office/drawing/2014/main" id="{8FB08FC5-9A5F-E881-DBE5-F2BB74527262}"/>
              </a:ext>
            </a:extLst>
          </p:cNvPr>
          <p:cNvSpPr>
            <a:spLocks noGrp="1"/>
          </p:cNvSpPr>
          <p:nvPr>
            <p:ph type="ftr" sz="quarter" idx="11"/>
          </p:nvPr>
        </p:nvSpPr>
        <p:spPr>
          <a:xfrm>
            <a:off x="4038600" y="6492875"/>
            <a:ext cx="4114800" cy="365125"/>
          </a:xfrm>
        </p:spPr>
        <p:txBody>
          <a:bodyPr/>
          <a:lstStyle/>
          <a:p>
            <a:r>
              <a:rPr lang="en-US"/>
              <a:t>20CYS 495 B.Tech CYS: 2022 - 2026 Project Presentation </a:t>
            </a:r>
            <a:endParaRPr lang="en-IN"/>
          </a:p>
        </p:txBody>
      </p:sp>
      <p:sp>
        <p:nvSpPr>
          <p:cNvPr id="5" name="TextBox 4">
            <a:extLst>
              <a:ext uri="{FF2B5EF4-FFF2-40B4-BE49-F238E27FC236}">
                <a16:creationId xmlns:a16="http://schemas.microsoft.com/office/drawing/2014/main" id="{8758A89A-B593-2235-EB1A-14818434C51E}"/>
              </a:ext>
            </a:extLst>
          </p:cNvPr>
          <p:cNvSpPr txBox="1"/>
          <p:nvPr/>
        </p:nvSpPr>
        <p:spPr>
          <a:xfrm>
            <a:off x="565483" y="1019559"/>
            <a:ext cx="6624587" cy="369332"/>
          </a:xfrm>
          <a:prstGeom prst="rect">
            <a:avLst/>
          </a:prstGeom>
          <a:noFill/>
        </p:spPr>
        <p:txBody>
          <a:bodyPr wrap="square" lIns="91440" tIns="45720" rIns="91440" bIns="45720" anchor="t">
            <a:spAutoFit/>
          </a:bodyPr>
          <a:lstStyle/>
          <a:p>
            <a:endParaRPr lang="en-US" b="1">
              <a:ea typeface="Calibri"/>
              <a:cs typeface="Calibri"/>
            </a:endParaRPr>
          </a:p>
        </p:txBody>
      </p:sp>
      <p:sp>
        <p:nvSpPr>
          <p:cNvPr id="3" name="TextBox 2">
            <a:extLst>
              <a:ext uri="{FF2B5EF4-FFF2-40B4-BE49-F238E27FC236}">
                <a16:creationId xmlns:a16="http://schemas.microsoft.com/office/drawing/2014/main" id="{30C20D06-381A-4B15-BF18-CE9955BC9BC5}"/>
              </a:ext>
            </a:extLst>
          </p:cNvPr>
          <p:cNvSpPr txBox="1"/>
          <p:nvPr/>
        </p:nvSpPr>
        <p:spPr>
          <a:xfrm>
            <a:off x="1023936" y="1157664"/>
            <a:ext cx="10603200" cy="433965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b="1">
                <a:latin typeface="Times New Roman"/>
                <a:ea typeface="+mn-lt"/>
                <a:cs typeface="+mn-lt"/>
              </a:rPr>
              <a:t>Metrics-Driven Iteration</a:t>
            </a:r>
            <a:endParaRPr lang="en-US" b="1">
              <a:latin typeface="Times New Roman"/>
              <a:ea typeface="Calibri"/>
              <a:cs typeface="Calibri"/>
            </a:endParaRPr>
          </a:p>
          <a:p>
            <a:r>
              <a:rPr lang="en-US">
                <a:latin typeface="Times New Roman"/>
                <a:ea typeface="+mn-lt"/>
                <a:cs typeface="+mn-lt"/>
              </a:rPr>
              <a:t>Regularly review time-to-detect, decoy-trigger counts, attacker dwell time and false/true positives to fine-tune decoys and alerts.</a:t>
            </a:r>
            <a:endParaRPr lang="en-US">
              <a:latin typeface="Times New Roman"/>
              <a:cs typeface="Times New Roman"/>
            </a:endParaRPr>
          </a:p>
          <a:p>
            <a:endParaRPr lang="en-US" sz="2000" b="1">
              <a:latin typeface="Times New Roman"/>
              <a:ea typeface="Calibri"/>
              <a:cs typeface="Calibri"/>
            </a:endParaRPr>
          </a:p>
          <a:p>
            <a:r>
              <a:rPr lang="en-US" sz="2000" b="1">
                <a:latin typeface="Times New Roman"/>
                <a:ea typeface="+mn-lt"/>
                <a:cs typeface="+mn-lt"/>
              </a:rPr>
              <a:t>Technologies</a:t>
            </a:r>
            <a:endParaRPr lang="en-US" sz="2000" b="1">
              <a:latin typeface="Times New Roman"/>
              <a:cs typeface="Times New Roman"/>
            </a:endParaRPr>
          </a:p>
          <a:p>
            <a:endParaRPr lang="en-US" sz="2000" b="1">
              <a:latin typeface="Times New Roman"/>
              <a:ea typeface="+mn-lt"/>
              <a:cs typeface="+mn-lt"/>
            </a:endParaRPr>
          </a:p>
          <a:p>
            <a:pPr marL="285750" indent="-285750">
              <a:buFont typeface="Arial"/>
              <a:buChar char="•"/>
            </a:pPr>
            <a:r>
              <a:rPr lang="en-US">
                <a:latin typeface="Times New Roman"/>
                <a:ea typeface="+mn-lt"/>
                <a:cs typeface="+mn-lt"/>
              </a:rPr>
              <a:t>Windows Event Forwarding &amp; Sysmon on honeypots to capture process, registry and file-access events</a:t>
            </a:r>
            <a:endParaRPr lang="en-US">
              <a:latin typeface="Times New Roman"/>
              <a:ea typeface="Calibri" panose="020F0502020204030204"/>
              <a:cs typeface="Calibri" panose="020F0502020204030204"/>
            </a:endParaRPr>
          </a:p>
          <a:p>
            <a:pPr marL="285750" indent="-285750">
              <a:buFont typeface="Arial"/>
              <a:buChar char="•"/>
            </a:pPr>
            <a:endParaRPr lang="en-US">
              <a:latin typeface="Times New Roman"/>
              <a:ea typeface="Calibri" panose="020F0502020204030204"/>
              <a:cs typeface="Calibri" panose="020F0502020204030204"/>
            </a:endParaRPr>
          </a:p>
          <a:p>
            <a:pPr marL="285750" indent="-285750">
              <a:buFont typeface="Arial"/>
              <a:buChar char="•"/>
            </a:pPr>
            <a:r>
              <a:rPr lang="en-US">
                <a:latin typeface="Times New Roman"/>
                <a:ea typeface="+mn-lt"/>
                <a:cs typeface="+mn-lt"/>
              </a:rPr>
              <a:t>Syslog/Beats to ship Linux honeypot logs into Splunk</a:t>
            </a:r>
            <a:endParaRPr lang="en-US">
              <a:latin typeface="Times New Roman"/>
              <a:ea typeface="Calibri" panose="020F0502020204030204"/>
              <a:cs typeface="Calibri" panose="020F0502020204030204"/>
            </a:endParaRPr>
          </a:p>
          <a:p>
            <a:pPr marL="285750" indent="-285750">
              <a:buFont typeface="Arial"/>
              <a:buChar char="•"/>
            </a:pPr>
            <a:endParaRPr lang="en-US">
              <a:latin typeface="Times New Roman"/>
              <a:ea typeface="Calibri" panose="020F0502020204030204"/>
              <a:cs typeface="Calibri" panose="020F0502020204030204"/>
            </a:endParaRPr>
          </a:p>
          <a:p>
            <a:pPr marL="285750" indent="-285750">
              <a:buFont typeface="Arial"/>
              <a:buChar char="•"/>
            </a:pPr>
            <a:r>
              <a:rPr lang="en-US">
                <a:latin typeface="Times New Roman"/>
                <a:ea typeface="+mn-lt"/>
                <a:cs typeface="+mn-lt"/>
              </a:rPr>
              <a:t>PowerShell &amp; Bash Automation for provisioning, rotating honeytokens and updating decoy configurations</a:t>
            </a:r>
            <a:endParaRPr lang="en-US">
              <a:latin typeface="Times New Roman"/>
              <a:ea typeface="Calibri" panose="020F0502020204030204"/>
              <a:cs typeface="Calibri" panose="020F0502020204030204"/>
            </a:endParaRPr>
          </a:p>
          <a:p>
            <a:pPr marL="285750" indent="-285750">
              <a:buFont typeface="Arial"/>
              <a:buChar char="•"/>
            </a:pPr>
            <a:endParaRPr lang="en-US">
              <a:latin typeface="Times New Roman"/>
              <a:ea typeface="Calibri" panose="020F0502020204030204"/>
              <a:cs typeface="Calibri" panose="020F0502020204030204"/>
            </a:endParaRPr>
          </a:p>
          <a:p>
            <a:pPr marL="285750" indent="-285750">
              <a:buFont typeface="Arial"/>
              <a:buChar char="•"/>
            </a:pPr>
            <a:r>
              <a:rPr lang="en-US">
                <a:latin typeface="Times New Roman"/>
                <a:ea typeface="+mn-lt"/>
                <a:cs typeface="+mn-lt"/>
              </a:rPr>
              <a:t>Splunk Dashboards, Saved Searches &amp; Alerts to visualize attacker interactions in real time</a:t>
            </a:r>
            <a:endParaRPr lang="en-US">
              <a:latin typeface="Times New Roman"/>
              <a:ea typeface="Calibri" panose="020F0502020204030204"/>
              <a:cs typeface="Calibri" panose="020F0502020204030204"/>
            </a:endParaRPr>
          </a:p>
          <a:p>
            <a:pPr marL="285750" indent="-285750">
              <a:buFont typeface="Arial"/>
              <a:buChar char="•"/>
            </a:pPr>
            <a:endParaRPr lang="en-US">
              <a:latin typeface="Times New Roman"/>
              <a:ea typeface="Calibri" panose="020F0502020204030204"/>
              <a:cs typeface="Calibri" panose="020F0502020204030204"/>
            </a:endParaRPr>
          </a:p>
          <a:p>
            <a:pPr marL="285750" indent="-285750">
              <a:buFont typeface="Arial"/>
              <a:buChar char="•"/>
            </a:pPr>
            <a:r>
              <a:rPr lang="en-US">
                <a:latin typeface="Times New Roman"/>
                <a:ea typeface="+mn-lt"/>
                <a:cs typeface="+mn-lt"/>
              </a:rPr>
              <a:t>Summary Indexes &amp; Reports for efficient storage and charting of KPIs without overloading core indexes</a:t>
            </a:r>
            <a:endParaRPr lang="en-US">
              <a:latin typeface="Times New Roman"/>
              <a:ea typeface="Calibri" panose="020F0502020204030204"/>
              <a:cs typeface="Calibri" panose="020F0502020204030204"/>
            </a:endParaRPr>
          </a:p>
        </p:txBody>
      </p:sp>
    </p:spTree>
    <p:extLst>
      <p:ext uri="{BB962C8B-B14F-4D97-AF65-F5344CB8AC3E}">
        <p14:creationId xmlns:p14="http://schemas.microsoft.com/office/powerpoint/2010/main" val="36525616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CBBCF-90C6-457A-BE29-FAC1AE123913}"/>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24B828AF-F57E-36FB-33E0-F8AB627A4E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4" name="Straight Connector 3">
            <a:extLst>
              <a:ext uri="{FF2B5EF4-FFF2-40B4-BE49-F238E27FC236}">
                <a16:creationId xmlns:a16="http://schemas.microsoft.com/office/drawing/2014/main" id="{FA76F1DB-C7A3-5B3B-8923-618018079105}"/>
              </a:ext>
            </a:extLst>
          </p:cNvPr>
          <p:cNvCxnSpPr>
            <a:cxnSpLocks/>
          </p:cNvCxnSpPr>
          <p:nvPr/>
        </p:nvCxnSpPr>
        <p:spPr>
          <a:xfrm>
            <a:off x="1109709" y="594804"/>
            <a:ext cx="10235953" cy="0"/>
          </a:xfrm>
          <a:prstGeom prst="line">
            <a:avLst/>
          </a:prstGeom>
        </p:spPr>
        <p:style>
          <a:lnRef idx="3">
            <a:schemeClr val="dk1"/>
          </a:lnRef>
          <a:fillRef idx="0">
            <a:schemeClr val="dk1"/>
          </a:fillRef>
          <a:effectRef idx="2">
            <a:schemeClr val="dk1"/>
          </a:effectRef>
          <a:fontRef idx="minor">
            <a:schemeClr val="tx1"/>
          </a:fontRef>
        </p:style>
      </p:cxnSp>
      <p:cxnSp>
        <p:nvCxnSpPr>
          <p:cNvPr id="7" name="Straight Connector 6">
            <a:extLst>
              <a:ext uri="{FF2B5EF4-FFF2-40B4-BE49-F238E27FC236}">
                <a16:creationId xmlns:a16="http://schemas.microsoft.com/office/drawing/2014/main" id="{6CFB3319-EA65-2BAB-6136-04B34F934ACD}"/>
              </a:ext>
            </a:extLst>
          </p:cNvPr>
          <p:cNvCxnSpPr/>
          <p:nvPr/>
        </p:nvCxnSpPr>
        <p:spPr>
          <a:xfrm>
            <a:off x="1038687" y="6462943"/>
            <a:ext cx="10369119" cy="0"/>
          </a:xfrm>
          <a:prstGeom prst="line">
            <a:avLst/>
          </a:prstGeom>
        </p:spPr>
        <p:style>
          <a:lnRef idx="3">
            <a:schemeClr val="dk1"/>
          </a:lnRef>
          <a:fillRef idx="0">
            <a:schemeClr val="dk1"/>
          </a:fillRef>
          <a:effectRef idx="2">
            <a:schemeClr val="dk1"/>
          </a:effectRef>
          <a:fontRef idx="minor">
            <a:schemeClr val="tx1"/>
          </a:fontRef>
        </p:style>
      </p:cxnSp>
      <p:sp>
        <p:nvSpPr>
          <p:cNvPr id="8" name="TextBox 7">
            <a:extLst>
              <a:ext uri="{FF2B5EF4-FFF2-40B4-BE49-F238E27FC236}">
                <a16:creationId xmlns:a16="http://schemas.microsoft.com/office/drawing/2014/main" id="{C4497A3B-6A87-9AA7-5BF3-92F1A4FE7389}"/>
              </a:ext>
            </a:extLst>
          </p:cNvPr>
          <p:cNvSpPr txBox="1"/>
          <p:nvPr/>
        </p:nvSpPr>
        <p:spPr>
          <a:xfrm>
            <a:off x="8788893" y="319596"/>
            <a:ext cx="2821413" cy="276999"/>
          </a:xfrm>
          <a:prstGeom prst="rect">
            <a:avLst/>
          </a:prstGeom>
          <a:noFill/>
        </p:spPr>
        <p:txBody>
          <a:bodyPr wrap="none" rtlCol="0">
            <a:spAutoFit/>
          </a:body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10" name="Date Placeholder 9">
            <a:extLst>
              <a:ext uri="{FF2B5EF4-FFF2-40B4-BE49-F238E27FC236}">
                <a16:creationId xmlns:a16="http://schemas.microsoft.com/office/drawing/2014/main" id="{320BE88F-364C-37F3-F758-BDFE321A0F9E}"/>
              </a:ext>
            </a:extLst>
          </p:cNvPr>
          <p:cNvSpPr>
            <a:spLocks noGrp="1"/>
          </p:cNvSpPr>
          <p:nvPr>
            <p:ph type="dt" sz="half" idx="10"/>
          </p:nvPr>
        </p:nvSpPr>
        <p:spPr>
          <a:xfrm>
            <a:off x="838200" y="6492875"/>
            <a:ext cx="2743200" cy="365125"/>
          </a:xfrm>
        </p:spPr>
        <p:txBody>
          <a:bodyPr/>
          <a:lstStyle/>
          <a:p>
            <a:fld id="{1C63A99E-B57C-4637-B2CF-5EF0C75CDABE}" type="datetime1">
              <a:rPr lang="en-IN" smtClean="0"/>
              <a:t>22-07-2025</a:t>
            </a:fld>
            <a:endParaRPr lang="en-IN"/>
          </a:p>
        </p:txBody>
      </p:sp>
      <p:sp>
        <p:nvSpPr>
          <p:cNvPr id="11" name="Slide Number Placeholder 10">
            <a:extLst>
              <a:ext uri="{FF2B5EF4-FFF2-40B4-BE49-F238E27FC236}">
                <a16:creationId xmlns:a16="http://schemas.microsoft.com/office/drawing/2014/main" id="{8FE5B8C6-E60D-027A-4D65-262BEC2445A5}"/>
              </a:ext>
            </a:extLst>
          </p:cNvPr>
          <p:cNvSpPr>
            <a:spLocks noGrp="1"/>
          </p:cNvSpPr>
          <p:nvPr>
            <p:ph type="sldNum" sz="quarter" idx="12"/>
          </p:nvPr>
        </p:nvSpPr>
        <p:spPr>
          <a:xfrm>
            <a:off x="8734887" y="6492875"/>
            <a:ext cx="2743200" cy="365125"/>
          </a:xfrm>
        </p:spPr>
        <p:txBody>
          <a:bodyPr/>
          <a:lstStyle/>
          <a:p>
            <a:fld id="{3C3E5B82-863A-4B66-9E4F-DCFAD2A3B854}" type="slidenum">
              <a:rPr lang="en-IN" smtClean="0"/>
              <a:t>14</a:t>
            </a:fld>
            <a:endParaRPr lang="en-IN"/>
          </a:p>
        </p:txBody>
      </p:sp>
      <p:sp>
        <p:nvSpPr>
          <p:cNvPr id="12" name="Footer Placeholder 11">
            <a:extLst>
              <a:ext uri="{FF2B5EF4-FFF2-40B4-BE49-F238E27FC236}">
                <a16:creationId xmlns:a16="http://schemas.microsoft.com/office/drawing/2014/main" id="{8BAE81DD-D641-58F6-4BEF-48716F8AD27C}"/>
              </a:ext>
            </a:extLst>
          </p:cNvPr>
          <p:cNvSpPr>
            <a:spLocks noGrp="1"/>
          </p:cNvSpPr>
          <p:nvPr>
            <p:ph type="ftr" sz="quarter" idx="11"/>
          </p:nvPr>
        </p:nvSpPr>
        <p:spPr>
          <a:xfrm>
            <a:off x="4038600" y="6492875"/>
            <a:ext cx="4114800" cy="365125"/>
          </a:xfrm>
        </p:spPr>
        <p:txBody>
          <a:bodyPr/>
          <a:lstStyle/>
          <a:p>
            <a:r>
              <a:rPr lang="en-US"/>
              <a:t>20CYS 495 B.Tech CYS: 2022 - 2026 Project Presentation </a:t>
            </a:r>
            <a:endParaRPr lang="en-IN"/>
          </a:p>
        </p:txBody>
      </p:sp>
      <p:sp>
        <p:nvSpPr>
          <p:cNvPr id="15" name="TextBox 14">
            <a:extLst>
              <a:ext uri="{FF2B5EF4-FFF2-40B4-BE49-F238E27FC236}">
                <a16:creationId xmlns:a16="http://schemas.microsoft.com/office/drawing/2014/main" id="{110EB077-335D-6CBF-AAF2-3302F35B4E9E}"/>
              </a:ext>
            </a:extLst>
          </p:cNvPr>
          <p:cNvSpPr txBox="1"/>
          <p:nvPr/>
        </p:nvSpPr>
        <p:spPr>
          <a:xfrm>
            <a:off x="-1673071" y="790918"/>
            <a:ext cx="10508942" cy="677365"/>
          </a:xfrm>
          <a:prstGeom prst="rect">
            <a:avLst/>
          </a:prstGeom>
          <a:noFill/>
        </p:spPr>
        <p:txBody>
          <a:bodyPr wrap="square">
            <a:spAutoFit/>
          </a:bodyPr>
          <a:lstStyle/>
          <a:p>
            <a:pPr lvl="0">
              <a:lnSpc>
                <a:spcPct val="115000"/>
              </a:lnSpc>
              <a:spcAft>
                <a:spcPts val="1000"/>
              </a:spcAft>
              <a:tabLst>
                <a:tab pos="457200" algn="l"/>
              </a:tabLst>
            </a:pPr>
            <a:br>
              <a:rPr lang="en-IN" sz="1800">
                <a:effectLst/>
                <a:latin typeface="Times New Roman" panose="02020603050405020304" pitchFamily="18" charset="0"/>
                <a:ea typeface="Times New Roman" panose="02020603050405020304" pitchFamily="18" charset="0"/>
                <a:cs typeface="Kartika" panose="02020503030404060203" pitchFamily="18" charset="0"/>
              </a:rPr>
            </a:br>
            <a:endParaRPr lang="en-IN" sz="1600">
              <a:effectLst/>
              <a:latin typeface="Calibri" panose="020F0502020204030204" pitchFamily="34" charset="0"/>
              <a:ea typeface="Calibri" panose="020F0502020204030204" pitchFamily="34" charset="0"/>
              <a:cs typeface="Kartika" panose="02020503030404060203" pitchFamily="18" charset="0"/>
            </a:endParaRPr>
          </a:p>
        </p:txBody>
      </p:sp>
      <p:sp>
        <p:nvSpPr>
          <p:cNvPr id="6" name="TextBox 5">
            <a:extLst>
              <a:ext uri="{FF2B5EF4-FFF2-40B4-BE49-F238E27FC236}">
                <a16:creationId xmlns:a16="http://schemas.microsoft.com/office/drawing/2014/main" id="{0CDD9922-FEDE-B459-99E5-7FF1970C97B2}"/>
              </a:ext>
            </a:extLst>
          </p:cNvPr>
          <p:cNvSpPr txBox="1"/>
          <p:nvPr/>
        </p:nvSpPr>
        <p:spPr>
          <a:xfrm>
            <a:off x="663759" y="789422"/>
            <a:ext cx="6193604" cy="461665"/>
          </a:xfrm>
          <a:prstGeom prst="rect">
            <a:avLst/>
          </a:prstGeom>
          <a:noFill/>
        </p:spPr>
        <p:txBody>
          <a:bodyPr wrap="square" lIns="91440" tIns="45720" rIns="91440" bIns="45720" anchor="t">
            <a:spAutoFit/>
          </a:bodyPr>
          <a:lstStyle/>
          <a:p>
            <a:r>
              <a:rPr lang="en-US" sz="2400" b="1">
                <a:latin typeface="Times New Roman"/>
                <a:cs typeface="Times New Roman"/>
              </a:rPr>
              <a:t>Deliverables : </a:t>
            </a:r>
            <a:endParaRPr lang="en-US" sz="2400" b="1">
              <a:latin typeface="Times New Roman"/>
              <a:ea typeface="Calibri"/>
              <a:cs typeface="Times New Roman"/>
            </a:endParaRPr>
          </a:p>
        </p:txBody>
      </p:sp>
      <p:sp>
        <p:nvSpPr>
          <p:cNvPr id="5" name="TextBox 4">
            <a:extLst>
              <a:ext uri="{FF2B5EF4-FFF2-40B4-BE49-F238E27FC236}">
                <a16:creationId xmlns:a16="http://schemas.microsoft.com/office/drawing/2014/main" id="{41D6151F-EA79-846E-276A-7F4CC6BDA842}"/>
              </a:ext>
            </a:extLst>
          </p:cNvPr>
          <p:cNvSpPr txBox="1"/>
          <p:nvPr/>
        </p:nvSpPr>
        <p:spPr>
          <a:xfrm>
            <a:off x="96900" y="237460"/>
            <a:ext cx="8917111" cy="443993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200000"/>
              </a:lnSpc>
            </a:pPr>
            <a:endParaRPr lang="en-US">
              <a:ea typeface="Calibri"/>
              <a:cs typeface="Calibri"/>
            </a:endParaRPr>
          </a:p>
          <a:p>
            <a:pPr>
              <a:lnSpc>
                <a:spcPct val="200000"/>
              </a:lnSpc>
            </a:pPr>
            <a:endParaRPr lang="en-US">
              <a:ea typeface="Calibri"/>
              <a:cs typeface="Calibri"/>
            </a:endParaRPr>
          </a:p>
          <a:p>
            <a:pPr marL="857250" indent="-342900">
              <a:lnSpc>
                <a:spcPct val="200000"/>
              </a:lnSpc>
              <a:buFont typeface="Arial"/>
              <a:buChar char="•"/>
            </a:pPr>
            <a:r>
              <a:rPr lang="en-US">
                <a:latin typeface="Times New Roman"/>
                <a:ea typeface="Calibri"/>
                <a:cs typeface="Calibri"/>
              </a:rPr>
              <a:t>Configured VMs</a:t>
            </a:r>
          </a:p>
          <a:p>
            <a:pPr marL="857250" indent="-342900">
              <a:lnSpc>
                <a:spcPct val="200000"/>
              </a:lnSpc>
              <a:buFont typeface="Arial"/>
              <a:buChar char="•"/>
            </a:pPr>
            <a:r>
              <a:rPr lang="en-US">
                <a:latin typeface="Times New Roman"/>
                <a:ea typeface="Calibri"/>
                <a:cs typeface="Calibri"/>
              </a:rPr>
              <a:t>Records of Adversarial interactions </a:t>
            </a:r>
          </a:p>
          <a:p>
            <a:pPr marL="857250" indent="-342900">
              <a:lnSpc>
                <a:spcPct val="200000"/>
              </a:lnSpc>
              <a:buFont typeface="Arial"/>
              <a:buChar char="•"/>
            </a:pPr>
            <a:r>
              <a:rPr lang="en-US">
                <a:latin typeface="Times New Roman"/>
                <a:ea typeface="Calibri"/>
                <a:cs typeface="Calibri"/>
              </a:rPr>
              <a:t>Mapped list of detected events</a:t>
            </a:r>
          </a:p>
          <a:p>
            <a:pPr marL="857250" indent="-342900">
              <a:lnSpc>
                <a:spcPct val="200000"/>
              </a:lnSpc>
              <a:buFont typeface="Arial"/>
              <a:buChar char="•"/>
            </a:pPr>
            <a:r>
              <a:rPr lang="en-US">
                <a:latin typeface="Times New Roman"/>
                <a:ea typeface="Calibri"/>
                <a:cs typeface="Calibri"/>
              </a:rPr>
              <a:t>Detection Framework</a:t>
            </a:r>
          </a:p>
          <a:p>
            <a:pPr marL="857250" indent="-342900">
              <a:lnSpc>
                <a:spcPct val="200000"/>
              </a:lnSpc>
              <a:buFont typeface="Arial"/>
              <a:buChar char="•"/>
            </a:pPr>
            <a:r>
              <a:rPr lang="en-US">
                <a:latin typeface="Times New Roman"/>
                <a:ea typeface="Calibri"/>
                <a:cs typeface="Calibri"/>
              </a:rPr>
              <a:t>Performance Metrices </a:t>
            </a:r>
          </a:p>
          <a:p>
            <a:pPr marL="857250" indent="-342900">
              <a:lnSpc>
                <a:spcPct val="200000"/>
              </a:lnSpc>
              <a:buFont typeface="Arial"/>
              <a:buChar char="•"/>
            </a:pPr>
            <a:r>
              <a:rPr lang="en-US">
                <a:latin typeface="Times New Roman"/>
                <a:ea typeface="Calibri"/>
                <a:cs typeface="Calibri"/>
              </a:rPr>
              <a:t>Report of Splunk Configuration in accordance with the project</a:t>
            </a:r>
          </a:p>
        </p:txBody>
      </p:sp>
    </p:spTree>
    <p:extLst>
      <p:ext uri="{BB962C8B-B14F-4D97-AF65-F5344CB8AC3E}">
        <p14:creationId xmlns:p14="http://schemas.microsoft.com/office/powerpoint/2010/main" val="37244173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08149-9B73-4E6D-04DA-9456EF5A218D}"/>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507FED5A-367E-BD74-568F-C83DEC281E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4" name="Straight Connector 3">
            <a:extLst>
              <a:ext uri="{FF2B5EF4-FFF2-40B4-BE49-F238E27FC236}">
                <a16:creationId xmlns:a16="http://schemas.microsoft.com/office/drawing/2014/main" id="{9F4DD5E7-F5D1-9F32-BD08-AFDA2572AC68}"/>
              </a:ext>
            </a:extLst>
          </p:cNvPr>
          <p:cNvCxnSpPr>
            <a:cxnSpLocks/>
          </p:cNvCxnSpPr>
          <p:nvPr/>
        </p:nvCxnSpPr>
        <p:spPr>
          <a:xfrm>
            <a:off x="1109709" y="594804"/>
            <a:ext cx="10235953" cy="0"/>
          </a:xfrm>
          <a:prstGeom prst="line">
            <a:avLst/>
          </a:prstGeom>
        </p:spPr>
        <p:style>
          <a:lnRef idx="3">
            <a:schemeClr val="dk1"/>
          </a:lnRef>
          <a:fillRef idx="0">
            <a:schemeClr val="dk1"/>
          </a:fillRef>
          <a:effectRef idx="2">
            <a:schemeClr val="dk1"/>
          </a:effectRef>
          <a:fontRef idx="minor">
            <a:schemeClr val="tx1"/>
          </a:fontRef>
        </p:style>
      </p:cxnSp>
      <p:cxnSp>
        <p:nvCxnSpPr>
          <p:cNvPr id="7" name="Straight Connector 6">
            <a:extLst>
              <a:ext uri="{FF2B5EF4-FFF2-40B4-BE49-F238E27FC236}">
                <a16:creationId xmlns:a16="http://schemas.microsoft.com/office/drawing/2014/main" id="{74D38803-A2E2-FBF6-01FE-D069930853C7}"/>
              </a:ext>
            </a:extLst>
          </p:cNvPr>
          <p:cNvCxnSpPr/>
          <p:nvPr/>
        </p:nvCxnSpPr>
        <p:spPr>
          <a:xfrm>
            <a:off x="1038687" y="6462943"/>
            <a:ext cx="10369119" cy="0"/>
          </a:xfrm>
          <a:prstGeom prst="line">
            <a:avLst/>
          </a:prstGeom>
        </p:spPr>
        <p:style>
          <a:lnRef idx="3">
            <a:schemeClr val="dk1"/>
          </a:lnRef>
          <a:fillRef idx="0">
            <a:schemeClr val="dk1"/>
          </a:fillRef>
          <a:effectRef idx="2">
            <a:schemeClr val="dk1"/>
          </a:effectRef>
          <a:fontRef idx="minor">
            <a:schemeClr val="tx1"/>
          </a:fontRef>
        </p:style>
      </p:cxnSp>
      <p:sp>
        <p:nvSpPr>
          <p:cNvPr id="8" name="TextBox 7">
            <a:extLst>
              <a:ext uri="{FF2B5EF4-FFF2-40B4-BE49-F238E27FC236}">
                <a16:creationId xmlns:a16="http://schemas.microsoft.com/office/drawing/2014/main" id="{DF505FFD-9A1B-AEDC-1EF1-5FAE1A563F72}"/>
              </a:ext>
            </a:extLst>
          </p:cNvPr>
          <p:cNvSpPr txBox="1"/>
          <p:nvPr/>
        </p:nvSpPr>
        <p:spPr>
          <a:xfrm>
            <a:off x="8788893" y="319596"/>
            <a:ext cx="2821413" cy="276999"/>
          </a:xfrm>
          <a:prstGeom prst="rect">
            <a:avLst/>
          </a:prstGeom>
          <a:noFill/>
        </p:spPr>
        <p:txBody>
          <a:bodyPr wrap="none" rtlCol="0">
            <a:spAutoFit/>
          </a:body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10" name="Date Placeholder 9">
            <a:extLst>
              <a:ext uri="{FF2B5EF4-FFF2-40B4-BE49-F238E27FC236}">
                <a16:creationId xmlns:a16="http://schemas.microsoft.com/office/drawing/2014/main" id="{EE776C38-4F00-11DF-ED16-BA457F910AF4}"/>
              </a:ext>
            </a:extLst>
          </p:cNvPr>
          <p:cNvSpPr>
            <a:spLocks noGrp="1"/>
          </p:cNvSpPr>
          <p:nvPr>
            <p:ph type="dt" sz="half" idx="10"/>
          </p:nvPr>
        </p:nvSpPr>
        <p:spPr>
          <a:xfrm>
            <a:off x="838200" y="6492875"/>
            <a:ext cx="2743200" cy="365125"/>
          </a:xfrm>
        </p:spPr>
        <p:txBody>
          <a:bodyPr/>
          <a:lstStyle/>
          <a:p>
            <a:fld id="{EA79F306-FA4D-4663-80D5-A7BEC3B1FE19}" type="datetime1">
              <a:rPr lang="en-IN" smtClean="0"/>
              <a:t>22-07-2025</a:t>
            </a:fld>
            <a:endParaRPr lang="en-IN"/>
          </a:p>
        </p:txBody>
      </p:sp>
      <p:sp>
        <p:nvSpPr>
          <p:cNvPr id="11" name="Slide Number Placeholder 10">
            <a:extLst>
              <a:ext uri="{FF2B5EF4-FFF2-40B4-BE49-F238E27FC236}">
                <a16:creationId xmlns:a16="http://schemas.microsoft.com/office/drawing/2014/main" id="{FA852316-C37C-67A3-13F6-580D5877AEE4}"/>
              </a:ext>
            </a:extLst>
          </p:cNvPr>
          <p:cNvSpPr>
            <a:spLocks noGrp="1"/>
          </p:cNvSpPr>
          <p:nvPr>
            <p:ph type="sldNum" sz="quarter" idx="12"/>
          </p:nvPr>
        </p:nvSpPr>
        <p:spPr>
          <a:xfrm>
            <a:off x="8734887" y="6492875"/>
            <a:ext cx="2743200" cy="365125"/>
          </a:xfrm>
        </p:spPr>
        <p:txBody>
          <a:bodyPr/>
          <a:lstStyle/>
          <a:p>
            <a:fld id="{3C3E5B82-863A-4B66-9E4F-DCFAD2A3B854}" type="slidenum">
              <a:rPr lang="en-IN" smtClean="0"/>
              <a:t>15</a:t>
            </a:fld>
            <a:endParaRPr lang="en-IN"/>
          </a:p>
        </p:txBody>
      </p:sp>
      <p:sp>
        <p:nvSpPr>
          <p:cNvPr id="12" name="Footer Placeholder 11">
            <a:extLst>
              <a:ext uri="{FF2B5EF4-FFF2-40B4-BE49-F238E27FC236}">
                <a16:creationId xmlns:a16="http://schemas.microsoft.com/office/drawing/2014/main" id="{7A93B93C-871E-DAE1-3786-8DC66569D271}"/>
              </a:ext>
            </a:extLst>
          </p:cNvPr>
          <p:cNvSpPr>
            <a:spLocks noGrp="1"/>
          </p:cNvSpPr>
          <p:nvPr>
            <p:ph type="ftr" sz="quarter" idx="11"/>
          </p:nvPr>
        </p:nvSpPr>
        <p:spPr>
          <a:xfrm>
            <a:off x="4038600" y="6492875"/>
            <a:ext cx="4114800" cy="365125"/>
          </a:xfrm>
        </p:spPr>
        <p:txBody>
          <a:bodyPr/>
          <a:lstStyle/>
          <a:p>
            <a:r>
              <a:rPr lang="en-US"/>
              <a:t>20CYS 495 B.Tech CYS: 2022 - 2026 Project Presentation </a:t>
            </a:r>
            <a:endParaRPr lang="en-IN"/>
          </a:p>
        </p:txBody>
      </p:sp>
      <p:sp>
        <p:nvSpPr>
          <p:cNvPr id="5" name="TextBox 4">
            <a:extLst>
              <a:ext uri="{FF2B5EF4-FFF2-40B4-BE49-F238E27FC236}">
                <a16:creationId xmlns:a16="http://schemas.microsoft.com/office/drawing/2014/main" id="{AFA5335C-24C2-C211-BA0D-8B7930936A48}"/>
              </a:ext>
            </a:extLst>
          </p:cNvPr>
          <p:cNvSpPr txBox="1"/>
          <p:nvPr/>
        </p:nvSpPr>
        <p:spPr>
          <a:xfrm>
            <a:off x="565483" y="1019559"/>
            <a:ext cx="8610587" cy="369332"/>
          </a:xfrm>
          <a:prstGeom prst="rect">
            <a:avLst/>
          </a:prstGeom>
          <a:noFill/>
        </p:spPr>
        <p:txBody>
          <a:bodyPr wrap="square" lIns="91440" tIns="45720" rIns="91440" bIns="45720" anchor="t">
            <a:spAutoFit/>
          </a:bodyPr>
          <a:lstStyle/>
          <a:p>
            <a:r>
              <a:rPr lang="en-US" b="1">
                <a:latin typeface="Times New Roman"/>
                <a:cs typeface="Times New Roman"/>
              </a:rPr>
              <a:t>Comprehensive 8-Month Project Plan (July 2025 to February 2026)</a:t>
            </a:r>
          </a:p>
        </p:txBody>
      </p:sp>
      <p:graphicFrame>
        <p:nvGraphicFramePr>
          <p:cNvPr id="3" name="Table 2">
            <a:extLst>
              <a:ext uri="{FF2B5EF4-FFF2-40B4-BE49-F238E27FC236}">
                <a16:creationId xmlns:a16="http://schemas.microsoft.com/office/drawing/2014/main" id="{0D54DE43-891A-1147-69A6-4FB34A480765}"/>
              </a:ext>
            </a:extLst>
          </p:cNvPr>
          <p:cNvGraphicFramePr>
            <a:graphicFrameLocks noGrp="1"/>
          </p:cNvGraphicFramePr>
          <p:nvPr>
            <p:extLst>
              <p:ext uri="{D42A27DB-BD31-4B8C-83A1-F6EECF244321}">
                <p14:modId xmlns:p14="http://schemas.microsoft.com/office/powerpoint/2010/main" val="179820421"/>
              </p:ext>
            </p:extLst>
          </p:nvPr>
        </p:nvGraphicFramePr>
        <p:xfrm>
          <a:off x="588000" y="1422000"/>
          <a:ext cx="11093473" cy="5120640"/>
        </p:xfrm>
        <a:graphic>
          <a:graphicData uri="http://schemas.openxmlformats.org/drawingml/2006/table">
            <a:tbl>
              <a:tblPr firstRow="1" bandRow="1">
                <a:tableStyleId>{5940675A-B579-460E-94D1-54222C63F5DA}</a:tableStyleId>
              </a:tblPr>
              <a:tblGrid>
                <a:gridCol w="1846881">
                  <a:extLst>
                    <a:ext uri="{9D8B030D-6E8A-4147-A177-3AD203B41FA5}">
                      <a16:colId xmlns:a16="http://schemas.microsoft.com/office/drawing/2014/main" val="3552264875"/>
                    </a:ext>
                  </a:extLst>
                </a:gridCol>
                <a:gridCol w="1196062">
                  <a:extLst>
                    <a:ext uri="{9D8B030D-6E8A-4147-A177-3AD203B41FA5}">
                      <a16:colId xmlns:a16="http://schemas.microsoft.com/office/drawing/2014/main" val="3591867978"/>
                    </a:ext>
                  </a:extLst>
                </a:gridCol>
                <a:gridCol w="5639793">
                  <a:extLst>
                    <a:ext uri="{9D8B030D-6E8A-4147-A177-3AD203B41FA5}">
                      <a16:colId xmlns:a16="http://schemas.microsoft.com/office/drawing/2014/main" val="1958646076"/>
                    </a:ext>
                  </a:extLst>
                </a:gridCol>
                <a:gridCol w="2410737">
                  <a:extLst>
                    <a:ext uri="{9D8B030D-6E8A-4147-A177-3AD203B41FA5}">
                      <a16:colId xmlns:a16="http://schemas.microsoft.com/office/drawing/2014/main" val="1319726979"/>
                    </a:ext>
                  </a:extLst>
                </a:gridCol>
              </a:tblGrid>
              <a:tr h="619733">
                <a:tc>
                  <a:txBody>
                    <a:bodyPr/>
                    <a:lstStyle/>
                    <a:p>
                      <a:pPr lvl="0">
                        <a:buNone/>
                      </a:pPr>
                      <a:r>
                        <a:rPr lang="en-US" sz="1800" b="1" i="0" u="none" strike="noStrike" noProof="0">
                          <a:latin typeface="Times New Roman"/>
                        </a:rPr>
                        <a:t>Phase</a:t>
                      </a:r>
                      <a:endParaRPr lang="en-US" b="1">
                        <a:latin typeface="Times New Roman"/>
                      </a:endParaRPr>
                    </a:p>
                  </a:txBody>
                  <a:tcPr/>
                </a:tc>
                <a:tc>
                  <a:txBody>
                    <a:bodyPr/>
                    <a:lstStyle/>
                    <a:p>
                      <a:pPr lvl="0">
                        <a:buNone/>
                      </a:pPr>
                      <a:r>
                        <a:rPr lang="en-US" sz="1800" b="1" i="0" u="none" strike="noStrike" noProof="0">
                          <a:latin typeface="Times New Roman"/>
                        </a:rPr>
                        <a:t>Timeline</a:t>
                      </a:r>
                      <a:endParaRPr lang="en-US" b="1">
                        <a:latin typeface="Times New Roman"/>
                      </a:endParaRPr>
                    </a:p>
                  </a:txBody>
                  <a:tcPr/>
                </a:tc>
                <a:tc>
                  <a:txBody>
                    <a:bodyPr/>
                    <a:lstStyle/>
                    <a:p>
                      <a:pPr lvl="0" algn="l">
                        <a:lnSpc>
                          <a:spcPct val="100000"/>
                        </a:lnSpc>
                        <a:spcBef>
                          <a:spcPts val="0"/>
                        </a:spcBef>
                        <a:spcAft>
                          <a:spcPts val="0"/>
                        </a:spcAft>
                        <a:buNone/>
                      </a:pPr>
                      <a:r>
                        <a:rPr lang="en-US" sz="1800" b="1" i="0" u="none" strike="noStrike" noProof="0">
                          <a:latin typeface="Times New Roman"/>
                        </a:rPr>
                        <a:t>Key Activities</a:t>
                      </a:r>
                      <a:endParaRPr lang="en-US" b="1">
                        <a:latin typeface="Times New Roman"/>
                      </a:endParaRPr>
                    </a:p>
                  </a:txBody>
                  <a:tcPr/>
                </a:tc>
                <a:tc>
                  <a:txBody>
                    <a:bodyPr/>
                    <a:lstStyle/>
                    <a:p>
                      <a:pPr lvl="0">
                        <a:buNone/>
                      </a:pPr>
                      <a:r>
                        <a:rPr lang="en-US" sz="1800" b="1" i="0" u="none" strike="noStrike" noProof="0">
                          <a:latin typeface="Times New Roman"/>
                        </a:rPr>
                        <a:t>Major Milestone / Deliverable</a:t>
                      </a:r>
                      <a:endParaRPr lang="en-US" b="1">
                        <a:latin typeface="Times New Roman"/>
                      </a:endParaRPr>
                    </a:p>
                  </a:txBody>
                  <a:tcPr/>
                </a:tc>
                <a:extLst>
                  <a:ext uri="{0D108BD9-81ED-4DB2-BD59-A6C34878D82A}">
                    <a16:rowId xmlns:a16="http://schemas.microsoft.com/office/drawing/2014/main" val="1413038639"/>
                  </a:ext>
                </a:extLst>
              </a:tr>
              <a:tr h="885332">
                <a:tc>
                  <a:txBody>
                    <a:bodyPr/>
                    <a:lstStyle/>
                    <a:p>
                      <a:pPr lvl="0">
                        <a:buNone/>
                      </a:pPr>
                      <a:r>
                        <a:rPr lang="en-US" sz="1800" b="0" i="0" u="none" strike="noStrike" noProof="0">
                          <a:latin typeface="Times New Roman"/>
                        </a:rPr>
                        <a:t>1. Foundation &amp; Core Setup</a:t>
                      </a:r>
                      <a:endParaRPr lang="en-US">
                        <a:latin typeface="Times New Roman"/>
                      </a:endParaRPr>
                    </a:p>
                  </a:txBody>
                  <a:tcPr/>
                </a:tc>
                <a:tc>
                  <a:txBody>
                    <a:bodyPr/>
                    <a:lstStyle/>
                    <a:p>
                      <a:pPr lvl="0">
                        <a:buNone/>
                      </a:pPr>
                      <a:r>
                        <a:rPr lang="en-US" sz="1800" b="0" i="0" u="none" strike="noStrike" noProof="0">
                          <a:latin typeface="Times New Roman"/>
                        </a:rPr>
                        <a:t>July – Aug 2025</a:t>
                      </a:r>
                      <a:endParaRPr lang="en-US">
                        <a:latin typeface="Times New Roman"/>
                      </a:endParaRPr>
                    </a:p>
                  </a:txBody>
                  <a:tcPr/>
                </a:tc>
                <a:tc>
                  <a:txBody>
                    <a:bodyPr/>
                    <a:lstStyle/>
                    <a:p>
                      <a:pPr lvl="0" algn="l">
                        <a:lnSpc>
                          <a:spcPct val="100000"/>
                        </a:lnSpc>
                        <a:spcBef>
                          <a:spcPts val="0"/>
                        </a:spcBef>
                        <a:spcAft>
                          <a:spcPts val="0"/>
                        </a:spcAft>
                        <a:buNone/>
                      </a:pPr>
                      <a:r>
                        <a:rPr lang="en-US" sz="1800" b="0" i="0" u="none" strike="noStrike" noProof="0">
                          <a:latin typeface="Times New Roman"/>
                        </a:rPr>
                        <a:t>Research and design the lab architecture and deception strategy. Set up the core infrastructure and install all necessary software.</a:t>
                      </a:r>
                      <a:endParaRPr lang="en-US">
                        <a:latin typeface="Times New Roman"/>
                      </a:endParaRPr>
                    </a:p>
                  </a:txBody>
                  <a:tcPr/>
                </a:tc>
                <a:tc>
                  <a:txBody>
                    <a:bodyPr/>
                    <a:lstStyle/>
                    <a:p>
                      <a:pPr lvl="0">
                        <a:buNone/>
                      </a:pPr>
                      <a:r>
                        <a:rPr lang="en-US" sz="1800" b="0" i="0" u="none" strike="noStrike" noProof="0">
                          <a:latin typeface="Times New Roman"/>
                        </a:rPr>
                        <a:t>Core infrastructure and software installed and running.</a:t>
                      </a:r>
                      <a:endParaRPr lang="en-US">
                        <a:latin typeface="Times New Roman"/>
                      </a:endParaRPr>
                    </a:p>
                  </a:txBody>
                  <a:tcPr/>
                </a:tc>
                <a:extLst>
                  <a:ext uri="{0D108BD9-81ED-4DB2-BD59-A6C34878D82A}">
                    <a16:rowId xmlns:a16="http://schemas.microsoft.com/office/drawing/2014/main" val="4166626993"/>
                  </a:ext>
                </a:extLst>
              </a:tr>
              <a:tr h="1150931">
                <a:tc>
                  <a:txBody>
                    <a:bodyPr/>
                    <a:lstStyle/>
                    <a:p>
                      <a:pPr lvl="0">
                        <a:buNone/>
                      </a:pPr>
                      <a:r>
                        <a:rPr lang="en-US" sz="1800" b="0" i="0" u="none" strike="noStrike" noProof="0">
                          <a:latin typeface="Times New Roman"/>
                        </a:rPr>
                        <a:t>2. Deception Build-Out &amp; Integration</a:t>
                      </a:r>
                      <a:endParaRPr lang="en-US">
                        <a:latin typeface="Times New Roman"/>
                      </a:endParaRPr>
                    </a:p>
                  </a:txBody>
                  <a:tcPr/>
                </a:tc>
                <a:tc>
                  <a:txBody>
                    <a:bodyPr/>
                    <a:lstStyle/>
                    <a:p>
                      <a:pPr lvl="0">
                        <a:buNone/>
                      </a:pPr>
                      <a:r>
                        <a:rPr lang="en-US" sz="1800" b="0" i="0" u="none" strike="noStrike" noProof="0">
                          <a:latin typeface="Times New Roman"/>
                        </a:rPr>
                        <a:t>Sept – Oct 2025</a:t>
                      </a:r>
                      <a:endParaRPr lang="en-US">
                        <a:latin typeface="Times New Roman"/>
                      </a:endParaRPr>
                    </a:p>
                  </a:txBody>
                  <a:tcPr/>
                </a:tc>
                <a:tc>
                  <a:txBody>
                    <a:bodyPr/>
                    <a:lstStyle/>
                    <a:p>
                      <a:pPr lvl="0">
                        <a:buNone/>
                      </a:pPr>
                      <a:r>
                        <a:rPr lang="en-US" sz="1800" b="0" i="0" u="none" strike="noStrike" noProof="0">
                          <a:latin typeface="Times New Roman"/>
                        </a:rPr>
                        <a:t>Deploy decoy assets (AD, credentials, shares) and integrate all logs into Splunk. Verify the data pipeline and prepare for the initial project demonstration.</a:t>
                      </a:r>
                      <a:endParaRPr lang="en-US">
                        <a:latin typeface="Times New Roman"/>
                      </a:endParaRPr>
                    </a:p>
                  </a:txBody>
                  <a:tcPr/>
                </a:tc>
                <a:tc>
                  <a:txBody>
                    <a:bodyPr/>
                    <a:lstStyle/>
                    <a:p>
                      <a:pPr lvl="0">
                        <a:buNone/>
                      </a:pPr>
                      <a:r>
                        <a:rPr lang="en-US" sz="1800" b="1" i="0" u="none" strike="noStrike" noProof="0">
                          <a:latin typeface="Times New Roman"/>
                        </a:rPr>
                        <a:t>First Project Demo: </a:t>
                      </a:r>
                      <a:r>
                        <a:rPr lang="en-US" sz="1800" b="0" i="0" u="none" strike="noStrike" noProof="0">
                          <a:latin typeface="Times New Roman"/>
                        </a:rPr>
                        <a:t>Successful proof-of-concept of the core detection pipeline.</a:t>
                      </a:r>
                      <a:endParaRPr lang="en-US">
                        <a:latin typeface="Times New Roman"/>
                      </a:endParaRPr>
                    </a:p>
                  </a:txBody>
                  <a:tcPr/>
                </a:tc>
                <a:extLst>
                  <a:ext uri="{0D108BD9-81ED-4DB2-BD59-A6C34878D82A}">
                    <a16:rowId xmlns:a16="http://schemas.microsoft.com/office/drawing/2014/main" val="593827797"/>
                  </a:ext>
                </a:extLst>
              </a:tr>
              <a:tr h="1150931">
                <a:tc>
                  <a:txBody>
                    <a:bodyPr/>
                    <a:lstStyle/>
                    <a:p>
                      <a:pPr lvl="0">
                        <a:buNone/>
                      </a:pPr>
                      <a:r>
                        <a:rPr lang="en-US" sz="1800" b="0" i="0" u="none" strike="noStrike" noProof="0">
                          <a:latin typeface="Times New Roman"/>
                        </a:rPr>
                        <a:t>3. Advanced Simulation &amp; Analytics</a:t>
                      </a:r>
                    </a:p>
                  </a:txBody>
                  <a:tcPr/>
                </a:tc>
                <a:tc>
                  <a:txBody>
                    <a:bodyPr/>
                    <a:lstStyle/>
                    <a:p>
                      <a:pPr lvl="0">
                        <a:buNone/>
                      </a:pPr>
                      <a:r>
                        <a:rPr lang="en-US" sz="1800" b="0" i="0" u="none" strike="noStrike" noProof="0">
                          <a:latin typeface="Times New Roman"/>
                        </a:rPr>
                        <a:t>Nov – Dec 2025</a:t>
                      </a:r>
                      <a:endParaRPr lang="en-US">
                        <a:latin typeface="Times New Roman"/>
                      </a:endParaRPr>
                    </a:p>
                  </a:txBody>
                  <a:tcPr/>
                </a:tc>
                <a:tc>
                  <a:txBody>
                    <a:bodyPr/>
                    <a:lstStyle/>
                    <a:p>
                      <a:pPr lvl="0">
                        <a:buNone/>
                      </a:pPr>
                      <a:r>
                        <a:rPr lang="en-US" sz="1800" b="0" i="0" u="none" strike="noStrike" noProof="0">
                          <a:latin typeface="Times New Roman"/>
                        </a:rPr>
                        <a:t>Execute APT attack simulations and develop Splunk dashboards. Map detected TTPs to the MITRE ATT&amp;CK framework.</a:t>
                      </a:r>
                      <a:endParaRPr lang="en-US">
                        <a:latin typeface="Times New Roman"/>
                      </a:endParaRPr>
                    </a:p>
                  </a:txBody>
                  <a:tcPr/>
                </a:tc>
                <a:tc>
                  <a:txBody>
                    <a:bodyPr/>
                    <a:lstStyle/>
                    <a:p>
                      <a:pPr lvl="0">
                        <a:buNone/>
                      </a:pPr>
                      <a:r>
                        <a:rPr lang="en-US" sz="1800" b="0" i="0" u="none" strike="noStrike" noProof="0">
                          <a:latin typeface="Times New Roman"/>
                        </a:rPr>
                        <a:t>Functional Splunk dashboards and initial MITRE ATT&amp;CK mapping complete.</a:t>
                      </a:r>
                      <a:endParaRPr lang="en-US">
                        <a:latin typeface="Times New Roman"/>
                      </a:endParaRPr>
                    </a:p>
                  </a:txBody>
                  <a:tcPr/>
                </a:tc>
                <a:extLst>
                  <a:ext uri="{0D108BD9-81ED-4DB2-BD59-A6C34878D82A}">
                    <a16:rowId xmlns:a16="http://schemas.microsoft.com/office/drawing/2014/main" val="2357359490"/>
                  </a:ext>
                </a:extLst>
              </a:tr>
              <a:tr h="1150931">
                <a:tc>
                  <a:txBody>
                    <a:bodyPr/>
                    <a:lstStyle/>
                    <a:p>
                      <a:pPr lvl="0" algn="l">
                        <a:lnSpc>
                          <a:spcPct val="100000"/>
                        </a:lnSpc>
                        <a:spcBef>
                          <a:spcPts val="0"/>
                        </a:spcBef>
                        <a:spcAft>
                          <a:spcPts val="0"/>
                        </a:spcAft>
                        <a:buNone/>
                      </a:pPr>
                      <a:r>
                        <a:rPr lang="en-US" sz="1800" b="0" i="0" u="none" strike="noStrike" noProof="0">
                          <a:latin typeface="Times New Roman"/>
                        </a:rPr>
                        <a:t>4. Measurement, Finalization &amp; Delivery</a:t>
                      </a:r>
                      <a:endParaRPr lang="en-US" sz="1800" b="0">
                        <a:latin typeface="Times New Roman"/>
                      </a:endParaRPr>
                    </a:p>
                  </a:txBody>
                  <a:tcPr/>
                </a:tc>
                <a:tc>
                  <a:txBody>
                    <a:bodyPr/>
                    <a:lstStyle/>
                    <a:p>
                      <a:pPr lvl="0">
                        <a:buNone/>
                      </a:pPr>
                      <a:r>
                        <a:rPr lang="en-US" sz="1800" b="0" i="0" u="none" strike="noStrike" noProof="0">
                          <a:latin typeface="Times New Roman"/>
                        </a:rPr>
                        <a:t>Jan – Feb </a:t>
                      </a:r>
                      <a:endParaRPr lang="en-US">
                        <a:latin typeface="Times New Roman"/>
                      </a:endParaRPr>
                    </a:p>
                    <a:p>
                      <a:pPr lvl="0">
                        <a:buNone/>
                      </a:pPr>
                      <a:r>
                        <a:rPr lang="en-US" sz="1800" b="0" i="0" u="none" strike="noStrike" noProof="0">
                          <a:latin typeface="Times New Roman"/>
                        </a:rPr>
                        <a:t>2026</a:t>
                      </a:r>
                      <a:endParaRPr lang="en-US">
                        <a:latin typeface="Times New Roman"/>
                      </a:endParaRPr>
                    </a:p>
                  </a:txBody>
                  <a:tcPr/>
                </a:tc>
                <a:tc>
                  <a:txBody>
                    <a:bodyPr/>
                    <a:lstStyle/>
                    <a:p>
                      <a:pPr lvl="0">
                        <a:buNone/>
                      </a:pPr>
                      <a:r>
                        <a:rPr lang="en-US" sz="1800" b="0" i="0" u="none" strike="noStrike" noProof="0">
                          <a:latin typeface="Times New Roman"/>
                        </a:rPr>
                        <a:t> Analyze data to measure effectiveness metrics and conduct final testing. Complete all project documentation and prepare for the final delivery.</a:t>
                      </a:r>
                      <a:endParaRPr lang="en-US">
                        <a:latin typeface="Times New Roman"/>
                      </a:endParaRPr>
                    </a:p>
                  </a:txBody>
                  <a:tcPr/>
                </a:tc>
                <a:tc>
                  <a:txBody>
                    <a:bodyPr/>
                    <a:lstStyle/>
                    <a:p>
                      <a:pPr lvl="0">
                        <a:buNone/>
                      </a:pPr>
                      <a:r>
                        <a:rPr lang="en-US" sz="1800" b="1" i="0" u="none" strike="noStrike" noProof="0">
                          <a:latin typeface="Times New Roman"/>
                        </a:rPr>
                        <a:t>Final Delivery: </a:t>
                      </a:r>
                      <a:r>
                        <a:rPr lang="en-US" sz="1800" b="0" i="0" u="none" strike="noStrike" noProof="0">
                          <a:latin typeface="Times New Roman"/>
                        </a:rPr>
                        <a:t>A fully functional lab, comprehensive report, and final presentation.</a:t>
                      </a:r>
                      <a:endParaRPr lang="en-US">
                        <a:latin typeface="Times New Roman"/>
                      </a:endParaRPr>
                    </a:p>
                  </a:txBody>
                  <a:tcPr/>
                </a:tc>
                <a:extLst>
                  <a:ext uri="{0D108BD9-81ED-4DB2-BD59-A6C34878D82A}">
                    <a16:rowId xmlns:a16="http://schemas.microsoft.com/office/drawing/2014/main" val="1177915637"/>
                  </a:ext>
                </a:extLst>
              </a:tr>
            </a:tbl>
          </a:graphicData>
        </a:graphic>
      </p:graphicFrame>
    </p:spTree>
    <p:extLst>
      <p:ext uri="{BB962C8B-B14F-4D97-AF65-F5344CB8AC3E}">
        <p14:creationId xmlns:p14="http://schemas.microsoft.com/office/powerpoint/2010/main" val="4548839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FF537-AACA-744C-0248-077736ACA012}"/>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4422CF4F-C86A-E6DC-6190-C4A84C6D1B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4" name="Straight Connector 3">
            <a:extLst>
              <a:ext uri="{FF2B5EF4-FFF2-40B4-BE49-F238E27FC236}">
                <a16:creationId xmlns:a16="http://schemas.microsoft.com/office/drawing/2014/main" id="{52FEDCD1-E816-6CD1-6247-A2DF46503EBF}"/>
              </a:ext>
            </a:extLst>
          </p:cNvPr>
          <p:cNvCxnSpPr>
            <a:cxnSpLocks/>
          </p:cNvCxnSpPr>
          <p:nvPr/>
        </p:nvCxnSpPr>
        <p:spPr>
          <a:xfrm>
            <a:off x="1109709" y="594804"/>
            <a:ext cx="10235953" cy="0"/>
          </a:xfrm>
          <a:prstGeom prst="line">
            <a:avLst/>
          </a:prstGeom>
        </p:spPr>
        <p:style>
          <a:lnRef idx="3">
            <a:schemeClr val="dk1"/>
          </a:lnRef>
          <a:fillRef idx="0">
            <a:schemeClr val="dk1"/>
          </a:fillRef>
          <a:effectRef idx="2">
            <a:schemeClr val="dk1"/>
          </a:effectRef>
          <a:fontRef idx="minor">
            <a:schemeClr val="tx1"/>
          </a:fontRef>
        </p:style>
      </p:cxnSp>
      <p:cxnSp>
        <p:nvCxnSpPr>
          <p:cNvPr id="7" name="Straight Connector 6">
            <a:extLst>
              <a:ext uri="{FF2B5EF4-FFF2-40B4-BE49-F238E27FC236}">
                <a16:creationId xmlns:a16="http://schemas.microsoft.com/office/drawing/2014/main" id="{91E316E4-1692-AB50-695C-BE26B019AA48}"/>
              </a:ext>
            </a:extLst>
          </p:cNvPr>
          <p:cNvCxnSpPr/>
          <p:nvPr/>
        </p:nvCxnSpPr>
        <p:spPr>
          <a:xfrm>
            <a:off x="1038687" y="6462943"/>
            <a:ext cx="10369119" cy="0"/>
          </a:xfrm>
          <a:prstGeom prst="line">
            <a:avLst/>
          </a:prstGeom>
        </p:spPr>
        <p:style>
          <a:lnRef idx="3">
            <a:schemeClr val="dk1"/>
          </a:lnRef>
          <a:fillRef idx="0">
            <a:schemeClr val="dk1"/>
          </a:fillRef>
          <a:effectRef idx="2">
            <a:schemeClr val="dk1"/>
          </a:effectRef>
          <a:fontRef idx="minor">
            <a:schemeClr val="tx1"/>
          </a:fontRef>
        </p:style>
      </p:cxnSp>
      <p:sp>
        <p:nvSpPr>
          <p:cNvPr id="8" name="TextBox 7">
            <a:extLst>
              <a:ext uri="{FF2B5EF4-FFF2-40B4-BE49-F238E27FC236}">
                <a16:creationId xmlns:a16="http://schemas.microsoft.com/office/drawing/2014/main" id="{689196BA-1DDC-5FB5-113F-1E1287CD4199}"/>
              </a:ext>
            </a:extLst>
          </p:cNvPr>
          <p:cNvSpPr txBox="1"/>
          <p:nvPr/>
        </p:nvSpPr>
        <p:spPr>
          <a:xfrm>
            <a:off x="8788893" y="319596"/>
            <a:ext cx="2821413" cy="276999"/>
          </a:xfrm>
          <a:prstGeom prst="rect">
            <a:avLst/>
          </a:prstGeom>
          <a:noFill/>
        </p:spPr>
        <p:txBody>
          <a:bodyPr wrap="none" rtlCol="0">
            <a:spAutoFit/>
          </a:body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10" name="Date Placeholder 9">
            <a:extLst>
              <a:ext uri="{FF2B5EF4-FFF2-40B4-BE49-F238E27FC236}">
                <a16:creationId xmlns:a16="http://schemas.microsoft.com/office/drawing/2014/main" id="{7746F1D8-72D2-8579-45D1-020B0AE08D0C}"/>
              </a:ext>
            </a:extLst>
          </p:cNvPr>
          <p:cNvSpPr>
            <a:spLocks noGrp="1"/>
          </p:cNvSpPr>
          <p:nvPr>
            <p:ph type="dt" sz="half" idx="10"/>
          </p:nvPr>
        </p:nvSpPr>
        <p:spPr>
          <a:xfrm>
            <a:off x="838200" y="6492875"/>
            <a:ext cx="2743200" cy="365125"/>
          </a:xfrm>
        </p:spPr>
        <p:txBody>
          <a:bodyPr/>
          <a:lstStyle/>
          <a:p>
            <a:fld id="{EA79F306-FA4D-4663-80D5-A7BEC3B1FE19}" type="datetime1">
              <a:rPr lang="en-IN" smtClean="0"/>
              <a:t>22-07-2025</a:t>
            </a:fld>
            <a:endParaRPr lang="en-IN"/>
          </a:p>
        </p:txBody>
      </p:sp>
      <p:sp>
        <p:nvSpPr>
          <p:cNvPr id="11" name="Slide Number Placeholder 10">
            <a:extLst>
              <a:ext uri="{FF2B5EF4-FFF2-40B4-BE49-F238E27FC236}">
                <a16:creationId xmlns:a16="http://schemas.microsoft.com/office/drawing/2014/main" id="{2A891972-91E3-3351-98CD-6DACE637E9AD}"/>
              </a:ext>
            </a:extLst>
          </p:cNvPr>
          <p:cNvSpPr>
            <a:spLocks noGrp="1"/>
          </p:cNvSpPr>
          <p:nvPr>
            <p:ph type="sldNum" sz="quarter" idx="12"/>
          </p:nvPr>
        </p:nvSpPr>
        <p:spPr>
          <a:xfrm>
            <a:off x="8734887" y="6492875"/>
            <a:ext cx="2743200" cy="365125"/>
          </a:xfrm>
        </p:spPr>
        <p:txBody>
          <a:bodyPr/>
          <a:lstStyle/>
          <a:p>
            <a:fld id="{3C3E5B82-863A-4B66-9E4F-DCFAD2A3B854}" type="slidenum">
              <a:rPr lang="en-IN" smtClean="0"/>
              <a:t>16</a:t>
            </a:fld>
            <a:endParaRPr lang="en-IN"/>
          </a:p>
        </p:txBody>
      </p:sp>
      <p:sp>
        <p:nvSpPr>
          <p:cNvPr id="12" name="Footer Placeholder 11">
            <a:extLst>
              <a:ext uri="{FF2B5EF4-FFF2-40B4-BE49-F238E27FC236}">
                <a16:creationId xmlns:a16="http://schemas.microsoft.com/office/drawing/2014/main" id="{6CCE4849-83C8-0D74-C3EE-DC07E8199FCD}"/>
              </a:ext>
            </a:extLst>
          </p:cNvPr>
          <p:cNvSpPr>
            <a:spLocks noGrp="1"/>
          </p:cNvSpPr>
          <p:nvPr>
            <p:ph type="ftr" sz="quarter" idx="11"/>
          </p:nvPr>
        </p:nvSpPr>
        <p:spPr>
          <a:xfrm>
            <a:off x="4038600" y="6492875"/>
            <a:ext cx="4114800" cy="365125"/>
          </a:xfrm>
        </p:spPr>
        <p:txBody>
          <a:bodyPr/>
          <a:lstStyle/>
          <a:p>
            <a:r>
              <a:rPr lang="en-US"/>
              <a:t>20CYS 495 B.Tech CYS: 2022 - 2026 Project Presentation </a:t>
            </a:r>
            <a:endParaRPr lang="en-IN"/>
          </a:p>
        </p:txBody>
      </p:sp>
      <p:pic>
        <p:nvPicPr>
          <p:cNvPr id="5" name="Picture 4" descr="A graph showing a project timeline">
            <a:extLst>
              <a:ext uri="{FF2B5EF4-FFF2-40B4-BE49-F238E27FC236}">
                <a16:creationId xmlns:a16="http://schemas.microsoft.com/office/drawing/2014/main" id="{FB0797A0-2C10-C35F-C839-8FECD981735D}"/>
              </a:ext>
            </a:extLst>
          </p:cNvPr>
          <p:cNvPicPr>
            <a:picLocks noChangeAspect="1"/>
          </p:cNvPicPr>
          <p:nvPr/>
        </p:nvPicPr>
        <p:blipFill>
          <a:blip r:embed="rId3"/>
          <a:stretch>
            <a:fillRect/>
          </a:stretch>
        </p:blipFill>
        <p:spPr>
          <a:xfrm>
            <a:off x="336177" y="1478989"/>
            <a:ext cx="11625649" cy="4146550"/>
          </a:xfrm>
          <a:prstGeom prst="rect">
            <a:avLst/>
          </a:prstGeom>
        </p:spPr>
      </p:pic>
    </p:spTree>
    <p:extLst>
      <p:ext uri="{BB962C8B-B14F-4D97-AF65-F5344CB8AC3E}">
        <p14:creationId xmlns:p14="http://schemas.microsoft.com/office/powerpoint/2010/main" val="32022557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9A9FF-C967-EFBA-625A-A4F3065CDB4F}"/>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3A6C9D81-D903-2709-984B-B30F0304AB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4" name="Straight Connector 3">
            <a:extLst>
              <a:ext uri="{FF2B5EF4-FFF2-40B4-BE49-F238E27FC236}">
                <a16:creationId xmlns:a16="http://schemas.microsoft.com/office/drawing/2014/main" id="{0EC33B19-930E-9886-68F4-C2C1093F091B}"/>
              </a:ext>
            </a:extLst>
          </p:cNvPr>
          <p:cNvCxnSpPr>
            <a:cxnSpLocks/>
          </p:cNvCxnSpPr>
          <p:nvPr/>
        </p:nvCxnSpPr>
        <p:spPr>
          <a:xfrm>
            <a:off x="1109709" y="594804"/>
            <a:ext cx="10235953" cy="0"/>
          </a:xfrm>
          <a:prstGeom prst="line">
            <a:avLst/>
          </a:prstGeom>
        </p:spPr>
        <p:style>
          <a:lnRef idx="3">
            <a:schemeClr val="dk1"/>
          </a:lnRef>
          <a:fillRef idx="0">
            <a:schemeClr val="dk1"/>
          </a:fillRef>
          <a:effectRef idx="2">
            <a:schemeClr val="dk1"/>
          </a:effectRef>
          <a:fontRef idx="minor">
            <a:schemeClr val="tx1"/>
          </a:fontRef>
        </p:style>
      </p:cxnSp>
      <p:cxnSp>
        <p:nvCxnSpPr>
          <p:cNvPr id="7" name="Straight Connector 6">
            <a:extLst>
              <a:ext uri="{FF2B5EF4-FFF2-40B4-BE49-F238E27FC236}">
                <a16:creationId xmlns:a16="http://schemas.microsoft.com/office/drawing/2014/main" id="{8A899160-B085-4718-EC23-466FBE7DCF3D}"/>
              </a:ext>
            </a:extLst>
          </p:cNvPr>
          <p:cNvCxnSpPr/>
          <p:nvPr/>
        </p:nvCxnSpPr>
        <p:spPr>
          <a:xfrm>
            <a:off x="1038687" y="6462943"/>
            <a:ext cx="10369119" cy="0"/>
          </a:xfrm>
          <a:prstGeom prst="line">
            <a:avLst/>
          </a:prstGeom>
        </p:spPr>
        <p:style>
          <a:lnRef idx="3">
            <a:schemeClr val="dk1"/>
          </a:lnRef>
          <a:fillRef idx="0">
            <a:schemeClr val="dk1"/>
          </a:fillRef>
          <a:effectRef idx="2">
            <a:schemeClr val="dk1"/>
          </a:effectRef>
          <a:fontRef idx="minor">
            <a:schemeClr val="tx1"/>
          </a:fontRef>
        </p:style>
      </p:cxnSp>
      <p:sp>
        <p:nvSpPr>
          <p:cNvPr id="8" name="TextBox 7">
            <a:extLst>
              <a:ext uri="{FF2B5EF4-FFF2-40B4-BE49-F238E27FC236}">
                <a16:creationId xmlns:a16="http://schemas.microsoft.com/office/drawing/2014/main" id="{5A956FA6-4883-E2DE-B7B3-8F1207B60399}"/>
              </a:ext>
            </a:extLst>
          </p:cNvPr>
          <p:cNvSpPr txBox="1"/>
          <p:nvPr/>
        </p:nvSpPr>
        <p:spPr>
          <a:xfrm>
            <a:off x="8788893" y="319596"/>
            <a:ext cx="2821413" cy="276999"/>
          </a:xfrm>
          <a:prstGeom prst="rect">
            <a:avLst/>
          </a:prstGeom>
          <a:noFill/>
        </p:spPr>
        <p:txBody>
          <a:bodyPr wrap="none" rtlCol="0">
            <a:spAutoFit/>
          </a:body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10" name="Date Placeholder 9">
            <a:extLst>
              <a:ext uri="{FF2B5EF4-FFF2-40B4-BE49-F238E27FC236}">
                <a16:creationId xmlns:a16="http://schemas.microsoft.com/office/drawing/2014/main" id="{52B1717E-6B06-270C-D168-F8D4AA6C4080}"/>
              </a:ext>
            </a:extLst>
          </p:cNvPr>
          <p:cNvSpPr>
            <a:spLocks noGrp="1"/>
          </p:cNvSpPr>
          <p:nvPr>
            <p:ph type="dt" sz="half" idx="10"/>
          </p:nvPr>
        </p:nvSpPr>
        <p:spPr>
          <a:xfrm>
            <a:off x="838200" y="6492875"/>
            <a:ext cx="2743200" cy="365125"/>
          </a:xfrm>
        </p:spPr>
        <p:txBody>
          <a:bodyPr/>
          <a:lstStyle/>
          <a:p>
            <a:fld id="{EA79F306-FA4D-4663-80D5-A7BEC3B1FE19}" type="datetime1">
              <a:rPr lang="en-IN" smtClean="0"/>
              <a:t>22-07-2025</a:t>
            </a:fld>
            <a:endParaRPr lang="en-IN"/>
          </a:p>
        </p:txBody>
      </p:sp>
      <p:sp>
        <p:nvSpPr>
          <p:cNvPr id="11" name="Slide Number Placeholder 10">
            <a:extLst>
              <a:ext uri="{FF2B5EF4-FFF2-40B4-BE49-F238E27FC236}">
                <a16:creationId xmlns:a16="http://schemas.microsoft.com/office/drawing/2014/main" id="{76C792E2-BF55-F5A0-AFD1-1A45A1110014}"/>
              </a:ext>
            </a:extLst>
          </p:cNvPr>
          <p:cNvSpPr>
            <a:spLocks noGrp="1"/>
          </p:cNvSpPr>
          <p:nvPr>
            <p:ph type="sldNum" sz="quarter" idx="12"/>
          </p:nvPr>
        </p:nvSpPr>
        <p:spPr>
          <a:xfrm>
            <a:off x="8734887" y="6492875"/>
            <a:ext cx="2743200" cy="365125"/>
          </a:xfrm>
        </p:spPr>
        <p:txBody>
          <a:bodyPr/>
          <a:lstStyle/>
          <a:p>
            <a:fld id="{3C3E5B82-863A-4B66-9E4F-DCFAD2A3B854}" type="slidenum">
              <a:rPr lang="en-IN" smtClean="0"/>
              <a:t>17</a:t>
            </a:fld>
            <a:endParaRPr lang="en-IN"/>
          </a:p>
        </p:txBody>
      </p:sp>
      <p:sp>
        <p:nvSpPr>
          <p:cNvPr id="12" name="Footer Placeholder 11">
            <a:extLst>
              <a:ext uri="{FF2B5EF4-FFF2-40B4-BE49-F238E27FC236}">
                <a16:creationId xmlns:a16="http://schemas.microsoft.com/office/drawing/2014/main" id="{5FC354E6-E302-37BF-1D5F-E2A13D462690}"/>
              </a:ext>
            </a:extLst>
          </p:cNvPr>
          <p:cNvSpPr>
            <a:spLocks noGrp="1"/>
          </p:cNvSpPr>
          <p:nvPr>
            <p:ph type="ftr" sz="quarter" idx="11"/>
          </p:nvPr>
        </p:nvSpPr>
        <p:spPr>
          <a:xfrm>
            <a:off x="4038600" y="6492875"/>
            <a:ext cx="4114800" cy="365125"/>
          </a:xfrm>
        </p:spPr>
        <p:txBody>
          <a:bodyPr/>
          <a:lstStyle/>
          <a:p>
            <a:r>
              <a:rPr lang="en-US"/>
              <a:t>20CYS 495 B.Tech CYS: 2022 - 2026 Project Presentation </a:t>
            </a:r>
            <a:endParaRPr lang="en-IN"/>
          </a:p>
        </p:txBody>
      </p:sp>
      <p:pic>
        <p:nvPicPr>
          <p:cNvPr id="3" name="Picture 2">
            <a:extLst>
              <a:ext uri="{FF2B5EF4-FFF2-40B4-BE49-F238E27FC236}">
                <a16:creationId xmlns:a16="http://schemas.microsoft.com/office/drawing/2014/main" id="{023D4D7E-7425-60A3-95F1-B93DE88057E3}"/>
              </a:ext>
            </a:extLst>
          </p:cNvPr>
          <p:cNvPicPr>
            <a:picLocks noChangeAspect="1"/>
          </p:cNvPicPr>
          <p:nvPr/>
        </p:nvPicPr>
        <p:blipFill>
          <a:blip r:embed="rId3"/>
          <a:stretch>
            <a:fillRect/>
          </a:stretch>
        </p:blipFill>
        <p:spPr>
          <a:xfrm>
            <a:off x="1102955" y="1223963"/>
            <a:ext cx="9953893" cy="4871567"/>
          </a:xfrm>
          <a:prstGeom prst="rect">
            <a:avLst/>
          </a:prstGeom>
        </p:spPr>
      </p:pic>
    </p:spTree>
    <p:extLst>
      <p:ext uri="{BB962C8B-B14F-4D97-AF65-F5344CB8AC3E}">
        <p14:creationId xmlns:p14="http://schemas.microsoft.com/office/powerpoint/2010/main" val="42406693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D4A99-78AB-D548-19FB-3E3D68D38942}"/>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5E2E686E-DBDA-6E2D-D1BD-A62B284E41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4" name="Straight Connector 3">
            <a:extLst>
              <a:ext uri="{FF2B5EF4-FFF2-40B4-BE49-F238E27FC236}">
                <a16:creationId xmlns:a16="http://schemas.microsoft.com/office/drawing/2014/main" id="{D5C4AB1B-784C-1570-867C-BC6AB915AB85}"/>
              </a:ext>
            </a:extLst>
          </p:cNvPr>
          <p:cNvCxnSpPr>
            <a:cxnSpLocks/>
          </p:cNvCxnSpPr>
          <p:nvPr/>
        </p:nvCxnSpPr>
        <p:spPr>
          <a:xfrm>
            <a:off x="1109709" y="594804"/>
            <a:ext cx="10235953" cy="0"/>
          </a:xfrm>
          <a:prstGeom prst="line">
            <a:avLst/>
          </a:prstGeom>
        </p:spPr>
        <p:style>
          <a:lnRef idx="3">
            <a:schemeClr val="dk1"/>
          </a:lnRef>
          <a:fillRef idx="0">
            <a:schemeClr val="dk1"/>
          </a:fillRef>
          <a:effectRef idx="2">
            <a:schemeClr val="dk1"/>
          </a:effectRef>
          <a:fontRef idx="minor">
            <a:schemeClr val="tx1"/>
          </a:fontRef>
        </p:style>
      </p:cxnSp>
      <p:cxnSp>
        <p:nvCxnSpPr>
          <p:cNvPr id="7" name="Straight Connector 6">
            <a:extLst>
              <a:ext uri="{FF2B5EF4-FFF2-40B4-BE49-F238E27FC236}">
                <a16:creationId xmlns:a16="http://schemas.microsoft.com/office/drawing/2014/main" id="{0DE51FED-49C1-5C4B-FF2C-239721F3858D}"/>
              </a:ext>
            </a:extLst>
          </p:cNvPr>
          <p:cNvCxnSpPr/>
          <p:nvPr/>
        </p:nvCxnSpPr>
        <p:spPr>
          <a:xfrm>
            <a:off x="1038687" y="6462943"/>
            <a:ext cx="10369119" cy="0"/>
          </a:xfrm>
          <a:prstGeom prst="line">
            <a:avLst/>
          </a:prstGeom>
        </p:spPr>
        <p:style>
          <a:lnRef idx="3">
            <a:schemeClr val="dk1"/>
          </a:lnRef>
          <a:fillRef idx="0">
            <a:schemeClr val="dk1"/>
          </a:fillRef>
          <a:effectRef idx="2">
            <a:schemeClr val="dk1"/>
          </a:effectRef>
          <a:fontRef idx="minor">
            <a:schemeClr val="tx1"/>
          </a:fontRef>
        </p:style>
      </p:cxnSp>
      <p:sp>
        <p:nvSpPr>
          <p:cNvPr id="8" name="TextBox 7">
            <a:extLst>
              <a:ext uri="{FF2B5EF4-FFF2-40B4-BE49-F238E27FC236}">
                <a16:creationId xmlns:a16="http://schemas.microsoft.com/office/drawing/2014/main" id="{AE2E47A3-19F7-DE4A-BE43-0606D50F09FA}"/>
              </a:ext>
            </a:extLst>
          </p:cNvPr>
          <p:cNvSpPr txBox="1"/>
          <p:nvPr/>
        </p:nvSpPr>
        <p:spPr>
          <a:xfrm>
            <a:off x="8788893" y="319596"/>
            <a:ext cx="2821413" cy="276999"/>
          </a:xfrm>
          <a:prstGeom prst="rect">
            <a:avLst/>
          </a:prstGeom>
          <a:noFill/>
        </p:spPr>
        <p:txBody>
          <a:bodyPr wrap="none" rtlCol="0">
            <a:spAutoFit/>
          </a:body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10" name="Date Placeholder 9">
            <a:extLst>
              <a:ext uri="{FF2B5EF4-FFF2-40B4-BE49-F238E27FC236}">
                <a16:creationId xmlns:a16="http://schemas.microsoft.com/office/drawing/2014/main" id="{8D5E10CE-0DDC-2C72-3A6D-780B66E2EAD0}"/>
              </a:ext>
            </a:extLst>
          </p:cNvPr>
          <p:cNvSpPr>
            <a:spLocks noGrp="1"/>
          </p:cNvSpPr>
          <p:nvPr>
            <p:ph type="dt" sz="half" idx="10"/>
          </p:nvPr>
        </p:nvSpPr>
        <p:spPr>
          <a:xfrm>
            <a:off x="838200" y="6492875"/>
            <a:ext cx="2743200" cy="365125"/>
          </a:xfrm>
        </p:spPr>
        <p:txBody>
          <a:bodyPr/>
          <a:lstStyle/>
          <a:p>
            <a:fld id="{2168A277-951F-4687-AA14-8BEB30DD9865}" type="datetime1">
              <a:rPr lang="en-IN" smtClean="0"/>
              <a:t>22-07-2025</a:t>
            </a:fld>
            <a:endParaRPr lang="en-IN"/>
          </a:p>
        </p:txBody>
      </p:sp>
      <p:sp>
        <p:nvSpPr>
          <p:cNvPr id="11" name="Slide Number Placeholder 10">
            <a:extLst>
              <a:ext uri="{FF2B5EF4-FFF2-40B4-BE49-F238E27FC236}">
                <a16:creationId xmlns:a16="http://schemas.microsoft.com/office/drawing/2014/main" id="{3506BF60-7622-99BD-52CB-73424969038B}"/>
              </a:ext>
            </a:extLst>
          </p:cNvPr>
          <p:cNvSpPr>
            <a:spLocks noGrp="1"/>
          </p:cNvSpPr>
          <p:nvPr>
            <p:ph type="sldNum" sz="quarter" idx="12"/>
          </p:nvPr>
        </p:nvSpPr>
        <p:spPr>
          <a:xfrm>
            <a:off x="8734887" y="6492875"/>
            <a:ext cx="2743200" cy="365125"/>
          </a:xfrm>
        </p:spPr>
        <p:txBody>
          <a:bodyPr/>
          <a:lstStyle/>
          <a:p>
            <a:fld id="{3C3E5B82-863A-4B66-9E4F-DCFAD2A3B854}" type="slidenum">
              <a:rPr lang="en-IN" smtClean="0"/>
              <a:t>18</a:t>
            </a:fld>
            <a:endParaRPr lang="en-IN"/>
          </a:p>
        </p:txBody>
      </p:sp>
      <p:sp>
        <p:nvSpPr>
          <p:cNvPr id="12" name="Footer Placeholder 11">
            <a:extLst>
              <a:ext uri="{FF2B5EF4-FFF2-40B4-BE49-F238E27FC236}">
                <a16:creationId xmlns:a16="http://schemas.microsoft.com/office/drawing/2014/main" id="{02FF17F4-2E26-830A-3D0C-C6F045A2AE71}"/>
              </a:ext>
            </a:extLst>
          </p:cNvPr>
          <p:cNvSpPr>
            <a:spLocks noGrp="1"/>
          </p:cNvSpPr>
          <p:nvPr>
            <p:ph type="ftr" sz="quarter" idx="11"/>
          </p:nvPr>
        </p:nvSpPr>
        <p:spPr>
          <a:xfrm>
            <a:off x="4038600" y="6492875"/>
            <a:ext cx="4114800" cy="365125"/>
          </a:xfrm>
        </p:spPr>
        <p:txBody>
          <a:bodyPr/>
          <a:lstStyle/>
          <a:p>
            <a:r>
              <a:rPr lang="en-US"/>
              <a:t>20CYS 495 B.Tech CYS: 2022 - 2026 Project Presentation </a:t>
            </a:r>
            <a:endParaRPr lang="en-IN"/>
          </a:p>
        </p:txBody>
      </p:sp>
      <p:sp>
        <p:nvSpPr>
          <p:cNvPr id="6" name="TextBox 5">
            <a:extLst>
              <a:ext uri="{FF2B5EF4-FFF2-40B4-BE49-F238E27FC236}">
                <a16:creationId xmlns:a16="http://schemas.microsoft.com/office/drawing/2014/main" id="{DC4892B0-5F05-682C-0465-B2454BAD70B5}"/>
              </a:ext>
            </a:extLst>
          </p:cNvPr>
          <p:cNvSpPr txBox="1"/>
          <p:nvPr/>
        </p:nvSpPr>
        <p:spPr>
          <a:xfrm>
            <a:off x="757989" y="955928"/>
            <a:ext cx="6097604" cy="461665"/>
          </a:xfrm>
          <a:prstGeom prst="rect">
            <a:avLst/>
          </a:prstGeom>
          <a:noFill/>
        </p:spPr>
        <p:txBody>
          <a:bodyPr wrap="square" lIns="91440" tIns="45720" rIns="91440" bIns="45720" anchor="t">
            <a:spAutoFit/>
          </a:bodyPr>
          <a:lstStyle/>
          <a:p>
            <a:r>
              <a:rPr lang="en-US" sz="2400" b="1">
                <a:latin typeface="Times New Roman"/>
                <a:cs typeface="Times New Roman"/>
              </a:rPr>
              <a:t>Individual Work Log </a:t>
            </a:r>
          </a:p>
        </p:txBody>
      </p:sp>
      <p:graphicFrame>
        <p:nvGraphicFramePr>
          <p:cNvPr id="9" name="Table 8">
            <a:extLst>
              <a:ext uri="{FF2B5EF4-FFF2-40B4-BE49-F238E27FC236}">
                <a16:creationId xmlns:a16="http://schemas.microsoft.com/office/drawing/2014/main" id="{37047542-F5AC-28BE-BE80-C92AC6BB5271}"/>
              </a:ext>
            </a:extLst>
          </p:cNvPr>
          <p:cNvGraphicFramePr>
            <a:graphicFrameLocks noGrp="1"/>
          </p:cNvGraphicFramePr>
          <p:nvPr>
            <p:extLst>
              <p:ext uri="{D42A27DB-BD31-4B8C-83A1-F6EECF244321}">
                <p14:modId xmlns:p14="http://schemas.microsoft.com/office/powerpoint/2010/main" val="1838028225"/>
              </p:ext>
            </p:extLst>
          </p:nvPr>
        </p:nvGraphicFramePr>
        <p:xfrm>
          <a:off x="1232033" y="2117562"/>
          <a:ext cx="9519384" cy="2752809"/>
        </p:xfrm>
        <a:graphic>
          <a:graphicData uri="http://schemas.openxmlformats.org/drawingml/2006/table">
            <a:tbl>
              <a:tblPr firstRow="1" bandRow="1">
                <a:tableStyleId>{5940675A-B579-460E-94D1-54222C63F5DA}</a:tableStyleId>
              </a:tblPr>
              <a:tblGrid>
                <a:gridCol w="3173128">
                  <a:extLst>
                    <a:ext uri="{9D8B030D-6E8A-4147-A177-3AD203B41FA5}">
                      <a16:colId xmlns:a16="http://schemas.microsoft.com/office/drawing/2014/main" val="2092270687"/>
                    </a:ext>
                  </a:extLst>
                </a:gridCol>
                <a:gridCol w="3173128">
                  <a:extLst>
                    <a:ext uri="{9D8B030D-6E8A-4147-A177-3AD203B41FA5}">
                      <a16:colId xmlns:a16="http://schemas.microsoft.com/office/drawing/2014/main" val="1261780682"/>
                    </a:ext>
                  </a:extLst>
                </a:gridCol>
                <a:gridCol w="3173128">
                  <a:extLst>
                    <a:ext uri="{9D8B030D-6E8A-4147-A177-3AD203B41FA5}">
                      <a16:colId xmlns:a16="http://schemas.microsoft.com/office/drawing/2014/main" val="3543924801"/>
                    </a:ext>
                  </a:extLst>
                </a:gridCol>
              </a:tblGrid>
              <a:tr h="550562">
                <a:tc>
                  <a:txBody>
                    <a:bodyPr/>
                    <a:lstStyle/>
                    <a:p>
                      <a:r>
                        <a:rPr lang="en-US" b="1">
                          <a:latin typeface="Times New Roman"/>
                        </a:rPr>
                        <a:t>Task</a:t>
                      </a:r>
                    </a:p>
                  </a:txBody>
                  <a:tcPr/>
                </a:tc>
                <a:tc>
                  <a:txBody>
                    <a:bodyPr/>
                    <a:lstStyle/>
                    <a:p>
                      <a:r>
                        <a:rPr lang="en-US" b="1">
                          <a:latin typeface="Times New Roman"/>
                        </a:rPr>
                        <a:t>Progress </a:t>
                      </a:r>
                    </a:p>
                  </a:txBody>
                  <a:tcPr/>
                </a:tc>
                <a:tc>
                  <a:txBody>
                    <a:bodyPr/>
                    <a:lstStyle/>
                    <a:p>
                      <a:r>
                        <a:rPr lang="en-US" b="1">
                          <a:latin typeface="Times New Roman"/>
                        </a:rPr>
                        <a:t>Name </a:t>
                      </a:r>
                    </a:p>
                  </a:txBody>
                  <a:tcPr/>
                </a:tc>
                <a:extLst>
                  <a:ext uri="{0D108BD9-81ED-4DB2-BD59-A6C34878D82A}">
                    <a16:rowId xmlns:a16="http://schemas.microsoft.com/office/drawing/2014/main" val="3212788346"/>
                  </a:ext>
                </a:extLst>
              </a:tr>
              <a:tr h="550562">
                <a:tc>
                  <a:txBody>
                    <a:bodyPr/>
                    <a:lstStyle/>
                    <a:p>
                      <a:pPr lvl="0">
                        <a:buNone/>
                      </a:pPr>
                      <a:r>
                        <a:rPr lang="en-US" sz="1800" b="0" i="0" u="none" strike="noStrike" noProof="0">
                          <a:latin typeface="Times New Roman"/>
                        </a:rPr>
                        <a:t>Literature survey </a:t>
                      </a:r>
                      <a:endParaRPr lang="en-US">
                        <a:latin typeface="Times New Roman"/>
                      </a:endParaRPr>
                    </a:p>
                  </a:txBody>
                  <a:tcPr/>
                </a:tc>
                <a:tc>
                  <a:txBody>
                    <a:bodyPr/>
                    <a:lstStyle/>
                    <a:p>
                      <a:r>
                        <a:rPr lang="en-US">
                          <a:latin typeface="Times New Roman"/>
                        </a:rPr>
                        <a:t>Completed</a:t>
                      </a:r>
                    </a:p>
                  </a:txBody>
                  <a:tcPr/>
                </a:tc>
                <a:tc>
                  <a:txBody>
                    <a:bodyPr/>
                    <a:lstStyle/>
                    <a:p>
                      <a:r>
                        <a:rPr lang="en-US" err="1">
                          <a:latin typeface="Times New Roman"/>
                        </a:rPr>
                        <a:t>Chitla</a:t>
                      </a:r>
                      <a:r>
                        <a:rPr lang="en-US">
                          <a:latin typeface="Times New Roman"/>
                        </a:rPr>
                        <a:t> Vyshali</a:t>
                      </a:r>
                    </a:p>
                  </a:txBody>
                  <a:tcPr/>
                </a:tc>
                <a:extLst>
                  <a:ext uri="{0D108BD9-81ED-4DB2-BD59-A6C34878D82A}">
                    <a16:rowId xmlns:a16="http://schemas.microsoft.com/office/drawing/2014/main" val="574812535"/>
                  </a:ext>
                </a:extLst>
              </a:tr>
              <a:tr h="550561">
                <a:tc>
                  <a:txBody>
                    <a:bodyPr/>
                    <a:lstStyle/>
                    <a:p>
                      <a:pPr lvl="0">
                        <a:buNone/>
                      </a:pPr>
                      <a:r>
                        <a:rPr lang="en-US" sz="1800" b="0" i="0" u="none" strike="noStrike" noProof="0">
                          <a:solidFill>
                            <a:srgbClr val="000000"/>
                          </a:solidFill>
                          <a:latin typeface="Times New Roman"/>
                        </a:rPr>
                        <a:t>Literature survey </a:t>
                      </a:r>
                      <a:endParaRPr lang="en-US">
                        <a:latin typeface="Times New Roman"/>
                      </a:endParaRPr>
                    </a:p>
                  </a:txBody>
                  <a:tcPr/>
                </a:tc>
                <a:tc>
                  <a:txBody>
                    <a:bodyPr/>
                    <a:lstStyle/>
                    <a:p>
                      <a:pPr lvl="0">
                        <a:buNone/>
                      </a:pPr>
                      <a:r>
                        <a:rPr lang="en-US">
                          <a:latin typeface="Times New Roman"/>
                        </a:rPr>
                        <a:t>Completed </a:t>
                      </a:r>
                    </a:p>
                  </a:txBody>
                  <a:tcPr/>
                </a:tc>
                <a:tc>
                  <a:txBody>
                    <a:bodyPr/>
                    <a:lstStyle/>
                    <a:p>
                      <a:pPr lvl="0">
                        <a:buNone/>
                      </a:pPr>
                      <a:r>
                        <a:rPr lang="en-US">
                          <a:latin typeface="Times New Roman"/>
                        </a:rPr>
                        <a:t>Dharshika S</a:t>
                      </a:r>
                    </a:p>
                  </a:txBody>
                  <a:tcPr/>
                </a:tc>
                <a:extLst>
                  <a:ext uri="{0D108BD9-81ED-4DB2-BD59-A6C34878D82A}">
                    <a16:rowId xmlns:a16="http://schemas.microsoft.com/office/drawing/2014/main" val="3023409393"/>
                  </a:ext>
                </a:extLst>
              </a:tr>
              <a:tr h="550562">
                <a:tc>
                  <a:txBody>
                    <a:bodyPr/>
                    <a:lstStyle/>
                    <a:p>
                      <a:pPr lvl="0">
                        <a:buNone/>
                      </a:pPr>
                      <a:r>
                        <a:rPr lang="en-US" sz="1800" b="0" i="0" u="none" strike="noStrike" noProof="0">
                          <a:solidFill>
                            <a:srgbClr val="000000"/>
                          </a:solidFill>
                          <a:latin typeface="Times New Roman"/>
                        </a:rPr>
                        <a:t>Literature survey </a:t>
                      </a:r>
                      <a:endParaRPr lang="en-US">
                        <a:latin typeface="Times New Roman"/>
                      </a:endParaRPr>
                    </a:p>
                  </a:txBody>
                  <a:tcPr/>
                </a:tc>
                <a:tc>
                  <a:txBody>
                    <a:bodyPr/>
                    <a:lstStyle/>
                    <a:p>
                      <a:r>
                        <a:rPr lang="en-US">
                          <a:latin typeface="Times New Roman"/>
                        </a:rPr>
                        <a:t>Completed</a:t>
                      </a:r>
                    </a:p>
                  </a:txBody>
                  <a:tcPr/>
                </a:tc>
                <a:tc>
                  <a:txBody>
                    <a:bodyPr/>
                    <a:lstStyle/>
                    <a:p>
                      <a:r>
                        <a:rPr lang="en-US" err="1">
                          <a:latin typeface="Times New Roman"/>
                        </a:rPr>
                        <a:t>Thanuj</a:t>
                      </a:r>
                      <a:r>
                        <a:rPr lang="en-US">
                          <a:latin typeface="Times New Roman"/>
                        </a:rPr>
                        <a:t> R</a:t>
                      </a:r>
                    </a:p>
                  </a:txBody>
                  <a:tcPr/>
                </a:tc>
                <a:extLst>
                  <a:ext uri="{0D108BD9-81ED-4DB2-BD59-A6C34878D82A}">
                    <a16:rowId xmlns:a16="http://schemas.microsoft.com/office/drawing/2014/main" val="3653992106"/>
                  </a:ext>
                </a:extLst>
              </a:tr>
              <a:tr h="550562">
                <a:tc>
                  <a:txBody>
                    <a:bodyPr/>
                    <a:lstStyle/>
                    <a:p>
                      <a:pPr lvl="0">
                        <a:buNone/>
                      </a:pPr>
                      <a:r>
                        <a:rPr lang="en-US" sz="1800" b="0" i="0" u="none" strike="noStrike" noProof="0">
                          <a:solidFill>
                            <a:srgbClr val="000000"/>
                          </a:solidFill>
                          <a:latin typeface="Times New Roman"/>
                        </a:rPr>
                        <a:t>Literature survey </a:t>
                      </a:r>
                      <a:endParaRPr lang="en-US">
                        <a:latin typeface="Times New Roman"/>
                      </a:endParaRPr>
                    </a:p>
                  </a:txBody>
                  <a:tcPr/>
                </a:tc>
                <a:tc>
                  <a:txBody>
                    <a:bodyPr/>
                    <a:lstStyle/>
                    <a:p>
                      <a:r>
                        <a:rPr lang="en-US">
                          <a:latin typeface="Times New Roman"/>
                        </a:rPr>
                        <a:t>Completed</a:t>
                      </a:r>
                    </a:p>
                  </a:txBody>
                  <a:tcPr/>
                </a:tc>
                <a:tc>
                  <a:txBody>
                    <a:bodyPr/>
                    <a:lstStyle/>
                    <a:p>
                      <a:r>
                        <a:rPr lang="en-US">
                          <a:latin typeface="Times New Roman"/>
                        </a:rPr>
                        <a:t>M Anurag Reddy</a:t>
                      </a:r>
                    </a:p>
                  </a:txBody>
                  <a:tcPr/>
                </a:tc>
                <a:extLst>
                  <a:ext uri="{0D108BD9-81ED-4DB2-BD59-A6C34878D82A}">
                    <a16:rowId xmlns:a16="http://schemas.microsoft.com/office/drawing/2014/main" val="3396016949"/>
                  </a:ext>
                </a:extLst>
              </a:tr>
            </a:tbl>
          </a:graphicData>
        </a:graphic>
      </p:graphicFrame>
    </p:spTree>
    <p:extLst>
      <p:ext uri="{BB962C8B-B14F-4D97-AF65-F5344CB8AC3E}">
        <p14:creationId xmlns:p14="http://schemas.microsoft.com/office/powerpoint/2010/main" val="33517288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FE9374F-8DD8-4480-8590-778239D8B0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4" name="Straight Connector 3">
            <a:extLst>
              <a:ext uri="{FF2B5EF4-FFF2-40B4-BE49-F238E27FC236}">
                <a16:creationId xmlns:a16="http://schemas.microsoft.com/office/drawing/2014/main" id="{C86AE5E2-AE54-4C65-842F-C82D80DE5FE3}"/>
              </a:ext>
            </a:extLst>
          </p:cNvPr>
          <p:cNvCxnSpPr>
            <a:cxnSpLocks/>
          </p:cNvCxnSpPr>
          <p:nvPr/>
        </p:nvCxnSpPr>
        <p:spPr>
          <a:xfrm>
            <a:off x="1109709" y="594804"/>
            <a:ext cx="10235953" cy="0"/>
          </a:xfrm>
          <a:prstGeom prst="line">
            <a:avLst/>
          </a:prstGeom>
        </p:spPr>
        <p:style>
          <a:lnRef idx="3">
            <a:schemeClr val="dk1"/>
          </a:lnRef>
          <a:fillRef idx="0">
            <a:schemeClr val="dk1"/>
          </a:fillRef>
          <a:effectRef idx="2">
            <a:schemeClr val="dk1"/>
          </a:effectRef>
          <a:fontRef idx="minor">
            <a:schemeClr val="tx1"/>
          </a:fontRef>
        </p:style>
      </p:cxnSp>
      <p:cxnSp>
        <p:nvCxnSpPr>
          <p:cNvPr id="7" name="Straight Connector 6">
            <a:extLst>
              <a:ext uri="{FF2B5EF4-FFF2-40B4-BE49-F238E27FC236}">
                <a16:creationId xmlns:a16="http://schemas.microsoft.com/office/drawing/2014/main" id="{85230674-9C20-4A48-BEDB-3E71685A6837}"/>
              </a:ext>
            </a:extLst>
          </p:cNvPr>
          <p:cNvCxnSpPr/>
          <p:nvPr/>
        </p:nvCxnSpPr>
        <p:spPr>
          <a:xfrm>
            <a:off x="1038687" y="6462943"/>
            <a:ext cx="10369119" cy="0"/>
          </a:xfrm>
          <a:prstGeom prst="line">
            <a:avLst/>
          </a:prstGeom>
        </p:spPr>
        <p:style>
          <a:lnRef idx="3">
            <a:schemeClr val="dk1"/>
          </a:lnRef>
          <a:fillRef idx="0">
            <a:schemeClr val="dk1"/>
          </a:fillRef>
          <a:effectRef idx="2">
            <a:schemeClr val="dk1"/>
          </a:effectRef>
          <a:fontRef idx="minor">
            <a:schemeClr val="tx1"/>
          </a:fontRef>
        </p:style>
      </p:cxnSp>
      <p:sp>
        <p:nvSpPr>
          <p:cNvPr id="8" name="TextBox 7">
            <a:extLst>
              <a:ext uri="{FF2B5EF4-FFF2-40B4-BE49-F238E27FC236}">
                <a16:creationId xmlns:a16="http://schemas.microsoft.com/office/drawing/2014/main" id="{83B72D3C-7AEE-4C83-8156-6FCDFB64EDF4}"/>
              </a:ext>
            </a:extLst>
          </p:cNvPr>
          <p:cNvSpPr txBox="1"/>
          <p:nvPr/>
        </p:nvSpPr>
        <p:spPr>
          <a:xfrm>
            <a:off x="8788893" y="319596"/>
            <a:ext cx="2821413" cy="276999"/>
          </a:xfrm>
          <a:prstGeom prst="rect">
            <a:avLst/>
          </a:prstGeom>
          <a:noFill/>
        </p:spPr>
        <p:txBody>
          <a:bodyPr wrap="none" rtlCol="0">
            <a:spAutoFit/>
          </a:body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10" name="Date Placeholder 9">
            <a:extLst>
              <a:ext uri="{FF2B5EF4-FFF2-40B4-BE49-F238E27FC236}">
                <a16:creationId xmlns:a16="http://schemas.microsoft.com/office/drawing/2014/main" id="{05A0A882-B0D8-45B0-88B6-4D8C07400180}"/>
              </a:ext>
            </a:extLst>
          </p:cNvPr>
          <p:cNvSpPr>
            <a:spLocks noGrp="1"/>
          </p:cNvSpPr>
          <p:nvPr>
            <p:ph type="dt" sz="half" idx="10"/>
          </p:nvPr>
        </p:nvSpPr>
        <p:spPr>
          <a:xfrm>
            <a:off x="838200" y="6492875"/>
            <a:ext cx="2743200" cy="365125"/>
          </a:xfrm>
        </p:spPr>
        <p:txBody>
          <a:bodyPr/>
          <a:lstStyle/>
          <a:p>
            <a:fld id="{511E148A-C671-4C13-82DA-4FCD70938E5A}" type="datetime1">
              <a:rPr lang="en-IN" smtClean="0"/>
              <a:t>22-07-2025</a:t>
            </a:fld>
            <a:endParaRPr lang="en-IN"/>
          </a:p>
        </p:txBody>
      </p:sp>
      <p:sp>
        <p:nvSpPr>
          <p:cNvPr id="11" name="Slide Number Placeholder 10">
            <a:extLst>
              <a:ext uri="{FF2B5EF4-FFF2-40B4-BE49-F238E27FC236}">
                <a16:creationId xmlns:a16="http://schemas.microsoft.com/office/drawing/2014/main" id="{D560B5BB-12C6-40D2-9763-B27B8ACDE663}"/>
              </a:ext>
            </a:extLst>
          </p:cNvPr>
          <p:cNvSpPr>
            <a:spLocks noGrp="1"/>
          </p:cNvSpPr>
          <p:nvPr>
            <p:ph type="sldNum" sz="quarter" idx="12"/>
          </p:nvPr>
        </p:nvSpPr>
        <p:spPr>
          <a:xfrm>
            <a:off x="8734887" y="6492875"/>
            <a:ext cx="2743200" cy="365125"/>
          </a:xfrm>
        </p:spPr>
        <p:txBody>
          <a:bodyPr/>
          <a:lstStyle/>
          <a:p>
            <a:fld id="{3C3E5B82-863A-4B66-9E4F-DCFAD2A3B854}" type="slidenum">
              <a:rPr lang="en-IN" smtClean="0"/>
              <a:t>19</a:t>
            </a:fld>
            <a:endParaRPr lang="en-IN"/>
          </a:p>
        </p:txBody>
      </p:sp>
      <p:sp>
        <p:nvSpPr>
          <p:cNvPr id="12" name="Footer Placeholder 11">
            <a:extLst>
              <a:ext uri="{FF2B5EF4-FFF2-40B4-BE49-F238E27FC236}">
                <a16:creationId xmlns:a16="http://schemas.microsoft.com/office/drawing/2014/main" id="{F6D4F79C-3FA2-494F-BB27-8CB7272816E9}"/>
              </a:ext>
            </a:extLst>
          </p:cNvPr>
          <p:cNvSpPr>
            <a:spLocks noGrp="1"/>
          </p:cNvSpPr>
          <p:nvPr>
            <p:ph type="ftr" sz="quarter" idx="11"/>
          </p:nvPr>
        </p:nvSpPr>
        <p:spPr>
          <a:xfrm>
            <a:off x="4038600" y="6492875"/>
            <a:ext cx="4114800" cy="365125"/>
          </a:xfrm>
        </p:spPr>
        <p:txBody>
          <a:bodyPr/>
          <a:lstStyle/>
          <a:p>
            <a:r>
              <a:rPr lang="en-US"/>
              <a:t>20CYS 495 B.Tech CYS: 2022 - 2026 Project Presentation </a:t>
            </a:r>
            <a:endParaRPr lang="en-IN"/>
          </a:p>
        </p:txBody>
      </p:sp>
      <p:sp>
        <p:nvSpPr>
          <p:cNvPr id="9" name="TextBox 8">
            <a:extLst>
              <a:ext uri="{FF2B5EF4-FFF2-40B4-BE49-F238E27FC236}">
                <a16:creationId xmlns:a16="http://schemas.microsoft.com/office/drawing/2014/main" id="{3D9B3D6E-5644-09C6-A21D-46FCF0C051B4}"/>
              </a:ext>
            </a:extLst>
          </p:cNvPr>
          <p:cNvSpPr txBox="1"/>
          <p:nvPr/>
        </p:nvSpPr>
        <p:spPr>
          <a:xfrm>
            <a:off x="709863" y="804488"/>
            <a:ext cx="6097604" cy="369332"/>
          </a:xfrm>
          <a:prstGeom prst="rect">
            <a:avLst/>
          </a:prstGeom>
          <a:noFill/>
        </p:spPr>
        <p:txBody>
          <a:bodyPr wrap="square" lIns="91440" tIns="45720" rIns="91440" bIns="45720" anchor="t">
            <a:spAutoFit/>
          </a:bodyPr>
          <a:lstStyle/>
          <a:p>
            <a:r>
              <a:rPr lang="en-US" b="1">
                <a:latin typeface="Times New Roman"/>
                <a:cs typeface="Times New Roman"/>
              </a:rPr>
              <a:t>Technical Challenges and Mitigation Strategies </a:t>
            </a:r>
          </a:p>
        </p:txBody>
      </p:sp>
      <p:sp>
        <p:nvSpPr>
          <p:cNvPr id="3" name="TextBox 2">
            <a:extLst>
              <a:ext uri="{FF2B5EF4-FFF2-40B4-BE49-F238E27FC236}">
                <a16:creationId xmlns:a16="http://schemas.microsoft.com/office/drawing/2014/main" id="{1611D347-21E4-FE0A-778B-1A7F7AA03BF3}"/>
              </a:ext>
            </a:extLst>
          </p:cNvPr>
          <p:cNvSpPr txBox="1"/>
          <p:nvPr/>
        </p:nvSpPr>
        <p:spPr>
          <a:xfrm>
            <a:off x="824400" y="1346400"/>
            <a:ext cx="10387200"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b="1">
                <a:latin typeface="Times New Roman"/>
                <a:cs typeface="Times New Roman"/>
              </a:rPr>
              <a:t>Decoy Detection</a:t>
            </a:r>
            <a:r>
              <a:rPr lang="en-US">
                <a:latin typeface="Times New Roman"/>
                <a:cs typeface="Times New Roman"/>
              </a:rPr>
              <a:t>: </a:t>
            </a:r>
            <a:r>
              <a:rPr lang="en-US">
                <a:ea typeface="+mn-lt"/>
                <a:cs typeface="+mn-lt"/>
              </a:rPr>
              <a:t>Sophisticated attackers have in-depth knowledge of deception technologies and can often identify a fake environment</a:t>
            </a:r>
            <a:endParaRPr lang="en-US">
              <a:latin typeface="Calibri" panose="020F0502020204030204"/>
              <a:ea typeface="Calibri" panose="020F0502020204030204"/>
              <a:cs typeface="Calibri" panose="020F0502020204030204"/>
            </a:endParaRPr>
          </a:p>
          <a:p>
            <a:r>
              <a:rPr lang="en-US" i="1">
                <a:latin typeface="Times New Roman"/>
                <a:cs typeface="Times New Roman"/>
              </a:rPr>
              <a:t>  </a:t>
            </a:r>
            <a:r>
              <a:rPr lang="en-US" b="1" i="1">
                <a:latin typeface="Times New Roman"/>
                <a:cs typeface="Times New Roman"/>
              </a:rPr>
              <a:t>Mitigation:</a:t>
            </a:r>
            <a:r>
              <a:rPr lang="en-US">
                <a:latin typeface="Times New Roman"/>
                <a:cs typeface="Times New Roman"/>
              </a:rPr>
              <a:t> </a:t>
            </a:r>
            <a:r>
              <a:rPr lang="en-US">
                <a:ea typeface="+mn-lt"/>
                <a:cs typeface="+mn-lt"/>
              </a:rPr>
              <a:t>design and deploy a honeynet that replicates the entire operational mode of an organization,   not just a single fake machine</a:t>
            </a:r>
            <a:endParaRPr lang="en-US">
              <a:ea typeface="Calibri" panose="020F0502020204030204"/>
              <a:cs typeface="Calibri" panose="020F0502020204030204"/>
            </a:endParaRPr>
          </a:p>
          <a:p>
            <a:pPr marL="285750" indent="-285750">
              <a:buFont typeface="Arial"/>
              <a:buChar char="•"/>
            </a:pPr>
            <a:endParaRPr lang="en-US">
              <a:latin typeface="Times New Roman"/>
              <a:ea typeface="Calibri" panose="020F0502020204030204"/>
              <a:cs typeface="Calibri" panose="020F0502020204030204"/>
            </a:endParaRPr>
          </a:p>
          <a:p>
            <a:pPr marL="285750" indent="-285750">
              <a:buFont typeface="Arial"/>
              <a:buChar char="•"/>
            </a:pPr>
            <a:r>
              <a:rPr lang="en-US" b="1">
                <a:latin typeface="Times New Roman"/>
                <a:cs typeface="Times New Roman"/>
              </a:rPr>
              <a:t>False Positives</a:t>
            </a:r>
            <a:r>
              <a:rPr lang="en-US">
                <a:latin typeface="Times New Roman"/>
                <a:cs typeface="Times New Roman"/>
              </a:rPr>
              <a:t>: Alerts from normal scans</a:t>
            </a:r>
            <a:br>
              <a:rPr lang="en-US">
                <a:latin typeface="Times New Roman"/>
              </a:rPr>
            </a:br>
            <a:r>
              <a:rPr lang="en-US" b="1" i="1">
                <a:latin typeface="Times New Roman"/>
                <a:cs typeface="Times New Roman"/>
              </a:rPr>
              <a:t>Mitigation:</a:t>
            </a:r>
            <a:r>
              <a:rPr lang="en-US">
                <a:latin typeface="Times New Roman"/>
                <a:cs typeface="Times New Roman"/>
              </a:rPr>
              <a:t> </a:t>
            </a:r>
            <a:r>
              <a:rPr lang="en-US">
                <a:latin typeface="Calibri"/>
                <a:ea typeface="Calibri"/>
                <a:cs typeface="Times New Roman"/>
              </a:rPr>
              <a:t>R</a:t>
            </a:r>
            <a:r>
              <a:rPr lang="en-US">
                <a:latin typeface="Calibri"/>
                <a:ea typeface="Calibri"/>
                <a:cs typeface="Arial"/>
              </a:rPr>
              <a:t>efining alert rules and whitelisting legitimate processes," such as automatic OS updates and driver downloads that were triggering spurious notifications</a:t>
            </a:r>
            <a:br>
              <a:rPr lang="en-US">
                <a:latin typeface="Calibri"/>
                <a:cs typeface="Arial"/>
              </a:rPr>
            </a:br>
            <a:endParaRPr lang="en-US">
              <a:latin typeface="Arial"/>
              <a:ea typeface="Calibri"/>
              <a:cs typeface="Arial"/>
            </a:endParaRPr>
          </a:p>
          <a:p>
            <a:endParaRPr lang="en-US">
              <a:latin typeface="Times New Roman"/>
              <a:ea typeface="Calibri"/>
              <a:cs typeface="Calibri"/>
            </a:endParaRPr>
          </a:p>
          <a:p>
            <a:pPr marL="285750" indent="-285750">
              <a:buFont typeface="Arial"/>
              <a:buChar char="•"/>
            </a:pPr>
            <a:endParaRPr lang="en-US">
              <a:latin typeface="Times New Roman"/>
              <a:ea typeface="Calibri"/>
              <a:cs typeface="Times New Roman"/>
            </a:endParaRPr>
          </a:p>
        </p:txBody>
      </p:sp>
    </p:spTree>
    <p:extLst>
      <p:ext uri="{BB962C8B-B14F-4D97-AF65-F5344CB8AC3E}">
        <p14:creationId xmlns:p14="http://schemas.microsoft.com/office/powerpoint/2010/main" val="1601444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FE9374F-8DD8-4480-8590-778239D8B0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4" name="Straight Connector 3">
            <a:extLst>
              <a:ext uri="{FF2B5EF4-FFF2-40B4-BE49-F238E27FC236}">
                <a16:creationId xmlns:a16="http://schemas.microsoft.com/office/drawing/2014/main" id="{C86AE5E2-AE54-4C65-842F-C82D80DE5FE3}"/>
              </a:ext>
            </a:extLst>
          </p:cNvPr>
          <p:cNvCxnSpPr>
            <a:cxnSpLocks/>
          </p:cNvCxnSpPr>
          <p:nvPr/>
        </p:nvCxnSpPr>
        <p:spPr>
          <a:xfrm>
            <a:off x="1109709" y="594804"/>
            <a:ext cx="10235953" cy="0"/>
          </a:xfrm>
          <a:prstGeom prst="line">
            <a:avLst/>
          </a:prstGeom>
        </p:spPr>
        <p:style>
          <a:lnRef idx="3">
            <a:schemeClr val="dk1"/>
          </a:lnRef>
          <a:fillRef idx="0">
            <a:schemeClr val="dk1"/>
          </a:fillRef>
          <a:effectRef idx="2">
            <a:schemeClr val="dk1"/>
          </a:effectRef>
          <a:fontRef idx="minor">
            <a:schemeClr val="tx1"/>
          </a:fontRef>
        </p:style>
      </p:cxnSp>
      <p:cxnSp>
        <p:nvCxnSpPr>
          <p:cNvPr id="7" name="Straight Connector 6">
            <a:extLst>
              <a:ext uri="{FF2B5EF4-FFF2-40B4-BE49-F238E27FC236}">
                <a16:creationId xmlns:a16="http://schemas.microsoft.com/office/drawing/2014/main" id="{85230674-9C20-4A48-BEDB-3E71685A6837}"/>
              </a:ext>
            </a:extLst>
          </p:cNvPr>
          <p:cNvCxnSpPr/>
          <p:nvPr/>
        </p:nvCxnSpPr>
        <p:spPr>
          <a:xfrm>
            <a:off x="1038687" y="6462943"/>
            <a:ext cx="10369119" cy="0"/>
          </a:xfrm>
          <a:prstGeom prst="line">
            <a:avLst/>
          </a:prstGeom>
        </p:spPr>
        <p:style>
          <a:lnRef idx="3">
            <a:schemeClr val="dk1"/>
          </a:lnRef>
          <a:fillRef idx="0">
            <a:schemeClr val="dk1"/>
          </a:fillRef>
          <a:effectRef idx="2">
            <a:schemeClr val="dk1"/>
          </a:effectRef>
          <a:fontRef idx="minor">
            <a:schemeClr val="tx1"/>
          </a:fontRef>
        </p:style>
      </p:cxnSp>
      <p:sp>
        <p:nvSpPr>
          <p:cNvPr id="8" name="TextBox 7">
            <a:extLst>
              <a:ext uri="{FF2B5EF4-FFF2-40B4-BE49-F238E27FC236}">
                <a16:creationId xmlns:a16="http://schemas.microsoft.com/office/drawing/2014/main" id="{83B72D3C-7AEE-4C83-8156-6FCDFB64EDF4}"/>
              </a:ext>
            </a:extLst>
          </p:cNvPr>
          <p:cNvSpPr txBox="1"/>
          <p:nvPr/>
        </p:nvSpPr>
        <p:spPr>
          <a:xfrm>
            <a:off x="8788893" y="319596"/>
            <a:ext cx="2821413" cy="276999"/>
          </a:xfrm>
          <a:prstGeom prst="rect">
            <a:avLst/>
          </a:prstGeom>
          <a:noFill/>
        </p:spPr>
        <p:txBody>
          <a:bodyPr wrap="none" rtlCol="0">
            <a:spAutoFit/>
          </a:body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10" name="Date Placeholder 9">
            <a:extLst>
              <a:ext uri="{FF2B5EF4-FFF2-40B4-BE49-F238E27FC236}">
                <a16:creationId xmlns:a16="http://schemas.microsoft.com/office/drawing/2014/main" id="{05A0A882-B0D8-45B0-88B6-4D8C07400180}"/>
              </a:ext>
            </a:extLst>
          </p:cNvPr>
          <p:cNvSpPr>
            <a:spLocks noGrp="1"/>
          </p:cNvSpPr>
          <p:nvPr>
            <p:ph type="dt" sz="half" idx="10"/>
          </p:nvPr>
        </p:nvSpPr>
        <p:spPr>
          <a:xfrm>
            <a:off x="838200" y="6492875"/>
            <a:ext cx="2743200" cy="365125"/>
          </a:xfrm>
        </p:spPr>
        <p:txBody>
          <a:bodyPr/>
          <a:lstStyle/>
          <a:p>
            <a:fld id="{2168A277-951F-4687-AA14-8BEB30DD9865}" type="datetime1">
              <a:rPr lang="en-IN" smtClean="0"/>
              <a:t>22-07-2025</a:t>
            </a:fld>
            <a:endParaRPr lang="en-IN"/>
          </a:p>
        </p:txBody>
      </p:sp>
      <p:sp>
        <p:nvSpPr>
          <p:cNvPr id="11" name="Slide Number Placeholder 10">
            <a:extLst>
              <a:ext uri="{FF2B5EF4-FFF2-40B4-BE49-F238E27FC236}">
                <a16:creationId xmlns:a16="http://schemas.microsoft.com/office/drawing/2014/main" id="{D560B5BB-12C6-40D2-9763-B27B8ACDE663}"/>
              </a:ext>
            </a:extLst>
          </p:cNvPr>
          <p:cNvSpPr>
            <a:spLocks noGrp="1"/>
          </p:cNvSpPr>
          <p:nvPr>
            <p:ph type="sldNum" sz="quarter" idx="12"/>
          </p:nvPr>
        </p:nvSpPr>
        <p:spPr>
          <a:xfrm>
            <a:off x="8734887" y="6492875"/>
            <a:ext cx="2743200" cy="365125"/>
          </a:xfrm>
        </p:spPr>
        <p:txBody>
          <a:bodyPr/>
          <a:lstStyle/>
          <a:p>
            <a:fld id="{3C3E5B82-863A-4B66-9E4F-DCFAD2A3B854}" type="slidenum">
              <a:rPr lang="en-IN" smtClean="0"/>
              <a:t>20</a:t>
            </a:fld>
            <a:endParaRPr lang="en-IN"/>
          </a:p>
        </p:txBody>
      </p:sp>
      <p:sp>
        <p:nvSpPr>
          <p:cNvPr id="12" name="Footer Placeholder 11">
            <a:extLst>
              <a:ext uri="{FF2B5EF4-FFF2-40B4-BE49-F238E27FC236}">
                <a16:creationId xmlns:a16="http://schemas.microsoft.com/office/drawing/2014/main" id="{F6D4F79C-3FA2-494F-BB27-8CB7272816E9}"/>
              </a:ext>
            </a:extLst>
          </p:cNvPr>
          <p:cNvSpPr>
            <a:spLocks noGrp="1"/>
          </p:cNvSpPr>
          <p:nvPr>
            <p:ph type="ftr" sz="quarter" idx="11"/>
          </p:nvPr>
        </p:nvSpPr>
        <p:spPr>
          <a:xfrm>
            <a:off x="4038600" y="6492875"/>
            <a:ext cx="4114800" cy="365125"/>
          </a:xfrm>
        </p:spPr>
        <p:txBody>
          <a:bodyPr/>
          <a:lstStyle/>
          <a:p>
            <a:r>
              <a:rPr lang="en-US"/>
              <a:t>20CYS 495 B.Tech CYS: 2022 - 2026 Project Presentation </a:t>
            </a:r>
            <a:endParaRPr lang="en-IN"/>
          </a:p>
        </p:txBody>
      </p:sp>
      <p:sp>
        <p:nvSpPr>
          <p:cNvPr id="6" name="TextBox 5">
            <a:extLst>
              <a:ext uri="{FF2B5EF4-FFF2-40B4-BE49-F238E27FC236}">
                <a16:creationId xmlns:a16="http://schemas.microsoft.com/office/drawing/2014/main" id="{86677E3F-CB02-C891-0298-59E24A74E389}"/>
              </a:ext>
            </a:extLst>
          </p:cNvPr>
          <p:cNvSpPr txBox="1"/>
          <p:nvPr/>
        </p:nvSpPr>
        <p:spPr>
          <a:xfrm>
            <a:off x="680987" y="965553"/>
            <a:ext cx="6097604" cy="369332"/>
          </a:xfrm>
          <a:prstGeom prst="rect">
            <a:avLst/>
          </a:prstGeom>
          <a:noFill/>
        </p:spPr>
        <p:txBody>
          <a:bodyPr wrap="square" lIns="91440" tIns="45720" rIns="91440" bIns="45720" anchor="t">
            <a:spAutoFit/>
          </a:bodyPr>
          <a:lstStyle/>
          <a:p>
            <a:r>
              <a:rPr lang="en-US" b="1">
                <a:latin typeface="Times New Roman"/>
                <a:cs typeface="Times New Roman"/>
              </a:rPr>
              <a:t>Plan for the next 3 weeks</a:t>
            </a:r>
          </a:p>
        </p:txBody>
      </p:sp>
      <p:sp>
        <p:nvSpPr>
          <p:cNvPr id="3" name="TextBox 2">
            <a:extLst>
              <a:ext uri="{FF2B5EF4-FFF2-40B4-BE49-F238E27FC236}">
                <a16:creationId xmlns:a16="http://schemas.microsoft.com/office/drawing/2014/main" id="{A2EE28B3-D488-DC88-C9C0-168AC4FB9A5C}"/>
              </a:ext>
            </a:extLst>
          </p:cNvPr>
          <p:cNvSpPr txBox="1"/>
          <p:nvPr/>
        </p:nvSpPr>
        <p:spPr>
          <a:xfrm>
            <a:off x="812832" y="1344288"/>
            <a:ext cx="1078920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a:latin typeface="Times New Roman"/>
                <a:ea typeface="+mn-lt"/>
                <a:cs typeface="+mn-lt"/>
              </a:rPr>
              <a:t>Over the next three weeks, our team will focus on building the foundation for the project. We will begin by researching and selecting the specific technologies and tools for our environment, then set up the necessary virtual machines and network infrastructure. Finally, we will install the core software components like Splunk and our chosen attack simulation tools, ensuring everything is ready for the implementation phase.</a:t>
            </a:r>
            <a:endParaRPr lang="en-US">
              <a:latin typeface="Times New Roman"/>
              <a:ea typeface="Calibri" panose="020F0502020204030204"/>
              <a:cs typeface="Calibri" panose="020F0502020204030204"/>
            </a:endParaRPr>
          </a:p>
        </p:txBody>
      </p:sp>
      <p:sp>
        <p:nvSpPr>
          <p:cNvPr id="5" name="TextBox 4">
            <a:extLst>
              <a:ext uri="{FF2B5EF4-FFF2-40B4-BE49-F238E27FC236}">
                <a16:creationId xmlns:a16="http://schemas.microsoft.com/office/drawing/2014/main" id="{CCD99A26-4D5A-6B13-6DA1-89D166D044B9}"/>
              </a:ext>
            </a:extLst>
          </p:cNvPr>
          <p:cNvSpPr txBox="1"/>
          <p:nvPr/>
        </p:nvSpPr>
        <p:spPr>
          <a:xfrm>
            <a:off x="822536" y="2569414"/>
            <a:ext cx="3235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Times New Roman"/>
                <a:ea typeface="Calibri"/>
                <a:cs typeface="Calibri"/>
              </a:rPr>
              <a:t>Planned tasks</a:t>
            </a:r>
            <a:endParaRPr lang="en-US" b="1">
              <a:latin typeface="Times New Roman"/>
            </a:endParaRPr>
          </a:p>
        </p:txBody>
      </p:sp>
      <p:sp>
        <p:nvSpPr>
          <p:cNvPr id="9" name="TextBox 8">
            <a:extLst>
              <a:ext uri="{FF2B5EF4-FFF2-40B4-BE49-F238E27FC236}">
                <a16:creationId xmlns:a16="http://schemas.microsoft.com/office/drawing/2014/main" id="{3AF59FDB-B6CB-FD51-0920-3AEAEEF9E07A}"/>
              </a:ext>
            </a:extLst>
          </p:cNvPr>
          <p:cNvSpPr txBox="1"/>
          <p:nvPr/>
        </p:nvSpPr>
        <p:spPr>
          <a:xfrm>
            <a:off x="793707" y="2971560"/>
            <a:ext cx="11017200"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Sans-Serif"/>
              <a:buChar char="•"/>
            </a:pPr>
            <a:r>
              <a:rPr lang="en-US" b="1" err="1">
                <a:latin typeface="Times New Roman"/>
                <a:ea typeface="Calibri"/>
                <a:cs typeface="Calibri"/>
              </a:rPr>
              <a:t>Chitla</a:t>
            </a:r>
            <a:r>
              <a:rPr lang="en-US" b="1">
                <a:latin typeface="Times New Roman"/>
                <a:ea typeface="Calibri"/>
                <a:cs typeface="Calibri"/>
              </a:rPr>
              <a:t> Vyshali        </a:t>
            </a:r>
            <a:r>
              <a:rPr lang="en-US">
                <a:latin typeface="Times New Roman"/>
                <a:ea typeface="Calibri"/>
                <a:cs typeface="Calibri"/>
              </a:rPr>
              <a:t>- </a:t>
            </a:r>
            <a:r>
              <a:rPr lang="en-US">
                <a:latin typeface="Times New Roman"/>
                <a:ea typeface="+mn-lt"/>
                <a:cs typeface="+mn-lt"/>
              </a:rPr>
              <a:t>Research and compare at least two deception technology platforms and recommend one +  Literature Survey </a:t>
            </a:r>
            <a:endParaRPr lang="en-US">
              <a:latin typeface="Times New Roman"/>
              <a:ea typeface="Calibri"/>
              <a:cs typeface="Calibri"/>
            </a:endParaRPr>
          </a:p>
          <a:p>
            <a:endParaRPr lang="en-US">
              <a:latin typeface="Times New Roman"/>
              <a:ea typeface="Calibri"/>
              <a:cs typeface="Calibri"/>
            </a:endParaRPr>
          </a:p>
          <a:p>
            <a:pPr marL="285750" indent="-285750">
              <a:buFont typeface="Arial,Sans-Serif"/>
              <a:buChar char="•"/>
            </a:pPr>
            <a:r>
              <a:rPr lang="en-US" b="1">
                <a:latin typeface="Times New Roman"/>
                <a:ea typeface="Calibri"/>
                <a:cs typeface="Calibri"/>
              </a:rPr>
              <a:t>Dharshika               </a:t>
            </a:r>
            <a:r>
              <a:rPr lang="en-US">
                <a:latin typeface="Times New Roman"/>
                <a:ea typeface="Calibri"/>
                <a:cs typeface="Calibri"/>
              </a:rPr>
              <a:t>- </a:t>
            </a:r>
            <a:r>
              <a:rPr lang="en-US">
                <a:latin typeface="Times New Roman"/>
                <a:ea typeface="+mn-lt"/>
                <a:cs typeface="+mn-lt"/>
              </a:rPr>
              <a:t>Download the Splunk Enterprise trial</a:t>
            </a:r>
            <a:r>
              <a:rPr lang="en-US">
                <a:latin typeface="Times New Roman"/>
                <a:ea typeface="+mn-lt"/>
                <a:cs typeface="Times New Roman"/>
              </a:rPr>
              <a:t> + Literature Survey </a:t>
            </a:r>
          </a:p>
          <a:p>
            <a:r>
              <a:rPr lang="en-US">
                <a:latin typeface="Times New Roman"/>
                <a:ea typeface="+mn-lt"/>
                <a:cs typeface="+mn-lt"/>
              </a:rPr>
              <a:t>                                        Set up a dedicated VM placeholder for the Splunk installation.</a:t>
            </a:r>
          </a:p>
          <a:p>
            <a:endParaRPr lang="en-US">
              <a:latin typeface="Times New Roman"/>
              <a:ea typeface="Calibri"/>
              <a:cs typeface="Calibri"/>
            </a:endParaRPr>
          </a:p>
          <a:p>
            <a:pPr marL="285750" indent="-285750">
              <a:buFont typeface="Arial"/>
              <a:buChar char="•"/>
            </a:pPr>
            <a:r>
              <a:rPr lang="en-US" b="1" err="1">
                <a:latin typeface="Times New Roman"/>
                <a:ea typeface="Calibri"/>
                <a:cs typeface="Calibri"/>
              </a:rPr>
              <a:t>Thanuj</a:t>
            </a:r>
            <a:r>
              <a:rPr lang="en-US" b="1">
                <a:latin typeface="Times New Roman"/>
                <a:ea typeface="Calibri"/>
                <a:cs typeface="Calibri"/>
              </a:rPr>
              <a:t> R                 </a:t>
            </a:r>
            <a:r>
              <a:rPr lang="en-US">
                <a:latin typeface="Times New Roman"/>
                <a:ea typeface="Calibri"/>
                <a:cs typeface="Calibri"/>
              </a:rPr>
              <a:t>- </a:t>
            </a:r>
            <a:r>
              <a:rPr lang="en-US">
                <a:latin typeface="Times New Roman"/>
                <a:ea typeface="+mn-lt"/>
                <a:cs typeface="+mn-lt"/>
              </a:rPr>
              <a:t>Define the lab architecture and Research on </a:t>
            </a:r>
            <a:r>
              <a:rPr lang="en-US" err="1">
                <a:latin typeface="Times New Roman"/>
                <a:ea typeface="+mn-lt"/>
                <a:cs typeface="+mn-lt"/>
              </a:rPr>
              <a:t>Metasploitable</a:t>
            </a:r>
            <a:r>
              <a:rPr lang="en-US">
                <a:latin typeface="Times New Roman"/>
                <a:ea typeface="+mn-lt"/>
                <a:cs typeface="+mn-lt"/>
              </a:rPr>
              <a:t> tools </a:t>
            </a:r>
            <a:r>
              <a:rPr lang="en-US">
                <a:latin typeface="Times New Roman"/>
                <a:ea typeface="+mn-lt"/>
                <a:cs typeface="Times New Roman"/>
              </a:rPr>
              <a:t>+ Literature Survey </a:t>
            </a:r>
          </a:p>
          <a:p>
            <a:r>
              <a:rPr lang="en-US">
                <a:latin typeface="Times New Roman"/>
                <a:ea typeface="+mn-lt"/>
                <a:cs typeface="+mn-lt"/>
              </a:rPr>
              <a:t>                   </a:t>
            </a:r>
            <a:endParaRPr lang="en-US">
              <a:latin typeface="Times New Roman"/>
              <a:ea typeface="Calibri"/>
              <a:cs typeface="Calibri"/>
            </a:endParaRPr>
          </a:p>
          <a:p>
            <a:pPr marL="285750" indent="-285750">
              <a:buFont typeface="Arial"/>
              <a:buChar char="•"/>
            </a:pPr>
            <a:r>
              <a:rPr lang="en-US" b="1">
                <a:latin typeface="Times New Roman"/>
                <a:ea typeface="Calibri"/>
                <a:cs typeface="Calibri"/>
              </a:rPr>
              <a:t>M Anurag Reddy</a:t>
            </a:r>
            <a:r>
              <a:rPr lang="en-US">
                <a:latin typeface="Times New Roman"/>
                <a:ea typeface="Calibri"/>
                <a:cs typeface="Calibri"/>
              </a:rPr>
              <a:t>   - Research and compare at least two deception technology platforms and recommend one </a:t>
            </a:r>
            <a:r>
              <a:rPr lang="en-US">
                <a:latin typeface="Times New Roman"/>
                <a:ea typeface="Calibri"/>
                <a:cs typeface="Times New Roman"/>
              </a:rPr>
              <a:t>+          Literature Survey </a:t>
            </a:r>
          </a:p>
          <a:p>
            <a:endParaRPr lang="en-US">
              <a:latin typeface="Times New Roman"/>
              <a:ea typeface="Calibri"/>
              <a:cs typeface="Calibri"/>
            </a:endParaRPr>
          </a:p>
        </p:txBody>
      </p:sp>
    </p:spTree>
    <p:extLst>
      <p:ext uri="{BB962C8B-B14F-4D97-AF65-F5344CB8AC3E}">
        <p14:creationId xmlns:p14="http://schemas.microsoft.com/office/powerpoint/2010/main" val="16261976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3F5C5-5A90-B656-377A-767CA81773CE}"/>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E8F22B68-6255-44DA-93C3-90BD2A0AEC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4" name="Straight Connector 3">
            <a:extLst>
              <a:ext uri="{FF2B5EF4-FFF2-40B4-BE49-F238E27FC236}">
                <a16:creationId xmlns:a16="http://schemas.microsoft.com/office/drawing/2014/main" id="{9253D774-165D-6948-779A-978BFFA5C5FC}"/>
              </a:ext>
            </a:extLst>
          </p:cNvPr>
          <p:cNvCxnSpPr>
            <a:cxnSpLocks/>
          </p:cNvCxnSpPr>
          <p:nvPr/>
        </p:nvCxnSpPr>
        <p:spPr>
          <a:xfrm>
            <a:off x="1109709" y="594804"/>
            <a:ext cx="10235953" cy="0"/>
          </a:xfrm>
          <a:prstGeom prst="line">
            <a:avLst/>
          </a:prstGeom>
        </p:spPr>
        <p:style>
          <a:lnRef idx="3">
            <a:schemeClr val="dk1"/>
          </a:lnRef>
          <a:fillRef idx="0">
            <a:schemeClr val="dk1"/>
          </a:fillRef>
          <a:effectRef idx="2">
            <a:schemeClr val="dk1"/>
          </a:effectRef>
          <a:fontRef idx="minor">
            <a:schemeClr val="tx1"/>
          </a:fontRef>
        </p:style>
      </p:cxnSp>
      <p:cxnSp>
        <p:nvCxnSpPr>
          <p:cNvPr id="7" name="Straight Connector 6">
            <a:extLst>
              <a:ext uri="{FF2B5EF4-FFF2-40B4-BE49-F238E27FC236}">
                <a16:creationId xmlns:a16="http://schemas.microsoft.com/office/drawing/2014/main" id="{ED1C6C73-8B28-E83E-600A-5AF0A78BEF9B}"/>
              </a:ext>
            </a:extLst>
          </p:cNvPr>
          <p:cNvCxnSpPr/>
          <p:nvPr/>
        </p:nvCxnSpPr>
        <p:spPr>
          <a:xfrm>
            <a:off x="1038687" y="6462943"/>
            <a:ext cx="10369119" cy="0"/>
          </a:xfrm>
          <a:prstGeom prst="line">
            <a:avLst/>
          </a:prstGeom>
        </p:spPr>
        <p:style>
          <a:lnRef idx="3">
            <a:schemeClr val="dk1"/>
          </a:lnRef>
          <a:fillRef idx="0">
            <a:schemeClr val="dk1"/>
          </a:fillRef>
          <a:effectRef idx="2">
            <a:schemeClr val="dk1"/>
          </a:effectRef>
          <a:fontRef idx="minor">
            <a:schemeClr val="tx1"/>
          </a:fontRef>
        </p:style>
      </p:cxnSp>
      <p:sp>
        <p:nvSpPr>
          <p:cNvPr id="8" name="TextBox 7">
            <a:extLst>
              <a:ext uri="{FF2B5EF4-FFF2-40B4-BE49-F238E27FC236}">
                <a16:creationId xmlns:a16="http://schemas.microsoft.com/office/drawing/2014/main" id="{7298542B-8E78-6A5B-F36F-C8A65F72145E}"/>
              </a:ext>
            </a:extLst>
          </p:cNvPr>
          <p:cNvSpPr txBox="1"/>
          <p:nvPr/>
        </p:nvSpPr>
        <p:spPr>
          <a:xfrm>
            <a:off x="8788893" y="319596"/>
            <a:ext cx="2821413" cy="276999"/>
          </a:xfrm>
          <a:prstGeom prst="rect">
            <a:avLst/>
          </a:prstGeom>
          <a:noFill/>
        </p:spPr>
        <p:txBody>
          <a:bodyPr wrap="none" rtlCol="0">
            <a:spAutoFit/>
          </a:body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10" name="Date Placeholder 9">
            <a:extLst>
              <a:ext uri="{FF2B5EF4-FFF2-40B4-BE49-F238E27FC236}">
                <a16:creationId xmlns:a16="http://schemas.microsoft.com/office/drawing/2014/main" id="{0BF621EC-F410-E1C6-07E9-776BB843F38F}"/>
              </a:ext>
            </a:extLst>
          </p:cNvPr>
          <p:cNvSpPr>
            <a:spLocks noGrp="1"/>
          </p:cNvSpPr>
          <p:nvPr>
            <p:ph type="dt" sz="half" idx="10"/>
          </p:nvPr>
        </p:nvSpPr>
        <p:spPr>
          <a:xfrm>
            <a:off x="838200" y="6492875"/>
            <a:ext cx="2743200" cy="365125"/>
          </a:xfrm>
        </p:spPr>
        <p:txBody>
          <a:bodyPr/>
          <a:lstStyle/>
          <a:p>
            <a:fld id="{EA79F306-FA4D-4663-80D5-A7BEC3B1FE19}" type="datetime1">
              <a:rPr lang="en-IN" smtClean="0"/>
              <a:t>22-07-2025</a:t>
            </a:fld>
            <a:endParaRPr lang="en-IN"/>
          </a:p>
        </p:txBody>
      </p:sp>
      <p:sp>
        <p:nvSpPr>
          <p:cNvPr id="11" name="Slide Number Placeholder 10">
            <a:extLst>
              <a:ext uri="{FF2B5EF4-FFF2-40B4-BE49-F238E27FC236}">
                <a16:creationId xmlns:a16="http://schemas.microsoft.com/office/drawing/2014/main" id="{B973A5C4-EFC6-4FE2-0B3E-6CFD6DE36957}"/>
              </a:ext>
            </a:extLst>
          </p:cNvPr>
          <p:cNvSpPr>
            <a:spLocks noGrp="1"/>
          </p:cNvSpPr>
          <p:nvPr>
            <p:ph type="sldNum" sz="quarter" idx="12"/>
          </p:nvPr>
        </p:nvSpPr>
        <p:spPr>
          <a:xfrm>
            <a:off x="8734887" y="6492875"/>
            <a:ext cx="2743200" cy="365125"/>
          </a:xfrm>
        </p:spPr>
        <p:txBody>
          <a:bodyPr/>
          <a:lstStyle/>
          <a:p>
            <a:fld id="{3C3E5B82-863A-4B66-9E4F-DCFAD2A3B854}" type="slidenum">
              <a:rPr lang="en-IN" smtClean="0"/>
              <a:t>21</a:t>
            </a:fld>
            <a:endParaRPr lang="en-IN"/>
          </a:p>
        </p:txBody>
      </p:sp>
      <p:sp>
        <p:nvSpPr>
          <p:cNvPr id="12" name="Footer Placeholder 11">
            <a:extLst>
              <a:ext uri="{FF2B5EF4-FFF2-40B4-BE49-F238E27FC236}">
                <a16:creationId xmlns:a16="http://schemas.microsoft.com/office/drawing/2014/main" id="{E88C0235-9C1E-BDEE-388A-AC0484330002}"/>
              </a:ext>
            </a:extLst>
          </p:cNvPr>
          <p:cNvSpPr>
            <a:spLocks noGrp="1"/>
          </p:cNvSpPr>
          <p:nvPr>
            <p:ph type="ftr" sz="quarter" idx="11"/>
          </p:nvPr>
        </p:nvSpPr>
        <p:spPr>
          <a:xfrm>
            <a:off x="4038600" y="6492875"/>
            <a:ext cx="4114800" cy="365125"/>
          </a:xfrm>
        </p:spPr>
        <p:txBody>
          <a:bodyPr/>
          <a:lstStyle/>
          <a:p>
            <a:r>
              <a:rPr lang="en-US"/>
              <a:t>20CYS 495 B.Tech CYS: 2022 - 2026 Project Presentation </a:t>
            </a:r>
            <a:endParaRPr lang="en-IN"/>
          </a:p>
        </p:txBody>
      </p:sp>
      <p:sp>
        <p:nvSpPr>
          <p:cNvPr id="6" name="TextBox 5">
            <a:extLst>
              <a:ext uri="{FF2B5EF4-FFF2-40B4-BE49-F238E27FC236}">
                <a16:creationId xmlns:a16="http://schemas.microsoft.com/office/drawing/2014/main" id="{66A77C23-C41C-A46C-9AD5-19D6FD1D7495}"/>
              </a:ext>
            </a:extLst>
          </p:cNvPr>
          <p:cNvSpPr txBox="1"/>
          <p:nvPr/>
        </p:nvSpPr>
        <p:spPr>
          <a:xfrm>
            <a:off x="738738" y="975891"/>
            <a:ext cx="6097604" cy="400110"/>
          </a:xfrm>
          <a:prstGeom prst="rect">
            <a:avLst/>
          </a:prstGeom>
          <a:noFill/>
        </p:spPr>
        <p:txBody>
          <a:bodyPr wrap="square">
            <a:spAutoFit/>
          </a:bodyPr>
          <a:lstStyle/>
          <a:p>
            <a:r>
              <a:rPr lang="en-US" sz="2000" b="1"/>
              <a:t>References</a:t>
            </a:r>
            <a:r>
              <a:rPr lang="en-US" b="1"/>
              <a:t> </a:t>
            </a:r>
          </a:p>
        </p:txBody>
      </p:sp>
      <p:sp>
        <p:nvSpPr>
          <p:cNvPr id="3" name="TextBox 2">
            <a:extLst>
              <a:ext uri="{FF2B5EF4-FFF2-40B4-BE49-F238E27FC236}">
                <a16:creationId xmlns:a16="http://schemas.microsoft.com/office/drawing/2014/main" id="{19C7D587-3A79-376A-85C4-48442145D9FE}"/>
              </a:ext>
            </a:extLst>
          </p:cNvPr>
          <p:cNvSpPr txBox="1"/>
          <p:nvPr/>
        </p:nvSpPr>
        <p:spPr>
          <a:xfrm>
            <a:off x="1555542" y="1714158"/>
            <a:ext cx="9541025" cy="3631763"/>
          </a:xfrm>
          <a:prstGeom prst="rect">
            <a:avLst/>
          </a:prstGeom>
          <a:noFill/>
        </p:spPr>
        <p:txBody>
          <a:bodyPr wrap="square" lIns="91440" tIns="45720" rIns="91440" bIns="45720" rtlCol="0" anchor="t">
            <a:spAutoFit/>
          </a:bodyPr>
          <a:lstStyle/>
          <a:p>
            <a:r>
              <a:rPr lang="en-US" b="1"/>
              <a:t>Literature Survey :</a:t>
            </a:r>
          </a:p>
          <a:p>
            <a:endParaRPr lang="en-US" b="1"/>
          </a:p>
          <a:p>
            <a:pPr marL="285750" indent="-285750">
              <a:buFont typeface="Arial" panose="020B0604020202020204" pitchFamily="34" charset="0"/>
              <a:buChar char="•"/>
            </a:pPr>
            <a:r>
              <a:rPr lang="en-US" b="0" i="0" err="1">
                <a:solidFill>
                  <a:srgbClr val="222222"/>
                </a:solidFill>
                <a:effectLst/>
                <a:latin typeface="Times New Roman"/>
                <a:cs typeface="Arial"/>
              </a:rPr>
              <a:t>Harikrishnan</a:t>
            </a:r>
            <a:r>
              <a:rPr lang="en-US" b="0" i="0">
                <a:solidFill>
                  <a:srgbClr val="222222"/>
                </a:solidFill>
                <a:effectLst/>
                <a:latin typeface="Times New Roman"/>
                <a:cs typeface="Arial"/>
              </a:rPr>
              <a:t>, V. N., &amp; Kumar, G. T. (2018). Advanced persistent threat analysis using Splunk. </a:t>
            </a:r>
            <a:r>
              <a:rPr lang="en-US" b="0" i="1">
                <a:solidFill>
                  <a:srgbClr val="222222"/>
                </a:solidFill>
                <a:effectLst/>
                <a:latin typeface="Times New Roman"/>
                <a:cs typeface="Arial"/>
              </a:rPr>
              <a:t>International Journal of Pure and Applied Mathematics</a:t>
            </a:r>
            <a:r>
              <a:rPr lang="en-US" b="0" i="0">
                <a:solidFill>
                  <a:srgbClr val="222222"/>
                </a:solidFill>
                <a:effectLst/>
                <a:latin typeface="Times New Roman"/>
                <a:cs typeface="Arial"/>
              </a:rPr>
              <a:t>, </a:t>
            </a:r>
            <a:r>
              <a:rPr lang="en-US" b="0" i="1">
                <a:solidFill>
                  <a:srgbClr val="222222"/>
                </a:solidFill>
                <a:effectLst/>
                <a:latin typeface="Times New Roman"/>
                <a:cs typeface="Arial"/>
              </a:rPr>
              <a:t>118</a:t>
            </a:r>
            <a:r>
              <a:rPr lang="en-US" b="0" i="0">
                <a:solidFill>
                  <a:srgbClr val="222222"/>
                </a:solidFill>
                <a:effectLst/>
                <a:latin typeface="Times New Roman"/>
                <a:cs typeface="Arial"/>
              </a:rPr>
              <a:t>(20), 3761-3768.</a:t>
            </a:r>
          </a:p>
          <a:p>
            <a:pPr marL="285750" indent="-285750">
              <a:buFont typeface="Arial" panose="020B0604020202020204" pitchFamily="34" charset="0"/>
              <a:buChar char="•"/>
            </a:pPr>
            <a:endParaRPr lang="en-US">
              <a:solidFill>
                <a:srgbClr val="222222"/>
              </a:solidFill>
              <a:latin typeface="Times New Roman"/>
              <a:cs typeface="Arial"/>
            </a:endParaRPr>
          </a:p>
          <a:p>
            <a:pPr marL="285750" indent="-285750">
              <a:buFont typeface="Arial" panose="020B0604020202020204" pitchFamily="34" charset="0"/>
              <a:buChar char="•"/>
            </a:pPr>
            <a:r>
              <a:rPr lang="en-US">
                <a:solidFill>
                  <a:srgbClr val="000000"/>
                </a:solidFill>
                <a:latin typeface="Times New Roman"/>
                <a:cs typeface="Times New Roman"/>
              </a:rPr>
              <a:t>Putrevu, V. S. C., Mukhopadhyay, S., Manna, S., Rani, N., Vaid, A., Chunduri, H., Putrevu, M. A., &amp; Shukla, S. (2024). ADAPT: Adaptive camouflage based deception orchestration for trapping advanced persistent threats. </a:t>
            </a:r>
            <a:r>
              <a:rPr lang="en-US" i="1">
                <a:solidFill>
                  <a:srgbClr val="000000"/>
                </a:solidFill>
                <a:latin typeface="Times New Roman"/>
                <a:cs typeface="Times New Roman"/>
              </a:rPr>
              <a:t>Digital Threats Research and Practice</a:t>
            </a:r>
            <a:r>
              <a:rPr lang="en-US">
                <a:solidFill>
                  <a:srgbClr val="000000"/>
                </a:solidFill>
                <a:latin typeface="Times New Roman"/>
                <a:cs typeface="Times New Roman"/>
              </a:rPr>
              <a:t>, </a:t>
            </a:r>
            <a:r>
              <a:rPr lang="en-US" i="1">
                <a:solidFill>
                  <a:srgbClr val="000000"/>
                </a:solidFill>
                <a:latin typeface="Times New Roman"/>
                <a:cs typeface="Times New Roman"/>
              </a:rPr>
              <a:t>5</a:t>
            </a:r>
            <a:r>
              <a:rPr lang="en-US">
                <a:solidFill>
                  <a:srgbClr val="000000"/>
                </a:solidFill>
                <a:latin typeface="Times New Roman"/>
                <a:cs typeface="Times New Roman"/>
              </a:rPr>
              <a:t>(3), 1–35. </a:t>
            </a:r>
            <a:r>
              <a:rPr lang="en-US">
                <a:solidFill>
                  <a:srgbClr val="222222"/>
                </a:solidFill>
                <a:latin typeface="Times New Roman"/>
                <a:cs typeface="Times New Roman"/>
                <a:hlinkClick r:id="rId3"/>
              </a:rPr>
              <a:t>https://doi.org/10.1145/3651991</a:t>
            </a:r>
            <a:endParaRPr lang="en-US">
              <a:solidFill>
                <a:srgbClr val="222222"/>
              </a:solidFill>
              <a:latin typeface="Arial"/>
              <a:cs typeface="Arial"/>
            </a:endParaRPr>
          </a:p>
          <a:p>
            <a:pPr marL="285750" indent="-285750">
              <a:buFont typeface="Arial" panose="020B0604020202020204" pitchFamily="34" charset="0"/>
              <a:buChar char="•"/>
            </a:pPr>
            <a:endParaRPr lang="en-US" sz="1600">
              <a:solidFill>
                <a:srgbClr val="222222"/>
              </a:solidFill>
              <a:latin typeface="Times New Roman"/>
              <a:ea typeface="Calibri" panose="020F0502020204030204"/>
              <a:cs typeface="Times New Roman"/>
            </a:endParaRPr>
          </a:p>
          <a:p>
            <a:pPr marL="285750" indent="-285750">
              <a:buFont typeface="Arial" panose="020B0604020202020204" pitchFamily="34" charset="0"/>
              <a:buChar char="•"/>
            </a:pPr>
            <a:r>
              <a:rPr lang="en-US" b="1">
                <a:solidFill>
                  <a:srgbClr val="222222"/>
                </a:solidFill>
                <a:latin typeface="Calibri"/>
                <a:ea typeface="Calibri" panose="020F0502020204030204"/>
                <a:cs typeface="Calibri"/>
                <a:hlinkClick r:id="rId4">
                  <a:extLst>
                    <a:ext uri="{A12FA001-AC4F-418D-AE19-62706E023703}">
                      <ahyp:hlinkClr xmlns:ahyp="http://schemas.microsoft.com/office/drawing/2018/hyperlinkcolor" val="tx"/>
                    </a:ext>
                  </a:extLst>
                </a:hlinkClick>
              </a:rPr>
              <a:t>https://fidelissecurity.com/cybersecurity-101/deception/honeypot-vs-deception/</a:t>
            </a:r>
            <a:endParaRPr lang="en-US">
              <a:solidFill>
                <a:srgbClr val="000000"/>
              </a:solidFill>
              <a:latin typeface="Calibri"/>
              <a:ea typeface="Calibri" panose="020F0502020204030204"/>
              <a:cs typeface="Calibri"/>
            </a:endParaRPr>
          </a:p>
          <a:p>
            <a:pPr marL="285750" indent="-285750">
              <a:buFont typeface="Arial" panose="020B0604020202020204" pitchFamily="34" charset="0"/>
              <a:buChar char="•"/>
            </a:pPr>
            <a:endParaRPr lang="en-US" sz="1600">
              <a:solidFill>
                <a:srgbClr val="222222"/>
              </a:solidFill>
              <a:latin typeface="Times New Roman"/>
              <a:ea typeface="Calibri" panose="020F0502020204030204"/>
              <a:cs typeface="Times New Roman"/>
            </a:endParaRPr>
          </a:p>
          <a:p>
            <a:pPr marL="285750" indent="-285750">
              <a:buFont typeface="Arial" panose="020B0604020202020204" pitchFamily="34" charset="0"/>
              <a:buChar char="•"/>
            </a:pPr>
            <a:endParaRPr lang="en-US">
              <a:ea typeface="Calibri" panose="020F0502020204030204"/>
              <a:cs typeface="Calibri" panose="020F0502020204030204"/>
            </a:endParaRPr>
          </a:p>
        </p:txBody>
      </p:sp>
    </p:spTree>
    <p:extLst>
      <p:ext uri="{BB962C8B-B14F-4D97-AF65-F5344CB8AC3E}">
        <p14:creationId xmlns:p14="http://schemas.microsoft.com/office/powerpoint/2010/main" val="13851228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21</Slides>
  <Notes>0</Notes>
  <HiddenSlides>1</HiddenSlide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Sreejith K - [CB.EN.D*CSE19017-FT], Amrita Vishwa Vidyapeetham.</dc:creator>
  <cp:revision>14</cp:revision>
  <dcterms:created xsi:type="dcterms:W3CDTF">2024-07-06T04:59:43Z</dcterms:created>
  <dcterms:modified xsi:type="dcterms:W3CDTF">2025-07-23T04:27:48Z</dcterms:modified>
</cp:coreProperties>
</file>