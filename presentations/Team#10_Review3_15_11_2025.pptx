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5"/>
  </p:notesMasterIdLst>
  <p:sldIdLst>
    <p:sldId id="258" r:id="rId2"/>
    <p:sldId id="256" r:id="rId3"/>
    <p:sldId id="257" r:id="rId4"/>
    <p:sldId id="259" r:id="rId5"/>
    <p:sldId id="263" r:id="rId6"/>
    <p:sldId id="264" r:id="rId7"/>
    <p:sldId id="266" r:id="rId8"/>
    <p:sldId id="260" r:id="rId9"/>
    <p:sldId id="261" r:id="rId10"/>
    <p:sldId id="262" r:id="rId11"/>
    <p:sldId id="267" r:id="rId12"/>
    <p:sldId id="281" r:id="rId13"/>
    <p:sldId id="280" r:id="rId14"/>
    <p:sldId id="277" r:id="rId15"/>
    <p:sldId id="278" r:id="rId16"/>
    <p:sldId id="279" r:id="rId17"/>
    <p:sldId id="269" r:id="rId18"/>
    <p:sldId id="285" r:id="rId19"/>
    <p:sldId id="286" r:id="rId20"/>
    <p:sldId id="288" r:id="rId21"/>
    <p:sldId id="270" r:id="rId22"/>
    <p:sldId id="290" r:id="rId23"/>
    <p:sldId id="268" r:id="rId24"/>
    <p:sldId id="287" r:id="rId25"/>
    <p:sldId id="289" r:id="rId26"/>
    <p:sldId id="291" r:id="rId27"/>
    <p:sldId id="271" r:id="rId28"/>
    <p:sldId id="272" r:id="rId29"/>
    <p:sldId id="274" r:id="rId30"/>
    <p:sldId id="282" r:id="rId31"/>
    <p:sldId id="283" r:id="rId32"/>
    <p:sldId id="273" r:id="rId33"/>
    <p:sldId id="284"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57453CA-D3E9-619E-5583-760DC367470D}" v="4" dt="2025-11-14T09:48:43.395"/>
    <p1510:client id="{257388E9-F8B6-2978-6ABF-05950BDB7B6C}" v="732" dt="2025-11-14T09:20:45.055"/>
    <p1510:client id="{3D2A9917-DA4D-354D-85EA-242BDA04C62F}" v="39" dt="2025-11-14T16:33:06.873"/>
    <p1510:client id="{41CA810F-FCB8-FE85-2D83-22D4CBBFBAA6}" v="18" dt="2025-11-14T10:12:02.513"/>
    <p1510:client id="{498F77FC-CC93-5E61-BCE8-42C51E096BFD}" v="489" dt="2025-11-14T14:15:11.006"/>
    <p1510:client id="{49B0A48E-8EA8-5878-78C9-437E883CDE1E}" v="437" dt="2025-11-14T14:38:22.694"/>
    <p1510:client id="{6FCB1B30-2198-3F07-3AEC-5B74EFCA2F6D}" v="40" dt="2025-11-14T05:51:09.358"/>
    <p1510:client id="{77BDE0ED-561C-917F-4A4B-85FDD9F0DE3F}" v="253" dt="2025-11-14T14:57:56.569"/>
    <p1510:client id="{819C91ED-A246-69AC-EA17-7B4DD7967B31}" v="21" dt="2025-11-14T10:41:25.928"/>
    <p1510:client id="{8F4AAEBE-2C96-6B11-44F7-03F939ADCC36}" v="119" dt="2025-11-14T15:30:49.072"/>
    <p1510:client id="{A0AE1D96-42F4-551F-18AC-22D8051A4ECB}" v="362" dt="2025-11-14T09:45:19.441"/>
    <p1510:client id="{DC58AC55-892F-FF1C-87C4-B923ECF5C6C9}" v="6" dt="2025-11-14T14:35:36.943"/>
    <p1510:client id="{FFF771BA-2FE5-808D-9C10-28894FD1EA78}" v="21" dt="2025-11-14T13:25:58.26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631EA7E-E242-46F9-82F3-3B1BAB7C8AF5}" type="datetimeFigureOut">
              <a:rPr lang="en-US" smtClean="0"/>
              <a:t>11/14/2025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A2EF8E3-9701-4280-B563-94479F13CC68}" type="slidenum">
              <a:rPr lang="en-US" smtClean="0"/>
              <a:t>‹#›</a:t>
            </a:fld>
            <a:endParaRPr lang="en-US"/>
          </a:p>
        </p:txBody>
      </p:sp>
    </p:spTree>
    <p:extLst>
      <p:ext uri="{BB962C8B-B14F-4D97-AF65-F5344CB8AC3E}">
        <p14:creationId xmlns:p14="http://schemas.microsoft.com/office/powerpoint/2010/main" val="35236056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A2EF8E3-9701-4280-B563-94479F13CC68}" type="slidenum">
              <a:rPr lang="en-US" smtClean="0"/>
              <a:t>30</a:t>
            </a:fld>
            <a:endParaRPr lang="en-US"/>
          </a:p>
        </p:txBody>
      </p:sp>
    </p:spTree>
    <p:extLst>
      <p:ext uri="{BB962C8B-B14F-4D97-AF65-F5344CB8AC3E}">
        <p14:creationId xmlns:p14="http://schemas.microsoft.com/office/powerpoint/2010/main" val="42668451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625B82-D8B2-47E2-7487-75B66A480C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E0ABDB-0D61-D5D2-6BB4-F60B2B95B7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6C2086-D621-E45A-5CC9-D72D7E9695F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1BAA00A-AB02-C855-6B0E-48AD0B9FA6D6}"/>
              </a:ext>
            </a:extLst>
          </p:cNvPr>
          <p:cNvSpPr>
            <a:spLocks noGrp="1"/>
          </p:cNvSpPr>
          <p:nvPr>
            <p:ph type="sldNum" sz="quarter" idx="5"/>
          </p:nvPr>
        </p:nvSpPr>
        <p:spPr/>
        <p:txBody>
          <a:bodyPr/>
          <a:lstStyle/>
          <a:p>
            <a:fld id="{2A2EF8E3-9701-4280-B563-94479F13CC68}" type="slidenum">
              <a:rPr lang="en-US" smtClean="0"/>
              <a:t>31</a:t>
            </a:fld>
            <a:endParaRPr lang="en-US"/>
          </a:p>
        </p:txBody>
      </p:sp>
    </p:spTree>
    <p:extLst>
      <p:ext uri="{BB962C8B-B14F-4D97-AF65-F5344CB8AC3E}">
        <p14:creationId xmlns:p14="http://schemas.microsoft.com/office/powerpoint/2010/main" val="42903450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39FA4-D763-B07F-AF94-494E6623EF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6CE139-7852-E7D6-F14A-6183176164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BE6EA4-1FEA-BB2E-9517-D15EDDE736D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C850D9B-952D-9995-113C-16D5A25E7D02}"/>
              </a:ext>
            </a:extLst>
          </p:cNvPr>
          <p:cNvSpPr>
            <a:spLocks noGrp="1"/>
          </p:cNvSpPr>
          <p:nvPr>
            <p:ph type="sldNum" sz="quarter" idx="5"/>
          </p:nvPr>
        </p:nvSpPr>
        <p:spPr/>
        <p:txBody>
          <a:bodyPr/>
          <a:lstStyle/>
          <a:p>
            <a:fld id="{2A2EF8E3-9701-4280-B563-94479F13CC68}" type="slidenum">
              <a:rPr lang="en-US" smtClean="0"/>
              <a:t>32</a:t>
            </a:fld>
            <a:endParaRPr lang="en-US"/>
          </a:p>
        </p:txBody>
      </p:sp>
    </p:spTree>
    <p:extLst>
      <p:ext uri="{BB962C8B-B14F-4D97-AF65-F5344CB8AC3E}">
        <p14:creationId xmlns:p14="http://schemas.microsoft.com/office/powerpoint/2010/main" val="2162198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A2EF8E3-9701-4280-B563-94479F13CC68}" type="slidenum">
              <a:rPr lang="en-US" smtClean="0"/>
              <a:t>33</a:t>
            </a:fld>
            <a:endParaRPr lang="en-US"/>
          </a:p>
        </p:txBody>
      </p:sp>
    </p:spTree>
    <p:extLst>
      <p:ext uri="{BB962C8B-B14F-4D97-AF65-F5344CB8AC3E}">
        <p14:creationId xmlns:p14="http://schemas.microsoft.com/office/powerpoint/2010/main" val="7668714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C16F5-D658-D50E-2217-8F007F6A56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474A96-9734-C609-226A-9AE2A6AB97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B0CF46-7CC1-EC8E-1CE4-4DB3530D8F1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49EF352-9648-6E45-2A6E-FCF48F6B1BF5}"/>
              </a:ext>
            </a:extLst>
          </p:cNvPr>
          <p:cNvSpPr>
            <a:spLocks noGrp="1"/>
          </p:cNvSpPr>
          <p:nvPr>
            <p:ph type="sldNum" sz="quarter" idx="5"/>
          </p:nvPr>
        </p:nvSpPr>
        <p:spPr/>
        <p:txBody>
          <a:bodyPr/>
          <a:lstStyle/>
          <a:p>
            <a:fld id="{2A2EF8E3-9701-4280-B563-94479F13CC68}" type="slidenum">
              <a:rPr lang="en-US" smtClean="0"/>
              <a:t>34</a:t>
            </a:fld>
            <a:endParaRPr lang="en-US"/>
          </a:p>
        </p:txBody>
      </p:sp>
    </p:spTree>
    <p:extLst>
      <p:ext uri="{BB962C8B-B14F-4D97-AF65-F5344CB8AC3E}">
        <p14:creationId xmlns:p14="http://schemas.microsoft.com/office/powerpoint/2010/main" val="14085390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11/14/2025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11/14/2025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11/14/2025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11/14/2025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11/14/2025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11/14/2025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hyperlink" Target="https://doi.org/10.1145/3651991" TargetMode="External"/><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hyperlink" Target="https://www.kali.org/docs/" TargetMode="External"/><Relationship Id="rId5" Type="http://schemas.openxmlformats.org/officeDocument/2006/relationships/hyperlink" Target="https://github.com/telekom-security/tpotce" TargetMode="External"/><Relationship Id="rId4" Type="http://schemas.openxmlformats.org/officeDocument/2006/relationships/hyperlink" Target="https://attack.mitre.org2/" TargetMode="Externa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FE9374F-8DD8-4480-8590-778239D8B0D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1663" y="79092"/>
            <a:ext cx="1740919" cy="402801"/>
          </a:xfrm>
          <a:prstGeom prst="rect">
            <a:avLst/>
          </a:prstGeom>
        </p:spPr>
      </p:pic>
      <p:cxnSp>
        <p:nvCxnSpPr>
          <p:cNvPr id="5" name="Straight Connector 4">
            <a:extLst>
              <a:ext uri="{FF2B5EF4-FFF2-40B4-BE49-F238E27FC236}">
                <a16:creationId xmlns:a16="http://schemas.microsoft.com/office/drawing/2014/main" id="{C86AE5E2-AE54-4C65-842F-C82D80DE5FE3}"/>
              </a:ext>
            </a:extLst>
          </p:cNvPr>
          <p:cNvCxnSpPr>
            <a:cxnSpLocks/>
          </p:cNvCxnSpPr>
          <p:nvPr/>
        </p:nvCxnSpPr>
        <p:spPr>
          <a:xfrm>
            <a:off x="1109709" y="594804"/>
            <a:ext cx="10235953" cy="0"/>
          </a:xfrm>
          <a:prstGeom prst="line">
            <a:avLst/>
          </a:prstGeom>
        </p:spPr>
        <p:style>
          <a:lnRef idx="3">
            <a:schemeClr val="dk1"/>
          </a:lnRef>
          <a:fillRef idx="0">
            <a:schemeClr val="dk1"/>
          </a:fillRef>
          <a:effectRef idx="2">
            <a:schemeClr val="dk1"/>
          </a:effectRef>
          <a:fontRef idx="minor">
            <a:schemeClr val="tx1"/>
          </a:fontRef>
        </p:style>
      </p:cxnSp>
      <p:cxnSp>
        <p:nvCxnSpPr>
          <p:cNvPr id="6" name="Straight Connector 5">
            <a:extLst>
              <a:ext uri="{FF2B5EF4-FFF2-40B4-BE49-F238E27FC236}">
                <a16:creationId xmlns:a16="http://schemas.microsoft.com/office/drawing/2014/main" id="{85230674-9C20-4A48-BEDB-3E71685A6837}"/>
              </a:ext>
            </a:extLst>
          </p:cNvPr>
          <p:cNvCxnSpPr/>
          <p:nvPr/>
        </p:nvCxnSpPr>
        <p:spPr>
          <a:xfrm>
            <a:off x="1038687" y="6462943"/>
            <a:ext cx="10369119" cy="0"/>
          </a:xfrm>
          <a:prstGeom prst="line">
            <a:avLst/>
          </a:prstGeom>
        </p:spPr>
        <p:style>
          <a:lnRef idx="3">
            <a:schemeClr val="dk1"/>
          </a:lnRef>
          <a:fillRef idx="0">
            <a:schemeClr val="dk1"/>
          </a:fillRef>
          <a:effectRef idx="2">
            <a:schemeClr val="dk1"/>
          </a:effectRef>
          <a:fontRef idx="minor">
            <a:schemeClr val="tx1"/>
          </a:fontRef>
        </p:style>
      </p:cxnSp>
      <p:sp>
        <p:nvSpPr>
          <p:cNvPr id="7" name="TextBox 7">
            <a:extLst>
              <a:ext uri="{FF2B5EF4-FFF2-40B4-BE49-F238E27FC236}">
                <a16:creationId xmlns:a16="http://schemas.microsoft.com/office/drawing/2014/main" id="{83B72D3C-7AEE-4C83-8156-6FCDFB64EDF4}"/>
              </a:ext>
            </a:extLst>
          </p:cNvPr>
          <p:cNvSpPr txBox="1"/>
          <p:nvPr/>
        </p:nvSpPr>
        <p:spPr>
          <a:xfrm>
            <a:off x="8788893" y="319596"/>
            <a:ext cx="2821413" cy="276999"/>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1">
                <a:latin typeface="Times New Roman" panose="02020603050405020304" pitchFamily="18" charset="0"/>
                <a:cs typeface="Times New Roman" panose="02020603050405020304" pitchFamily="18" charset="0"/>
              </a:rPr>
              <a:t>TIFAC – CORE in CYBER SECURITY</a:t>
            </a:r>
            <a:endParaRPr lang="en-IN" sz="1200" b="1">
              <a:latin typeface="Times New Roman" panose="02020603050405020304" pitchFamily="18" charset="0"/>
              <a:cs typeface="Times New Roman" panose="02020603050405020304" pitchFamily="18" charset="0"/>
            </a:endParaRPr>
          </a:p>
        </p:txBody>
      </p:sp>
      <p:sp>
        <p:nvSpPr>
          <p:cNvPr id="8" name="Slide Number Placeholder 10">
            <a:extLst>
              <a:ext uri="{FF2B5EF4-FFF2-40B4-BE49-F238E27FC236}">
                <a16:creationId xmlns:a16="http://schemas.microsoft.com/office/drawing/2014/main" id="{D560B5BB-12C6-40D2-9763-B27B8ACDE663}"/>
              </a:ext>
            </a:extLst>
          </p:cNvPr>
          <p:cNvSpPr>
            <a:spLocks noGrp="1"/>
          </p:cNvSpPr>
          <p:nvPr/>
        </p:nvSpPr>
        <p:spPr>
          <a:xfrm>
            <a:off x="8734887"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1</a:t>
            </a:r>
          </a:p>
        </p:txBody>
      </p:sp>
      <p:sp>
        <p:nvSpPr>
          <p:cNvPr id="9" name="Footer Placeholder 11">
            <a:extLst>
              <a:ext uri="{FF2B5EF4-FFF2-40B4-BE49-F238E27FC236}">
                <a16:creationId xmlns:a16="http://schemas.microsoft.com/office/drawing/2014/main" id="{F6D4F79C-3FA2-494F-BB27-8CB7272816E9}"/>
              </a:ext>
            </a:extLst>
          </p:cNvPr>
          <p:cNvSpPr>
            <a:spLocks noGrp="1"/>
          </p:cNvSpPr>
          <p:nvPr/>
        </p:nvSpPr>
        <p:spPr>
          <a:xfrm>
            <a:off x="4038600" y="64928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20CYS 495 B.Tech CYS: 2022 - 2026 Project Presentation </a:t>
            </a:r>
            <a:endParaRPr lang="en-IN"/>
          </a:p>
        </p:txBody>
      </p:sp>
      <p:sp>
        <p:nvSpPr>
          <p:cNvPr id="10" name="TextBox 13">
            <a:extLst>
              <a:ext uri="{FF2B5EF4-FFF2-40B4-BE49-F238E27FC236}">
                <a16:creationId xmlns:a16="http://schemas.microsoft.com/office/drawing/2014/main" id="{64F53EF8-BADD-4AF0-8A0C-E59673CC7D69}"/>
              </a:ext>
            </a:extLst>
          </p:cNvPr>
          <p:cNvSpPr txBox="1"/>
          <p:nvPr/>
        </p:nvSpPr>
        <p:spPr>
          <a:xfrm>
            <a:off x="3339942" y="970779"/>
            <a:ext cx="6096666" cy="830997"/>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b="1">
                <a:latin typeface="Times New Roman"/>
                <a:ea typeface="+mn-lt"/>
                <a:cs typeface="+mn-lt"/>
              </a:rPr>
              <a:t>20CYS495 Project Phase 1 Final Review</a:t>
            </a:r>
            <a:endParaRPr lang="en-US" sz="2400">
              <a:latin typeface="Times New Roman"/>
              <a:cs typeface="Times New Roman"/>
            </a:endParaRPr>
          </a:p>
          <a:p>
            <a:r>
              <a:rPr lang="en-US" sz="2400" b="1">
                <a:latin typeface="Times New Roman"/>
                <a:cs typeface="Times New Roman"/>
              </a:rPr>
              <a:t>                  Group 10</a:t>
            </a:r>
          </a:p>
        </p:txBody>
      </p:sp>
      <p:sp>
        <p:nvSpPr>
          <p:cNvPr id="11" name="TextBox 2">
            <a:extLst>
              <a:ext uri="{FF2B5EF4-FFF2-40B4-BE49-F238E27FC236}">
                <a16:creationId xmlns:a16="http://schemas.microsoft.com/office/drawing/2014/main" id="{FF73B89F-5953-47CB-B285-6AD338D72678}"/>
              </a:ext>
            </a:extLst>
          </p:cNvPr>
          <p:cNvSpPr txBox="1"/>
          <p:nvPr/>
        </p:nvSpPr>
        <p:spPr>
          <a:xfrm>
            <a:off x="2004787" y="2715319"/>
            <a:ext cx="5728257" cy="400110"/>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b="1">
                <a:latin typeface="Times New Roman"/>
                <a:cs typeface="Times New Roman"/>
              </a:rPr>
              <a:t>Domain: </a:t>
            </a:r>
            <a:r>
              <a:rPr lang="en-US" sz="2000">
                <a:latin typeface="Times New Roman"/>
                <a:cs typeface="Times New Roman"/>
              </a:rPr>
              <a:t>Threat Intelligence &amp; APT Research</a:t>
            </a:r>
          </a:p>
        </p:txBody>
      </p:sp>
      <p:sp>
        <p:nvSpPr>
          <p:cNvPr id="12" name="TextBox 8">
            <a:extLst>
              <a:ext uri="{FF2B5EF4-FFF2-40B4-BE49-F238E27FC236}">
                <a16:creationId xmlns:a16="http://schemas.microsoft.com/office/drawing/2014/main" id="{31B520CE-02C9-1EE1-EEF4-369284698F69}"/>
              </a:ext>
            </a:extLst>
          </p:cNvPr>
          <p:cNvSpPr txBox="1"/>
          <p:nvPr/>
        </p:nvSpPr>
        <p:spPr>
          <a:xfrm>
            <a:off x="1964418" y="2012200"/>
            <a:ext cx="9443627" cy="707886"/>
          </a:xfrm>
          <a:prstGeom prst="rect">
            <a:avLst/>
          </a:prstGeom>
          <a:noFill/>
        </p:spPr>
        <p:txBody>
          <a:bodyPr wrap="square" lIns="91440" tIns="45720" rIns="91440" bIns="4572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b="1">
                <a:latin typeface="Times New Roman"/>
                <a:cs typeface="Times New Roman"/>
              </a:rPr>
              <a:t>Project Title : </a:t>
            </a:r>
            <a:r>
              <a:rPr lang="en-US" sz="2000">
                <a:latin typeface="Times New Roman"/>
                <a:cs typeface="Times New Roman"/>
              </a:rPr>
              <a:t>APT Profiling and Detection in Critical Infrastructure using Deception Technology</a:t>
            </a:r>
          </a:p>
        </p:txBody>
      </p:sp>
      <p:sp>
        <p:nvSpPr>
          <p:cNvPr id="13" name="TextBox 14">
            <a:extLst>
              <a:ext uri="{FF2B5EF4-FFF2-40B4-BE49-F238E27FC236}">
                <a16:creationId xmlns:a16="http://schemas.microsoft.com/office/drawing/2014/main" id="{CBBFA40D-67AD-B17C-28BC-8CFA89FC874F}"/>
              </a:ext>
            </a:extLst>
          </p:cNvPr>
          <p:cNvSpPr txBox="1"/>
          <p:nvPr/>
        </p:nvSpPr>
        <p:spPr>
          <a:xfrm>
            <a:off x="1998787" y="3160052"/>
            <a:ext cx="6139604" cy="400110"/>
          </a:xfrm>
          <a:prstGeom prst="rect">
            <a:avLst/>
          </a:prstGeom>
          <a:noFill/>
        </p:spPr>
        <p:txBody>
          <a:bodyPr wrap="square" lIns="91440" tIns="45720" rIns="91440" bIns="4572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b="1">
                <a:latin typeface="Times New Roman"/>
                <a:cs typeface="Times New Roman"/>
              </a:rPr>
              <a:t>Guide Name: </a:t>
            </a:r>
            <a:r>
              <a:rPr lang="en-US" sz="2000">
                <a:latin typeface="Times New Roman"/>
                <a:ea typeface="+mn-lt"/>
                <a:cs typeface="+mn-lt"/>
              </a:rPr>
              <a:t>Sreejith</a:t>
            </a:r>
            <a:r>
              <a:rPr lang="en-US" sz="2000">
                <a:latin typeface="Times New Roman"/>
                <a:cs typeface="Times New Roman"/>
              </a:rPr>
              <a:t>  K</a:t>
            </a:r>
          </a:p>
        </p:txBody>
      </p:sp>
      <p:graphicFrame>
        <p:nvGraphicFramePr>
          <p:cNvPr id="15" name="Table 14">
            <a:extLst>
              <a:ext uri="{FF2B5EF4-FFF2-40B4-BE49-F238E27FC236}">
                <a16:creationId xmlns:a16="http://schemas.microsoft.com/office/drawing/2014/main" id="{AB016AAE-430B-1244-EF1F-058A036E3FE4}"/>
              </a:ext>
            </a:extLst>
          </p:cNvPr>
          <p:cNvGraphicFramePr>
            <a:graphicFrameLocks noGrp="1"/>
          </p:cNvGraphicFramePr>
          <p:nvPr>
            <p:extLst>
              <p:ext uri="{D42A27DB-BD31-4B8C-83A1-F6EECF244321}">
                <p14:modId xmlns:p14="http://schemas.microsoft.com/office/powerpoint/2010/main" val="184992291"/>
              </p:ext>
            </p:extLst>
          </p:nvPr>
        </p:nvGraphicFramePr>
        <p:xfrm>
          <a:off x="2094000" y="3810000"/>
          <a:ext cx="6980389" cy="1961555"/>
        </p:xfrm>
        <a:graphic>
          <a:graphicData uri="http://schemas.openxmlformats.org/drawingml/2006/table">
            <a:tbl>
              <a:tblPr bandRow="1">
                <a:tableStyleId>{5C22544A-7EE6-4342-B048-85BDC9FD1C3A}</a:tableStyleId>
              </a:tblPr>
              <a:tblGrid>
                <a:gridCol w="775607">
                  <a:extLst>
                    <a:ext uri="{9D8B030D-6E8A-4147-A177-3AD203B41FA5}">
                      <a16:colId xmlns:a16="http://schemas.microsoft.com/office/drawing/2014/main" val="2249326229"/>
                    </a:ext>
                  </a:extLst>
                </a:gridCol>
                <a:gridCol w="2394857">
                  <a:extLst>
                    <a:ext uri="{9D8B030D-6E8A-4147-A177-3AD203B41FA5}">
                      <a16:colId xmlns:a16="http://schemas.microsoft.com/office/drawing/2014/main" val="3269419389"/>
                    </a:ext>
                  </a:extLst>
                </a:gridCol>
                <a:gridCol w="3809925">
                  <a:extLst>
                    <a:ext uri="{9D8B030D-6E8A-4147-A177-3AD203B41FA5}">
                      <a16:colId xmlns:a16="http://schemas.microsoft.com/office/drawing/2014/main" val="3304677145"/>
                    </a:ext>
                  </a:extLst>
                </a:gridCol>
              </a:tblGrid>
              <a:tr h="392311">
                <a:tc>
                  <a:txBody>
                    <a:bodyPr/>
                    <a:lstStyle/>
                    <a:p>
                      <a:pPr rtl="0" fontAlgn="base">
                        <a:lnSpc>
                          <a:spcPts val="1575"/>
                        </a:lnSpc>
                        <a:buNone/>
                      </a:pPr>
                      <a:r>
                        <a:rPr lang="en-US" sz="1800" b="1" err="1">
                          <a:solidFill>
                            <a:srgbClr val="000000"/>
                          </a:solidFill>
                          <a:effectLst/>
                          <a:latin typeface="Times New Roman"/>
                        </a:rPr>
                        <a:t>Sl.No</a:t>
                      </a:r>
                      <a:endParaRPr lang="en-US" b="1">
                        <a:solidFill>
                          <a:srgbClr val="FFFFFF"/>
                        </a:solidFill>
                        <a:effectLst/>
                        <a:latin typeface="Times New Roman"/>
                      </a:endParaRPr>
                    </a:p>
                  </a:txBody>
                  <a:tcPr marL="67437" marR="67437" marT="33719" marB="33719">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rtl="0" fontAlgn="base">
                        <a:lnSpc>
                          <a:spcPts val="1575"/>
                        </a:lnSpc>
                        <a:buNone/>
                      </a:pPr>
                      <a:r>
                        <a:rPr lang="en-US" sz="1800" b="1">
                          <a:solidFill>
                            <a:srgbClr val="000000"/>
                          </a:solidFill>
                          <a:effectLst/>
                          <a:latin typeface="Times New Roman"/>
                        </a:rPr>
                        <a:t>Student Name</a:t>
                      </a:r>
                      <a:endParaRPr lang="en-US" b="1">
                        <a:solidFill>
                          <a:srgbClr val="FFFFFF"/>
                        </a:solidFill>
                        <a:effectLst/>
                        <a:latin typeface="Times New Roman"/>
                      </a:endParaRPr>
                    </a:p>
                  </a:txBody>
                  <a:tcPr marL="67437" marR="67437" marT="33719" marB="33719">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rtl="0" fontAlgn="base">
                        <a:lnSpc>
                          <a:spcPts val="1575"/>
                        </a:lnSpc>
                        <a:buNone/>
                      </a:pPr>
                      <a:r>
                        <a:rPr lang="en-US" sz="1800" b="1">
                          <a:solidFill>
                            <a:srgbClr val="000000"/>
                          </a:solidFill>
                          <a:effectLst/>
                          <a:latin typeface="Times New Roman"/>
                        </a:rPr>
                        <a:t>Roll No</a:t>
                      </a:r>
                      <a:endParaRPr lang="en-US" b="1">
                        <a:solidFill>
                          <a:srgbClr val="FFFFFF"/>
                        </a:solidFill>
                        <a:effectLst/>
                        <a:latin typeface="Times New Roman"/>
                      </a:endParaRPr>
                    </a:p>
                  </a:txBody>
                  <a:tcPr marL="67437" marR="67437" marT="33719" marB="33719">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694247947"/>
                  </a:ext>
                </a:extLst>
              </a:tr>
              <a:tr h="392311">
                <a:tc>
                  <a:txBody>
                    <a:bodyPr/>
                    <a:lstStyle/>
                    <a:p>
                      <a:pPr rtl="0" fontAlgn="base">
                        <a:lnSpc>
                          <a:spcPts val="1575"/>
                        </a:lnSpc>
                        <a:buNone/>
                      </a:pPr>
                      <a:r>
                        <a:rPr lang="en-US" sz="1800">
                          <a:effectLst/>
                          <a:latin typeface="Calibri"/>
                        </a:rPr>
                        <a:t>1</a:t>
                      </a:r>
                      <a:endParaRPr lang="en-US">
                        <a:effectLst/>
                        <a:latin typeface="Calibri"/>
                      </a:endParaRPr>
                    </a:p>
                  </a:txBody>
                  <a:tcPr marL="67437" marR="67437" marT="33719" marB="33719">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rtl="0" fontAlgn="base">
                        <a:lnSpc>
                          <a:spcPts val="1575"/>
                        </a:lnSpc>
                        <a:buNone/>
                      </a:pPr>
                      <a:r>
                        <a:rPr lang="en-IN" sz="1800" err="1">
                          <a:effectLst/>
                          <a:latin typeface="Times New Roman"/>
                        </a:rPr>
                        <a:t>Chitla</a:t>
                      </a:r>
                      <a:r>
                        <a:rPr lang="en-IN" sz="1800">
                          <a:effectLst/>
                          <a:latin typeface="Times New Roman"/>
                        </a:rPr>
                        <a:t> </a:t>
                      </a:r>
                      <a:r>
                        <a:rPr lang="en-IN" sz="1800" err="1">
                          <a:effectLst/>
                          <a:latin typeface="Times New Roman"/>
                        </a:rPr>
                        <a:t>Vyshali</a:t>
                      </a:r>
                      <a:endParaRPr lang="en-IN">
                        <a:effectLst/>
                        <a:latin typeface="Times New Roman"/>
                      </a:endParaRPr>
                    </a:p>
                  </a:txBody>
                  <a:tcPr marL="67437" marR="67437" marT="33719" marB="33719">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rtl="0" fontAlgn="base">
                        <a:lnSpc>
                          <a:spcPts val="1575"/>
                        </a:lnSpc>
                        <a:buNone/>
                      </a:pPr>
                      <a:r>
                        <a:rPr lang="en-IN" sz="1800">
                          <a:effectLst/>
                          <a:latin typeface="Times New Roman"/>
                        </a:rPr>
                        <a:t>CB.EN.U4CYS22017</a:t>
                      </a:r>
                      <a:endParaRPr lang="en-IN">
                        <a:effectLst/>
                        <a:latin typeface="Times New Roman"/>
                      </a:endParaRPr>
                    </a:p>
                  </a:txBody>
                  <a:tcPr marL="67437" marR="67437" marT="33719" marB="33719">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634301418"/>
                  </a:ext>
                </a:extLst>
              </a:tr>
              <a:tr h="392311">
                <a:tc>
                  <a:txBody>
                    <a:bodyPr/>
                    <a:lstStyle/>
                    <a:p>
                      <a:pPr rtl="0" fontAlgn="base">
                        <a:lnSpc>
                          <a:spcPts val="1575"/>
                        </a:lnSpc>
                        <a:buNone/>
                      </a:pPr>
                      <a:r>
                        <a:rPr lang="en-US" sz="1800">
                          <a:effectLst/>
                          <a:latin typeface="Calibri"/>
                        </a:rPr>
                        <a:t>2</a:t>
                      </a:r>
                      <a:endParaRPr lang="en-US">
                        <a:effectLst/>
                        <a:latin typeface="Calibri"/>
                      </a:endParaRPr>
                    </a:p>
                  </a:txBody>
                  <a:tcPr marL="67437" marR="67437" marT="33719" marB="33719">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rtl="0" fontAlgn="base">
                        <a:lnSpc>
                          <a:spcPts val="1575"/>
                        </a:lnSpc>
                        <a:buNone/>
                      </a:pPr>
                      <a:r>
                        <a:rPr lang="en-IN" sz="1800">
                          <a:effectLst/>
                          <a:latin typeface="Times New Roman"/>
                        </a:rPr>
                        <a:t>Dharshika S</a:t>
                      </a:r>
                      <a:endParaRPr lang="en-IN">
                        <a:effectLst/>
                        <a:latin typeface="Times New Roman"/>
                      </a:endParaRPr>
                    </a:p>
                  </a:txBody>
                  <a:tcPr marL="67437" marR="67437" marT="33719" marB="33719">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rtl="0" fontAlgn="base">
                        <a:lnSpc>
                          <a:spcPts val="1575"/>
                        </a:lnSpc>
                        <a:buNone/>
                      </a:pPr>
                      <a:r>
                        <a:rPr lang="en-IN" sz="1800">
                          <a:effectLst/>
                          <a:latin typeface="Times New Roman"/>
                        </a:rPr>
                        <a:t>CB.EN.U4CYS22021</a:t>
                      </a:r>
                      <a:endParaRPr lang="en-IN">
                        <a:effectLst/>
                        <a:latin typeface="Times New Roman"/>
                      </a:endParaRPr>
                    </a:p>
                  </a:txBody>
                  <a:tcPr marL="67437" marR="67437" marT="33719" marB="33719">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740748070"/>
                  </a:ext>
                </a:extLst>
              </a:tr>
              <a:tr h="392311">
                <a:tc>
                  <a:txBody>
                    <a:bodyPr/>
                    <a:lstStyle/>
                    <a:p>
                      <a:pPr rtl="0" fontAlgn="base">
                        <a:lnSpc>
                          <a:spcPts val="1575"/>
                        </a:lnSpc>
                        <a:buNone/>
                      </a:pPr>
                      <a:r>
                        <a:rPr lang="en-US" sz="1800">
                          <a:effectLst/>
                          <a:latin typeface="Calibri"/>
                        </a:rPr>
                        <a:t>3</a:t>
                      </a:r>
                      <a:endParaRPr lang="en-US">
                        <a:effectLst/>
                        <a:latin typeface="Calibri"/>
                      </a:endParaRPr>
                    </a:p>
                  </a:txBody>
                  <a:tcPr marL="67437" marR="67437" marT="33719" marB="33719">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rtl="0" fontAlgn="base">
                        <a:lnSpc>
                          <a:spcPts val="1575"/>
                        </a:lnSpc>
                        <a:buNone/>
                      </a:pPr>
                      <a:r>
                        <a:rPr lang="en-IN" sz="1800" err="1">
                          <a:effectLst/>
                          <a:latin typeface="Times New Roman"/>
                        </a:rPr>
                        <a:t>Reddicherla</a:t>
                      </a:r>
                      <a:r>
                        <a:rPr lang="en-IN" sz="1800">
                          <a:effectLst/>
                          <a:latin typeface="Times New Roman"/>
                        </a:rPr>
                        <a:t> </a:t>
                      </a:r>
                      <a:r>
                        <a:rPr lang="en-IN" sz="1800" err="1">
                          <a:effectLst/>
                          <a:latin typeface="Times New Roman"/>
                        </a:rPr>
                        <a:t>Thanuj</a:t>
                      </a:r>
                      <a:endParaRPr lang="en-IN" err="1">
                        <a:effectLst/>
                        <a:latin typeface="Times New Roman"/>
                      </a:endParaRPr>
                    </a:p>
                  </a:txBody>
                  <a:tcPr marL="67437" marR="67437" marT="33719" marB="33719">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rtl="0" fontAlgn="base">
                        <a:lnSpc>
                          <a:spcPts val="1575"/>
                        </a:lnSpc>
                        <a:buNone/>
                      </a:pPr>
                      <a:r>
                        <a:rPr lang="en-IN" sz="1800">
                          <a:effectLst/>
                          <a:latin typeface="Times New Roman"/>
                        </a:rPr>
                        <a:t>CB.EN.U4CYS22056</a:t>
                      </a:r>
                      <a:endParaRPr lang="en-IN">
                        <a:effectLst/>
                        <a:latin typeface="Times New Roman"/>
                      </a:endParaRPr>
                    </a:p>
                  </a:txBody>
                  <a:tcPr marL="67437" marR="67437" marT="33719" marB="33719">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480324272"/>
                  </a:ext>
                </a:extLst>
              </a:tr>
              <a:tr h="392311">
                <a:tc>
                  <a:txBody>
                    <a:bodyPr/>
                    <a:lstStyle/>
                    <a:p>
                      <a:pPr rtl="0" fontAlgn="base">
                        <a:lnSpc>
                          <a:spcPts val="1575"/>
                        </a:lnSpc>
                        <a:buNone/>
                      </a:pPr>
                      <a:r>
                        <a:rPr lang="en-US" sz="1800">
                          <a:effectLst/>
                          <a:latin typeface="Calibri"/>
                        </a:rPr>
                        <a:t>4</a:t>
                      </a:r>
                      <a:endParaRPr lang="en-US">
                        <a:effectLst/>
                        <a:latin typeface="Calibri"/>
                      </a:endParaRPr>
                    </a:p>
                  </a:txBody>
                  <a:tcPr marL="67437" marR="67437" marT="33719" marB="33719">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rtl="0" fontAlgn="base">
                        <a:lnSpc>
                          <a:spcPts val="1575"/>
                        </a:lnSpc>
                        <a:buNone/>
                      </a:pPr>
                      <a:r>
                        <a:rPr lang="en-IN" sz="1800">
                          <a:effectLst/>
                          <a:latin typeface="Times New Roman"/>
                        </a:rPr>
                        <a:t>Mothe Anurag Reddy</a:t>
                      </a:r>
                      <a:endParaRPr lang="en-IN">
                        <a:effectLst/>
                        <a:latin typeface="Times New Roman"/>
                      </a:endParaRPr>
                    </a:p>
                  </a:txBody>
                  <a:tcPr marL="67437" marR="67437" marT="33719" marB="33719">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rtl="0" fontAlgn="base">
                        <a:lnSpc>
                          <a:spcPts val="1575"/>
                        </a:lnSpc>
                        <a:buNone/>
                      </a:pPr>
                      <a:r>
                        <a:rPr lang="en-IN" sz="1800">
                          <a:effectLst/>
                          <a:latin typeface="Times New Roman"/>
                        </a:rPr>
                        <a:t>CB.EN.U4CYS22069</a:t>
                      </a:r>
                      <a:endParaRPr lang="en-IN">
                        <a:effectLst/>
                        <a:latin typeface="Times New Roman"/>
                      </a:endParaRPr>
                    </a:p>
                  </a:txBody>
                  <a:tcPr marL="67437" marR="67437" marT="33719" marB="33719">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129018702"/>
                  </a:ext>
                </a:extLst>
              </a:tr>
            </a:tbl>
          </a:graphicData>
        </a:graphic>
      </p:graphicFrame>
    </p:spTree>
    <p:extLst>
      <p:ext uri="{BB962C8B-B14F-4D97-AF65-F5344CB8AC3E}">
        <p14:creationId xmlns:p14="http://schemas.microsoft.com/office/powerpoint/2010/main" val="17610615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34363"/>
            <a:ext cx="8670000" cy="773600"/>
          </a:xfrm>
        </p:spPr>
        <p:txBody>
          <a:bodyPr>
            <a:normAutofit fontScale="90000"/>
          </a:bodyPr>
          <a:lstStyle/>
          <a:p>
            <a:br>
              <a:rPr lang="en-US"/>
            </a:br>
            <a:endParaRPr lang="en-US"/>
          </a:p>
        </p:txBody>
      </p:sp>
      <p:pic>
        <p:nvPicPr>
          <p:cNvPr id="4" name="Picture 3">
            <a:extLst>
              <a:ext uri="{FF2B5EF4-FFF2-40B4-BE49-F238E27FC236}">
                <a16:creationId xmlns:a16="http://schemas.microsoft.com/office/drawing/2014/main" id="{CFE9374F-8DD8-4480-8590-778239D8B0D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1663" y="79092"/>
            <a:ext cx="1740919" cy="402801"/>
          </a:xfrm>
          <a:prstGeom prst="rect">
            <a:avLst/>
          </a:prstGeom>
        </p:spPr>
      </p:pic>
      <p:cxnSp>
        <p:nvCxnSpPr>
          <p:cNvPr id="5" name="Straight Connector 4">
            <a:extLst>
              <a:ext uri="{FF2B5EF4-FFF2-40B4-BE49-F238E27FC236}">
                <a16:creationId xmlns:a16="http://schemas.microsoft.com/office/drawing/2014/main" id="{C86AE5E2-AE54-4C65-842F-C82D80DE5FE3}"/>
              </a:ext>
            </a:extLst>
          </p:cNvPr>
          <p:cNvCxnSpPr>
            <a:cxnSpLocks/>
          </p:cNvCxnSpPr>
          <p:nvPr/>
        </p:nvCxnSpPr>
        <p:spPr>
          <a:xfrm>
            <a:off x="1109709" y="594804"/>
            <a:ext cx="10235953" cy="0"/>
          </a:xfrm>
          <a:prstGeom prst="line">
            <a:avLst/>
          </a:prstGeom>
        </p:spPr>
        <p:style>
          <a:lnRef idx="3">
            <a:schemeClr val="dk1"/>
          </a:lnRef>
          <a:fillRef idx="0">
            <a:schemeClr val="dk1"/>
          </a:fillRef>
          <a:effectRef idx="2">
            <a:schemeClr val="dk1"/>
          </a:effectRef>
          <a:fontRef idx="minor">
            <a:schemeClr val="tx1"/>
          </a:fontRef>
        </p:style>
      </p:cxnSp>
      <p:cxnSp>
        <p:nvCxnSpPr>
          <p:cNvPr id="6" name="Straight Connector 5">
            <a:extLst>
              <a:ext uri="{FF2B5EF4-FFF2-40B4-BE49-F238E27FC236}">
                <a16:creationId xmlns:a16="http://schemas.microsoft.com/office/drawing/2014/main" id="{85230674-9C20-4A48-BEDB-3E71685A6837}"/>
              </a:ext>
            </a:extLst>
          </p:cNvPr>
          <p:cNvCxnSpPr/>
          <p:nvPr/>
        </p:nvCxnSpPr>
        <p:spPr>
          <a:xfrm>
            <a:off x="1038687" y="6462943"/>
            <a:ext cx="10369119" cy="0"/>
          </a:xfrm>
          <a:prstGeom prst="line">
            <a:avLst/>
          </a:prstGeom>
        </p:spPr>
        <p:style>
          <a:lnRef idx="3">
            <a:schemeClr val="dk1"/>
          </a:lnRef>
          <a:fillRef idx="0">
            <a:schemeClr val="dk1"/>
          </a:fillRef>
          <a:effectRef idx="2">
            <a:schemeClr val="dk1"/>
          </a:effectRef>
          <a:fontRef idx="minor">
            <a:schemeClr val="tx1"/>
          </a:fontRef>
        </p:style>
      </p:cxnSp>
      <p:sp>
        <p:nvSpPr>
          <p:cNvPr id="7" name="TextBox 7">
            <a:extLst>
              <a:ext uri="{FF2B5EF4-FFF2-40B4-BE49-F238E27FC236}">
                <a16:creationId xmlns:a16="http://schemas.microsoft.com/office/drawing/2014/main" id="{83B72D3C-7AEE-4C83-8156-6FCDFB64EDF4}"/>
              </a:ext>
            </a:extLst>
          </p:cNvPr>
          <p:cNvSpPr txBox="1"/>
          <p:nvPr/>
        </p:nvSpPr>
        <p:spPr>
          <a:xfrm>
            <a:off x="8788893" y="319596"/>
            <a:ext cx="2821413" cy="276999"/>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1">
                <a:latin typeface="Times New Roman" panose="02020603050405020304" pitchFamily="18" charset="0"/>
                <a:cs typeface="Times New Roman" panose="02020603050405020304" pitchFamily="18" charset="0"/>
              </a:rPr>
              <a:t>TIFAC – CORE in CYBER SECURITY</a:t>
            </a:r>
            <a:endParaRPr lang="en-IN" sz="1200" b="1">
              <a:latin typeface="Times New Roman" panose="02020603050405020304" pitchFamily="18" charset="0"/>
              <a:cs typeface="Times New Roman" panose="02020603050405020304" pitchFamily="18" charset="0"/>
            </a:endParaRPr>
          </a:p>
        </p:txBody>
      </p:sp>
      <p:sp>
        <p:nvSpPr>
          <p:cNvPr id="8" name="Slide Number Placeholder 10">
            <a:extLst>
              <a:ext uri="{FF2B5EF4-FFF2-40B4-BE49-F238E27FC236}">
                <a16:creationId xmlns:a16="http://schemas.microsoft.com/office/drawing/2014/main" id="{D560B5BB-12C6-40D2-9763-B27B8ACDE663}"/>
              </a:ext>
            </a:extLst>
          </p:cNvPr>
          <p:cNvSpPr>
            <a:spLocks noGrp="1"/>
          </p:cNvSpPr>
          <p:nvPr/>
        </p:nvSpPr>
        <p:spPr>
          <a:xfrm>
            <a:off x="8734887"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C3E5B82-863A-4B66-9E4F-DCFAD2A3B854}" type="slidenum">
              <a:rPr lang="en-IN" smtClean="0"/>
              <a:pPr/>
              <a:t>2</a:t>
            </a:fld>
            <a:endParaRPr lang="en-IN"/>
          </a:p>
        </p:txBody>
      </p:sp>
      <p:sp>
        <p:nvSpPr>
          <p:cNvPr id="9" name="Footer Placeholder 11">
            <a:extLst>
              <a:ext uri="{FF2B5EF4-FFF2-40B4-BE49-F238E27FC236}">
                <a16:creationId xmlns:a16="http://schemas.microsoft.com/office/drawing/2014/main" id="{F6D4F79C-3FA2-494F-BB27-8CB7272816E9}"/>
              </a:ext>
            </a:extLst>
          </p:cNvPr>
          <p:cNvSpPr>
            <a:spLocks noGrp="1"/>
          </p:cNvSpPr>
          <p:nvPr/>
        </p:nvSpPr>
        <p:spPr>
          <a:xfrm>
            <a:off x="4038600" y="64928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20CYS 495 B.Tech CYS: 2022 - 2026 Project Presentation </a:t>
            </a:r>
            <a:endParaRPr lang="en-IN"/>
          </a:p>
        </p:txBody>
      </p:sp>
      <p:sp>
        <p:nvSpPr>
          <p:cNvPr id="3" name="TextBox 2">
            <a:extLst>
              <a:ext uri="{FF2B5EF4-FFF2-40B4-BE49-F238E27FC236}">
                <a16:creationId xmlns:a16="http://schemas.microsoft.com/office/drawing/2014/main" id="{F32DC984-E74E-D439-2CBC-AA6853455F65}"/>
              </a:ext>
            </a:extLst>
          </p:cNvPr>
          <p:cNvSpPr txBox="1"/>
          <p:nvPr/>
        </p:nvSpPr>
        <p:spPr>
          <a:xfrm>
            <a:off x="1073142" y="1319892"/>
            <a:ext cx="10261200" cy="34470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ea typeface="+mn-lt"/>
              <a:cs typeface="+mn-lt"/>
            </a:endParaRPr>
          </a:p>
          <a:p>
            <a:pPr marL="285750" indent="-285750">
              <a:buFont typeface="Arial"/>
              <a:buChar char="•"/>
            </a:pPr>
            <a:r>
              <a:rPr lang="en-US" sz="2000">
                <a:latin typeface="Times New Roman"/>
                <a:ea typeface="+mn-lt"/>
                <a:cs typeface="+mn-lt"/>
              </a:rPr>
              <a:t>Conventional honeypots are insufficient for deceiving sophisticated attackers, while establishing fully interactive deception networks is often too costly and complicated for many organizations. This creates a significant void in cybersecurity.</a:t>
            </a:r>
          </a:p>
          <a:p>
            <a:pPr>
              <a:buFont typeface="Arial"/>
              <a:buChar char="•"/>
            </a:pPr>
            <a:r>
              <a:rPr lang="en-US" sz="2000">
                <a:latin typeface="Times New Roman"/>
                <a:ea typeface="+mn-lt"/>
                <a:cs typeface="+mn-lt"/>
              </a:rPr>
              <a:t>   We are developing an intelligent Security Orchestration Engine to address this challenge.</a:t>
            </a:r>
            <a:endParaRPr lang="en-US" sz="2000">
              <a:latin typeface="Times New Roman"/>
              <a:ea typeface="+mn-lt"/>
              <a:cs typeface="Times New Roman"/>
            </a:endParaRPr>
          </a:p>
          <a:p>
            <a:pPr>
              <a:buFont typeface="Arial"/>
              <a:buChar char="•"/>
            </a:pPr>
            <a:r>
              <a:rPr lang="en-US" sz="2000">
                <a:latin typeface="Times New Roman"/>
                <a:ea typeface="+mn-lt"/>
                <a:cs typeface="+mn-lt"/>
              </a:rPr>
              <a:t>    Here's how it functions:</a:t>
            </a:r>
          </a:p>
          <a:p>
            <a:pPr lvl="1"/>
            <a:r>
              <a:rPr lang="en-US" sz="2000">
                <a:latin typeface="Times New Roman"/>
                <a:ea typeface="+mn-lt"/>
                <a:cs typeface="+mn-lt"/>
              </a:rPr>
              <a:t>      It detects early signs of an attack, such as a port scan.</a:t>
            </a:r>
            <a:endParaRPr lang="en-US" sz="2000">
              <a:latin typeface="Times New Roman"/>
              <a:cs typeface="Times New Roman"/>
            </a:endParaRPr>
          </a:p>
          <a:p>
            <a:pPr lvl="1"/>
            <a:r>
              <a:rPr lang="en-US" sz="2000">
                <a:latin typeface="Times New Roman"/>
                <a:ea typeface="+mn-lt"/>
                <a:cs typeface="+mn-lt"/>
              </a:rPr>
              <a:t>      It employs a machine learning model to ascertain the attacker's intentions.</a:t>
            </a:r>
          </a:p>
          <a:p>
            <a:pPr lvl="1"/>
            <a:r>
              <a:rPr lang="en-US" sz="2000">
                <a:latin typeface="Times New Roman"/>
                <a:ea typeface="+mn-lt"/>
                <a:cs typeface="+mn-lt"/>
              </a:rPr>
              <a:t>      It promptly and automatically deploys a customized honeypot specifically designed to engage that  particular  attacker.</a:t>
            </a:r>
            <a:endParaRPr lang="en-US" sz="2000">
              <a:latin typeface="Times New Roman"/>
              <a:cs typeface="Times New Roman"/>
            </a:endParaRPr>
          </a:p>
          <a:p>
            <a:endParaRPr lang="en-US" sz="2000">
              <a:latin typeface="Times New Roman"/>
              <a:cs typeface="Times New Roman"/>
            </a:endParaRPr>
          </a:p>
        </p:txBody>
      </p:sp>
      <p:sp>
        <p:nvSpPr>
          <p:cNvPr id="13" name="TextBox 12">
            <a:extLst>
              <a:ext uri="{FF2B5EF4-FFF2-40B4-BE49-F238E27FC236}">
                <a16:creationId xmlns:a16="http://schemas.microsoft.com/office/drawing/2014/main" id="{CB421570-5642-B4FF-508F-FE73E1DEB773}"/>
              </a:ext>
            </a:extLst>
          </p:cNvPr>
          <p:cNvSpPr txBox="1"/>
          <p:nvPr/>
        </p:nvSpPr>
        <p:spPr>
          <a:xfrm>
            <a:off x="1153821" y="1034142"/>
            <a:ext cx="3547200" cy="473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latin typeface="Times New Roman"/>
                <a:cs typeface="Times New Roman"/>
              </a:rPr>
              <a:t>Problem Statement</a:t>
            </a:r>
          </a:p>
        </p:txBody>
      </p:sp>
    </p:spTree>
    <p:extLst>
      <p:ext uri="{BB962C8B-B14F-4D97-AF65-F5344CB8AC3E}">
        <p14:creationId xmlns:p14="http://schemas.microsoft.com/office/powerpoint/2010/main" val="1098572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7A58DD-157C-36AE-0C6F-FA9ED256FB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A09EEA-2402-1CB1-1B4C-12D86F957EF8}"/>
              </a:ext>
            </a:extLst>
          </p:cNvPr>
          <p:cNvSpPr>
            <a:spLocks noGrp="1"/>
          </p:cNvSpPr>
          <p:nvPr>
            <p:ph type="ctrTitle"/>
          </p:nvPr>
        </p:nvSpPr>
        <p:spPr>
          <a:xfrm>
            <a:off x="1524000" y="1134363"/>
            <a:ext cx="8670000" cy="773600"/>
          </a:xfrm>
        </p:spPr>
        <p:txBody>
          <a:bodyPr>
            <a:normAutofit fontScale="90000"/>
          </a:bodyPr>
          <a:lstStyle/>
          <a:p>
            <a:br>
              <a:rPr lang="en-US"/>
            </a:br>
            <a:endParaRPr lang="en-US"/>
          </a:p>
        </p:txBody>
      </p:sp>
      <p:pic>
        <p:nvPicPr>
          <p:cNvPr id="4" name="Picture 3">
            <a:extLst>
              <a:ext uri="{FF2B5EF4-FFF2-40B4-BE49-F238E27FC236}">
                <a16:creationId xmlns:a16="http://schemas.microsoft.com/office/drawing/2014/main" id="{9036DF3D-0AC9-8885-7C4D-9374E92A321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1663" y="79092"/>
            <a:ext cx="1740919" cy="402801"/>
          </a:xfrm>
          <a:prstGeom prst="rect">
            <a:avLst/>
          </a:prstGeom>
        </p:spPr>
      </p:pic>
      <p:cxnSp>
        <p:nvCxnSpPr>
          <p:cNvPr id="5" name="Straight Connector 4">
            <a:extLst>
              <a:ext uri="{FF2B5EF4-FFF2-40B4-BE49-F238E27FC236}">
                <a16:creationId xmlns:a16="http://schemas.microsoft.com/office/drawing/2014/main" id="{EDB5659F-540A-B044-38E8-0E6067A72ACF}"/>
              </a:ext>
            </a:extLst>
          </p:cNvPr>
          <p:cNvCxnSpPr>
            <a:cxnSpLocks/>
          </p:cNvCxnSpPr>
          <p:nvPr/>
        </p:nvCxnSpPr>
        <p:spPr>
          <a:xfrm>
            <a:off x="1109709" y="594804"/>
            <a:ext cx="10235953" cy="0"/>
          </a:xfrm>
          <a:prstGeom prst="line">
            <a:avLst/>
          </a:prstGeom>
        </p:spPr>
        <p:style>
          <a:lnRef idx="3">
            <a:schemeClr val="dk1"/>
          </a:lnRef>
          <a:fillRef idx="0">
            <a:schemeClr val="dk1"/>
          </a:fillRef>
          <a:effectRef idx="2">
            <a:schemeClr val="dk1"/>
          </a:effectRef>
          <a:fontRef idx="minor">
            <a:schemeClr val="tx1"/>
          </a:fontRef>
        </p:style>
      </p:cxnSp>
      <p:cxnSp>
        <p:nvCxnSpPr>
          <p:cNvPr id="6" name="Straight Connector 5">
            <a:extLst>
              <a:ext uri="{FF2B5EF4-FFF2-40B4-BE49-F238E27FC236}">
                <a16:creationId xmlns:a16="http://schemas.microsoft.com/office/drawing/2014/main" id="{65B59473-7157-28B7-0147-A165314DDBBB}"/>
              </a:ext>
            </a:extLst>
          </p:cNvPr>
          <p:cNvCxnSpPr/>
          <p:nvPr/>
        </p:nvCxnSpPr>
        <p:spPr>
          <a:xfrm>
            <a:off x="1038687" y="6462943"/>
            <a:ext cx="10369119" cy="0"/>
          </a:xfrm>
          <a:prstGeom prst="line">
            <a:avLst/>
          </a:prstGeom>
        </p:spPr>
        <p:style>
          <a:lnRef idx="3">
            <a:schemeClr val="dk1"/>
          </a:lnRef>
          <a:fillRef idx="0">
            <a:schemeClr val="dk1"/>
          </a:fillRef>
          <a:effectRef idx="2">
            <a:schemeClr val="dk1"/>
          </a:effectRef>
          <a:fontRef idx="minor">
            <a:schemeClr val="tx1"/>
          </a:fontRef>
        </p:style>
      </p:cxnSp>
      <p:sp>
        <p:nvSpPr>
          <p:cNvPr id="7" name="TextBox 7">
            <a:extLst>
              <a:ext uri="{FF2B5EF4-FFF2-40B4-BE49-F238E27FC236}">
                <a16:creationId xmlns:a16="http://schemas.microsoft.com/office/drawing/2014/main" id="{E844C2C8-4485-0AA1-9824-832A575F863E}"/>
              </a:ext>
            </a:extLst>
          </p:cNvPr>
          <p:cNvSpPr txBox="1"/>
          <p:nvPr/>
        </p:nvSpPr>
        <p:spPr>
          <a:xfrm>
            <a:off x="8788893" y="319596"/>
            <a:ext cx="2821413" cy="276999"/>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1">
                <a:latin typeface="Times New Roman" panose="02020603050405020304" pitchFamily="18" charset="0"/>
                <a:cs typeface="Times New Roman" panose="02020603050405020304" pitchFamily="18" charset="0"/>
              </a:rPr>
              <a:t>TIFAC – CORE in CYBER SECURITY</a:t>
            </a:r>
            <a:endParaRPr lang="en-IN" sz="1200" b="1">
              <a:latin typeface="Times New Roman" panose="02020603050405020304" pitchFamily="18" charset="0"/>
              <a:cs typeface="Times New Roman" panose="02020603050405020304" pitchFamily="18" charset="0"/>
            </a:endParaRPr>
          </a:p>
        </p:txBody>
      </p:sp>
      <p:sp>
        <p:nvSpPr>
          <p:cNvPr id="8" name="Slide Number Placeholder 10">
            <a:extLst>
              <a:ext uri="{FF2B5EF4-FFF2-40B4-BE49-F238E27FC236}">
                <a16:creationId xmlns:a16="http://schemas.microsoft.com/office/drawing/2014/main" id="{620DE270-F402-B1CC-4219-F536BF852A21}"/>
              </a:ext>
            </a:extLst>
          </p:cNvPr>
          <p:cNvSpPr>
            <a:spLocks noGrp="1"/>
          </p:cNvSpPr>
          <p:nvPr/>
        </p:nvSpPr>
        <p:spPr>
          <a:xfrm>
            <a:off x="8734887"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C3E5B82-863A-4B66-9E4F-DCFAD2A3B854}" type="slidenum">
              <a:rPr lang="en-IN" smtClean="0"/>
              <a:pPr/>
              <a:t>3</a:t>
            </a:fld>
            <a:endParaRPr lang="en-IN"/>
          </a:p>
        </p:txBody>
      </p:sp>
      <p:sp>
        <p:nvSpPr>
          <p:cNvPr id="9" name="Footer Placeholder 11">
            <a:extLst>
              <a:ext uri="{FF2B5EF4-FFF2-40B4-BE49-F238E27FC236}">
                <a16:creationId xmlns:a16="http://schemas.microsoft.com/office/drawing/2014/main" id="{C289263F-C702-F913-8BC6-FF0FF0B00C83}"/>
              </a:ext>
            </a:extLst>
          </p:cNvPr>
          <p:cNvSpPr>
            <a:spLocks noGrp="1"/>
          </p:cNvSpPr>
          <p:nvPr/>
        </p:nvSpPr>
        <p:spPr>
          <a:xfrm>
            <a:off x="4038600" y="64928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20CYS 495 B.Tech CYS: 2022 - 2026 Project Presentation </a:t>
            </a:r>
            <a:endParaRPr lang="en-IN"/>
          </a:p>
        </p:txBody>
      </p:sp>
      <p:sp>
        <p:nvSpPr>
          <p:cNvPr id="3" name="TextBox 2">
            <a:extLst>
              <a:ext uri="{FF2B5EF4-FFF2-40B4-BE49-F238E27FC236}">
                <a16:creationId xmlns:a16="http://schemas.microsoft.com/office/drawing/2014/main" id="{DAAA6DFB-AF56-B558-AB81-F58BEAB7E8E4}"/>
              </a:ext>
            </a:extLst>
          </p:cNvPr>
          <p:cNvSpPr txBox="1"/>
          <p:nvPr/>
        </p:nvSpPr>
        <p:spPr>
          <a:xfrm>
            <a:off x="1129392" y="938892"/>
            <a:ext cx="274320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400" b="1">
                <a:latin typeface="Times New Roman"/>
                <a:cs typeface="Times New Roman"/>
              </a:rPr>
              <a:t>Objectives</a:t>
            </a:r>
          </a:p>
        </p:txBody>
      </p:sp>
      <p:sp>
        <p:nvSpPr>
          <p:cNvPr id="11" name="TextBox 10">
            <a:extLst>
              <a:ext uri="{FF2B5EF4-FFF2-40B4-BE49-F238E27FC236}">
                <a16:creationId xmlns:a16="http://schemas.microsoft.com/office/drawing/2014/main" id="{BDBC55B4-C809-88AC-0E85-FAF27F023A48}"/>
              </a:ext>
            </a:extLst>
          </p:cNvPr>
          <p:cNvSpPr txBox="1"/>
          <p:nvPr/>
        </p:nvSpPr>
        <p:spPr>
          <a:xfrm>
            <a:off x="1319892" y="1687285"/>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0" name="TextBox 9">
            <a:extLst>
              <a:ext uri="{FF2B5EF4-FFF2-40B4-BE49-F238E27FC236}">
                <a16:creationId xmlns:a16="http://schemas.microsoft.com/office/drawing/2014/main" id="{43D6C825-4056-1DCA-AD8F-44D643116BD2}"/>
              </a:ext>
            </a:extLst>
          </p:cNvPr>
          <p:cNvSpPr txBox="1"/>
          <p:nvPr/>
        </p:nvSpPr>
        <p:spPr>
          <a:xfrm>
            <a:off x="1224000" y="1710000"/>
            <a:ext cx="10097788" cy="470898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2000" b="1">
                <a:latin typeface="Times New Roman"/>
                <a:ea typeface="+mn-lt"/>
                <a:cs typeface="+mn-lt"/>
              </a:rPr>
              <a:t>Detect Early Attack Signals</a:t>
            </a:r>
            <a:br>
              <a:rPr lang="en-US" sz="2000">
                <a:latin typeface="Times New Roman"/>
                <a:ea typeface="+mn-lt"/>
                <a:cs typeface="+mn-lt"/>
              </a:rPr>
            </a:br>
            <a:r>
              <a:rPr lang="en-US" sz="2000">
                <a:latin typeface="Times New Roman"/>
                <a:ea typeface="+mn-lt"/>
                <a:cs typeface="+mn-lt"/>
              </a:rPr>
              <a:t> To capture initial attacker activities such as port scans and reconnaissance attempts.</a:t>
            </a:r>
            <a:endParaRPr lang="en-US" sz="2000">
              <a:latin typeface="Times New Roman"/>
              <a:cs typeface="Times New Roman"/>
            </a:endParaRPr>
          </a:p>
          <a:p>
            <a:endParaRPr lang="en-US" sz="2000">
              <a:latin typeface="Times New Roman"/>
              <a:ea typeface="+mn-lt"/>
              <a:cs typeface="+mn-lt"/>
            </a:endParaRPr>
          </a:p>
          <a:p>
            <a:pPr marL="285750" indent="-285750">
              <a:buFont typeface="Arial"/>
              <a:buChar char="•"/>
            </a:pPr>
            <a:r>
              <a:rPr lang="en-US" sz="2000" b="1">
                <a:latin typeface="Times New Roman"/>
                <a:ea typeface="+mn-lt"/>
                <a:cs typeface="+mn-lt"/>
              </a:rPr>
              <a:t>Classify Attacker Intent</a:t>
            </a:r>
            <a:br>
              <a:rPr lang="en-US" sz="2000" b="1">
                <a:latin typeface="Times New Roman"/>
                <a:ea typeface="+mn-lt"/>
                <a:cs typeface="+mn-lt"/>
              </a:rPr>
            </a:br>
            <a:r>
              <a:rPr lang="en-US" sz="2000">
                <a:latin typeface="Times New Roman"/>
                <a:ea typeface="+mn-lt"/>
                <a:cs typeface="+mn-lt"/>
              </a:rPr>
              <a:t> To analyze the observed traffic using a lightweight detection method (rule-based or ML) to determine the likely target service (e.g., SSH, web).</a:t>
            </a:r>
            <a:endParaRPr lang="en-US" sz="2000">
              <a:latin typeface="Times New Roman"/>
              <a:cs typeface="Times New Roman"/>
            </a:endParaRPr>
          </a:p>
          <a:p>
            <a:endParaRPr lang="en-US" sz="2000">
              <a:latin typeface="Times New Roman"/>
              <a:ea typeface="+mn-lt"/>
              <a:cs typeface="+mn-lt"/>
            </a:endParaRPr>
          </a:p>
          <a:p>
            <a:pPr marL="285750" indent="-285750">
              <a:buFont typeface="Arial"/>
              <a:buChar char="•"/>
            </a:pPr>
            <a:r>
              <a:rPr lang="en-US" sz="2000" b="1">
                <a:latin typeface="Times New Roman"/>
                <a:ea typeface="+mn-lt"/>
                <a:cs typeface="+mn-lt"/>
              </a:rPr>
              <a:t>Orchestrate Dynamic Honeypots</a:t>
            </a:r>
            <a:br>
              <a:rPr lang="en-US" sz="2000" b="1">
                <a:latin typeface="Times New Roman"/>
                <a:ea typeface="+mn-lt"/>
                <a:cs typeface="+mn-lt"/>
              </a:rPr>
            </a:br>
            <a:r>
              <a:rPr lang="en-US" sz="2000">
                <a:latin typeface="Times New Roman"/>
                <a:ea typeface="+mn-lt"/>
                <a:cs typeface="+mn-lt"/>
              </a:rPr>
              <a:t> To automatically deploy the most suitable honeypot container in real-time based on the classified intent.</a:t>
            </a:r>
            <a:endParaRPr lang="en-US" sz="2000">
              <a:latin typeface="Times New Roman"/>
              <a:cs typeface="Times New Roman"/>
            </a:endParaRPr>
          </a:p>
          <a:p>
            <a:endParaRPr lang="en-US" sz="2000">
              <a:latin typeface="Times New Roman"/>
              <a:ea typeface="+mn-lt"/>
              <a:cs typeface="+mn-lt"/>
            </a:endParaRPr>
          </a:p>
          <a:p>
            <a:pPr marL="285750" indent="-285750">
              <a:buFont typeface="Arial"/>
              <a:buChar char="•"/>
            </a:pPr>
            <a:r>
              <a:rPr lang="en-US" sz="2000" b="1">
                <a:latin typeface="Times New Roman"/>
                <a:ea typeface="+mn-lt"/>
                <a:cs typeface="+mn-lt"/>
              </a:rPr>
              <a:t>Enable Realistic Engagement</a:t>
            </a:r>
            <a:br>
              <a:rPr lang="en-US" sz="2000" b="1">
                <a:latin typeface="Times New Roman"/>
                <a:ea typeface="+mn-lt"/>
                <a:cs typeface="+mn-lt"/>
              </a:rPr>
            </a:br>
            <a:r>
              <a:rPr lang="en-US" sz="2000">
                <a:latin typeface="Times New Roman"/>
                <a:ea typeface="+mn-lt"/>
                <a:cs typeface="+mn-lt"/>
              </a:rPr>
              <a:t> To ensure the attacker interacts with convincing honeypots, allowing detailed monitoring of commands, payloads, and techniques.</a:t>
            </a:r>
            <a:endParaRPr lang="en-US" sz="2000">
              <a:latin typeface="Times New Roman"/>
              <a:cs typeface="Times New Roman"/>
            </a:endParaRPr>
          </a:p>
          <a:p>
            <a:endParaRPr lang="en-US" sz="2000">
              <a:latin typeface="Times New Roman"/>
              <a:cs typeface="Times New Roman"/>
            </a:endParaRPr>
          </a:p>
        </p:txBody>
      </p:sp>
    </p:spTree>
    <p:extLst>
      <p:ext uri="{BB962C8B-B14F-4D97-AF65-F5344CB8AC3E}">
        <p14:creationId xmlns:p14="http://schemas.microsoft.com/office/powerpoint/2010/main" val="3472817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5D39AF-7058-6307-9FFD-4453F4B672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14E335-E2C6-4305-7DAF-39E118136D41}"/>
              </a:ext>
            </a:extLst>
          </p:cNvPr>
          <p:cNvSpPr>
            <a:spLocks noGrp="1"/>
          </p:cNvSpPr>
          <p:nvPr>
            <p:ph type="ctrTitle"/>
          </p:nvPr>
        </p:nvSpPr>
        <p:spPr>
          <a:xfrm>
            <a:off x="1524000" y="1134363"/>
            <a:ext cx="8670000" cy="773600"/>
          </a:xfrm>
        </p:spPr>
        <p:txBody>
          <a:bodyPr>
            <a:normAutofit fontScale="90000"/>
          </a:bodyPr>
          <a:lstStyle/>
          <a:p>
            <a:br>
              <a:rPr lang="en-US"/>
            </a:br>
            <a:endParaRPr lang="en-US"/>
          </a:p>
        </p:txBody>
      </p:sp>
      <p:pic>
        <p:nvPicPr>
          <p:cNvPr id="4" name="Picture 3">
            <a:extLst>
              <a:ext uri="{FF2B5EF4-FFF2-40B4-BE49-F238E27FC236}">
                <a16:creationId xmlns:a16="http://schemas.microsoft.com/office/drawing/2014/main" id="{79E62447-61AE-EE7B-DB65-4D829EDBEA9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1663" y="79092"/>
            <a:ext cx="1740919" cy="402801"/>
          </a:xfrm>
          <a:prstGeom prst="rect">
            <a:avLst/>
          </a:prstGeom>
        </p:spPr>
      </p:pic>
      <p:cxnSp>
        <p:nvCxnSpPr>
          <p:cNvPr id="5" name="Straight Connector 4">
            <a:extLst>
              <a:ext uri="{FF2B5EF4-FFF2-40B4-BE49-F238E27FC236}">
                <a16:creationId xmlns:a16="http://schemas.microsoft.com/office/drawing/2014/main" id="{46BE4C06-4DC9-666C-6F0F-96D69C65AC82}"/>
              </a:ext>
            </a:extLst>
          </p:cNvPr>
          <p:cNvCxnSpPr>
            <a:cxnSpLocks/>
          </p:cNvCxnSpPr>
          <p:nvPr/>
        </p:nvCxnSpPr>
        <p:spPr>
          <a:xfrm>
            <a:off x="1109709" y="594804"/>
            <a:ext cx="10235953" cy="0"/>
          </a:xfrm>
          <a:prstGeom prst="line">
            <a:avLst/>
          </a:prstGeom>
        </p:spPr>
        <p:style>
          <a:lnRef idx="3">
            <a:schemeClr val="dk1"/>
          </a:lnRef>
          <a:fillRef idx="0">
            <a:schemeClr val="dk1"/>
          </a:fillRef>
          <a:effectRef idx="2">
            <a:schemeClr val="dk1"/>
          </a:effectRef>
          <a:fontRef idx="minor">
            <a:schemeClr val="tx1"/>
          </a:fontRef>
        </p:style>
      </p:cxnSp>
      <p:cxnSp>
        <p:nvCxnSpPr>
          <p:cNvPr id="6" name="Straight Connector 5">
            <a:extLst>
              <a:ext uri="{FF2B5EF4-FFF2-40B4-BE49-F238E27FC236}">
                <a16:creationId xmlns:a16="http://schemas.microsoft.com/office/drawing/2014/main" id="{E7559D18-4B16-6D08-8C1D-E6891E2D1D97}"/>
              </a:ext>
            </a:extLst>
          </p:cNvPr>
          <p:cNvCxnSpPr/>
          <p:nvPr/>
        </p:nvCxnSpPr>
        <p:spPr>
          <a:xfrm>
            <a:off x="1038687" y="6462943"/>
            <a:ext cx="10369119" cy="0"/>
          </a:xfrm>
          <a:prstGeom prst="line">
            <a:avLst/>
          </a:prstGeom>
        </p:spPr>
        <p:style>
          <a:lnRef idx="3">
            <a:schemeClr val="dk1"/>
          </a:lnRef>
          <a:fillRef idx="0">
            <a:schemeClr val="dk1"/>
          </a:fillRef>
          <a:effectRef idx="2">
            <a:schemeClr val="dk1"/>
          </a:effectRef>
          <a:fontRef idx="minor">
            <a:schemeClr val="tx1"/>
          </a:fontRef>
        </p:style>
      </p:cxnSp>
      <p:sp>
        <p:nvSpPr>
          <p:cNvPr id="7" name="TextBox 7">
            <a:extLst>
              <a:ext uri="{FF2B5EF4-FFF2-40B4-BE49-F238E27FC236}">
                <a16:creationId xmlns:a16="http://schemas.microsoft.com/office/drawing/2014/main" id="{88FB0CD2-4334-1A6B-7939-F858AE3708E6}"/>
              </a:ext>
            </a:extLst>
          </p:cNvPr>
          <p:cNvSpPr txBox="1"/>
          <p:nvPr/>
        </p:nvSpPr>
        <p:spPr>
          <a:xfrm>
            <a:off x="8788893" y="319596"/>
            <a:ext cx="2821413" cy="276999"/>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1">
                <a:latin typeface="Times New Roman" panose="02020603050405020304" pitchFamily="18" charset="0"/>
                <a:cs typeface="Times New Roman" panose="02020603050405020304" pitchFamily="18" charset="0"/>
              </a:rPr>
              <a:t>TIFAC – CORE in CYBER SECURITY</a:t>
            </a:r>
            <a:endParaRPr lang="en-IN" sz="1200" b="1">
              <a:latin typeface="Times New Roman" panose="02020603050405020304" pitchFamily="18" charset="0"/>
              <a:cs typeface="Times New Roman" panose="02020603050405020304" pitchFamily="18" charset="0"/>
            </a:endParaRPr>
          </a:p>
        </p:txBody>
      </p:sp>
      <p:sp>
        <p:nvSpPr>
          <p:cNvPr id="8" name="Slide Number Placeholder 10">
            <a:extLst>
              <a:ext uri="{FF2B5EF4-FFF2-40B4-BE49-F238E27FC236}">
                <a16:creationId xmlns:a16="http://schemas.microsoft.com/office/drawing/2014/main" id="{15FD1A83-B8AA-9253-A300-1450A5868AEC}"/>
              </a:ext>
            </a:extLst>
          </p:cNvPr>
          <p:cNvSpPr>
            <a:spLocks noGrp="1"/>
          </p:cNvSpPr>
          <p:nvPr/>
        </p:nvSpPr>
        <p:spPr>
          <a:xfrm>
            <a:off x="8734887"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C3E5B82-863A-4B66-9E4F-DCFAD2A3B854}" type="slidenum">
              <a:rPr lang="en-IN" smtClean="0"/>
              <a:pPr/>
              <a:t>4</a:t>
            </a:fld>
            <a:endParaRPr lang="en-IN"/>
          </a:p>
        </p:txBody>
      </p:sp>
      <p:sp>
        <p:nvSpPr>
          <p:cNvPr id="9" name="Footer Placeholder 11">
            <a:extLst>
              <a:ext uri="{FF2B5EF4-FFF2-40B4-BE49-F238E27FC236}">
                <a16:creationId xmlns:a16="http://schemas.microsoft.com/office/drawing/2014/main" id="{66616064-3FF7-4042-1136-E112957AC447}"/>
              </a:ext>
            </a:extLst>
          </p:cNvPr>
          <p:cNvSpPr>
            <a:spLocks noGrp="1"/>
          </p:cNvSpPr>
          <p:nvPr/>
        </p:nvSpPr>
        <p:spPr>
          <a:xfrm>
            <a:off x="4038600" y="64928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20CYS 495 B.Tech CYS: 2022 - 2026 Project Presentation </a:t>
            </a:r>
            <a:endParaRPr lang="en-IN"/>
          </a:p>
        </p:txBody>
      </p:sp>
      <p:sp>
        <p:nvSpPr>
          <p:cNvPr id="3" name="TextBox 2">
            <a:extLst>
              <a:ext uri="{FF2B5EF4-FFF2-40B4-BE49-F238E27FC236}">
                <a16:creationId xmlns:a16="http://schemas.microsoft.com/office/drawing/2014/main" id="{09085985-300B-E624-BB74-FC2A5423D6EB}"/>
              </a:ext>
            </a:extLst>
          </p:cNvPr>
          <p:cNvSpPr txBox="1"/>
          <p:nvPr/>
        </p:nvSpPr>
        <p:spPr>
          <a:xfrm>
            <a:off x="1129392" y="938892"/>
            <a:ext cx="274320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latin typeface="Times New Roman"/>
                <a:cs typeface="Times New Roman"/>
              </a:rPr>
              <a:t>Objectives - </a:t>
            </a:r>
            <a:r>
              <a:rPr lang="en-US" sz="2400" b="1" err="1">
                <a:latin typeface="Times New Roman"/>
                <a:cs typeface="Times New Roman"/>
              </a:rPr>
              <a:t>Cont</a:t>
            </a:r>
          </a:p>
        </p:txBody>
      </p:sp>
      <p:sp>
        <p:nvSpPr>
          <p:cNvPr id="11" name="TextBox 10">
            <a:extLst>
              <a:ext uri="{FF2B5EF4-FFF2-40B4-BE49-F238E27FC236}">
                <a16:creationId xmlns:a16="http://schemas.microsoft.com/office/drawing/2014/main" id="{AEEA5CB4-4598-32FF-2B0B-DBED4478DF01}"/>
              </a:ext>
            </a:extLst>
          </p:cNvPr>
          <p:cNvSpPr txBox="1"/>
          <p:nvPr/>
        </p:nvSpPr>
        <p:spPr>
          <a:xfrm>
            <a:off x="1319892" y="1687285"/>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3" name="TextBox 12">
            <a:extLst>
              <a:ext uri="{FF2B5EF4-FFF2-40B4-BE49-F238E27FC236}">
                <a16:creationId xmlns:a16="http://schemas.microsoft.com/office/drawing/2014/main" id="{2E850FA2-28B8-FC3E-52D4-0DAD5D77360B}"/>
              </a:ext>
            </a:extLst>
          </p:cNvPr>
          <p:cNvSpPr txBox="1"/>
          <p:nvPr/>
        </p:nvSpPr>
        <p:spPr>
          <a:xfrm>
            <a:off x="1290000" y="1674000"/>
            <a:ext cx="9757200" cy="255454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Sans-Serif"/>
              <a:buChar char="•"/>
            </a:pPr>
            <a:r>
              <a:rPr lang="en-US" sz="2000" b="1">
                <a:latin typeface="Times New Roman"/>
                <a:cs typeface="Times New Roman"/>
              </a:rPr>
              <a:t>Centralize Threat Intelligence</a:t>
            </a:r>
            <a:br>
              <a:rPr lang="en-US" sz="2000">
                <a:latin typeface="Times New Roman"/>
              </a:rPr>
            </a:br>
            <a:r>
              <a:rPr lang="en-US" sz="2000">
                <a:latin typeface="Times New Roman"/>
                <a:cs typeface="Times New Roman"/>
              </a:rPr>
              <a:t> To forward captured logs into a SIEM (e.g., Splunk) for correlation, visualization, and alerting.</a:t>
            </a:r>
          </a:p>
          <a:p>
            <a:endParaRPr lang="en-US" sz="2000">
              <a:latin typeface="Times New Roman"/>
              <a:cs typeface="Times New Roman"/>
            </a:endParaRPr>
          </a:p>
          <a:p>
            <a:pPr marL="285750" indent="-285750">
              <a:buFont typeface="Arial,Sans-Serif"/>
              <a:buChar char="•"/>
            </a:pPr>
            <a:r>
              <a:rPr lang="en-US" sz="2000" b="1">
                <a:latin typeface="Times New Roman"/>
                <a:cs typeface="Times New Roman"/>
              </a:rPr>
              <a:t>Map to MITRE ATT&amp;CK</a:t>
            </a:r>
            <a:br>
              <a:rPr lang="en-US" sz="2000" b="1">
                <a:latin typeface="Times New Roman"/>
              </a:rPr>
            </a:br>
            <a:r>
              <a:rPr lang="en-US" sz="2000">
                <a:latin typeface="Times New Roman"/>
                <a:cs typeface="Times New Roman"/>
              </a:rPr>
              <a:t> To profile and classify attacker behavior against the MITRE ATT&amp;CK framework, producing actionable threat intelligence for analysts.</a:t>
            </a:r>
          </a:p>
          <a:p>
            <a:pPr algn="l"/>
            <a:endParaRPr lang="en-US" sz="2000">
              <a:latin typeface="Times New Roman"/>
              <a:cs typeface="Times New Roman"/>
            </a:endParaRPr>
          </a:p>
        </p:txBody>
      </p:sp>
    </p:spTree>
    <p:extLst>
      <p:ext uri="{BB962C8B-B14F-4D97-AF65-F5344CB8AC3E}">
        <p14:creationId xmlns:p14="http://schemas.microsoft.com/office/powerpoint/2010/main" val="824068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5D39AF-7058-6307-9FFD-4453F4B672B6}"/>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79E62447-61AE-EE7B-DB65-4D829EDBEA9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1663" y="79092"/>
            <a:ext cx="1740919" cy="402801"/>
          </a:xfrm>
          <a:prstGeom prst="rect">
            <a:avLst/>
          </a:prstGeom>
        </p:spPr>
      </p:pic>
      <p:cxnSp>
        <p:nvCxnSpPr>
          <p:cNvPr id="5" name="Straight Connector 4">
            <a:extLst>
              <a:ext uri="{FF2B5EF4-FFF2-40B4-BE49-F238E27FC236}">
                <a16:creationId xmlns:a16="http://schemas.microsoft.com/office/drawing/2014/main" id="{46BE4C06-4DC9-666C-6F0F-96D69C65AC82}"/>
              </a:ext>
            </a:extLst>
          </p:cNvPr>
          <p:cNvCxnSpPr>
            <a:cxnSpLocks/>
          </p:cNvCxnSpPr>
          <p:nvPr/>
        </p:nvCxnSpPr>
        <p:spPr>
          <a:xfrm>
            <a:off x="1109709" y="594804"/>
            <a:ext cx="10235953" cy="0"/>
          </a:xfrm>
          <a:prstGeom prst="line">
            <a:avLst/>
          </a:prstGeom>
        </p:spPr>
        <p:style>
          <a:lnRef idx="3">
            <a:schemeClr val="dk1"/>
          </a:lnRef>
          <a:fillRef idx="0">
            <a:schemeClr val="dk1"/>
          </a:fillRef>
          <a:effectRef idx="2">
            <a:schemeClr val="dk1"/>
          </a:effectRef>
          <a:fontRef idx="minor">
            <a:schemeClr val="tx1"/>
          </a:fontRef>
        </p:style>
      </p:cxnSp>
      <p:cxnSp>
        <p:nvCxnSpPr>
          <p:cNvPr id="6" name="Straight Connector 5">
            <a:extLst>
              <a:ext uri="{FF2B5EF4-FFF2-40B4-BE49-F238E27FC236}">
                <a16:creationId xmlns:a16="http://schemas.microsoft.com/office/drawing/2014/main" id="{E7559D18-4B16-6D08-8C1D-E6891E2D1D97}"/>
              </a:ext>
            </a:extLst>
          </p:cNvPr>
          <p:cNvCxnSpPr/>
          <p:nvPr/>
        </p:nvCxnSpPr>
        <p:spPr>
          <a:xfrm>
            <a:off x="1038687" y="6462943"/>
            <a:ext cx="10369119" cy="0"/>
          </a:xfrm>
          <a:prstGeom prst="line">
            <a:avLst/>
          </a:prstGeom>
        </p:spPr>
        <p:style>
          <a:lnRef idx="3">
            <a:schemeClr val="dk1"/>
          </a:lnRef>
          <a:fillRef idx="0">
            <a:schemeClr val="dk1"/>
          </a:fillRef>
          <a:effectRef idx="2">
            <a:schemeClr val="dk1"/>
          </a:effectRef>
          <a:fontRef idx="minor">
            <a:schemeClr val="tx1"/>
          </a:fontRef>
        </p:style>
      </p:cxnSp>
      <p:sp>
        <p:nvSpPr>
          <p:cNvPr id="7" name="TextBox 7">
            <a:extLst>
              <a:ext uri="{FF2B5EF4-FFF2-40B4-BE49-F238E27FC236}">
                <a16:creationId xmlns:a16="http://schemas.microsoft.com/office/drawing/2014/main" id="{88FB0CD2-4334-1A6B-7939-F858AE3708E6}"/>
              </a:ext>
            </a:extLst>
          </p:cNvPr>
          <p:cNvSpPr txBox="1"/>
          <p:nvPr/>
        </p:nvSpPr>
        <p:spPr>
          <a:xfrm>
            <a:off x="8788893" y="319596"/>
            <a:ext cx="2821413" cy="276999"/>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1">
                <a:latin typeface="Times New Roman" panose="02020603050405020304" pitchFamily="18" charset="0"/>
                <a:cs typeface="Times New Roman" panose="02020603050405020304" pitchFamily="18" charset="0"/>
              </a:rPr>
              <a:t>TIFAC – CORE in CYBER SECURITY</a:t>
            </a:r>
            <a:endParaRPr lang="en-IN" sz="1200" b="1">
              <a:latin typeface="Times New Roman" panose="02020603050405020304" pitchFamily="18" charset="0"/>
              <a:cs typeface="Times New Roman" panose="02020603050405020304" pitchFamily="18" charset="0"/>
            </a:endParaRPr>
          </a:p>
        </p:txBody>
      </p:sp>
      <p:sp>
        <p:nvSpPr>
          <p:cNvPr id="8" name="Slide Number Placeholder 10">
            <a:extLst>
              <a:ext uri="{FF2B5EF4-FFF2-40B4-BE49-F238E27FC236}">
                <a16:creationId xmlns:a16="http://schemas.microsoft.com/office/drawing/2014/main" id="{15FD1A83-B8AA-9253-A300-1450A5868AEC}"/>
              </a:ext>
            </a:extLst>
          </p:cNvPr>
          <p:cNvSpPr>
            <a:spLocks noGrp="1"/>
          </p:cNvSpPr>
          <p:nvPr/>
        </p:nvSpPr>
        <p:spPr>
          <a:xfrm>
            <a:off x="8734887"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C3E5B82-863A-4B66-9E4F-DCFAD2A3B854}" type="slidenum">
              <a:rPr lang="en-IN" smtClean="0"/>
              <a:pPr/>
              <a:t>5</a:t>
            </a:fld>
            <a:endParaRPr lang="en-IN"/>
          </a:p>
        </p:txBody>
      </p:sp>
      <p:sp>
        <p:nvSpPr>
          <p:cNvPr id="9" name="Footer Placeholder 11">
            <a:extLst>
              <a:ext uri="{FF2B5EF4-FFF2-40B4-BE49-F238E27FC236}">
                <a16:creationId xmlns:a16="http://schemas.microsoft.com/office/drawing/2014/main" id="{66616064-3FF7-4042-1136-E112957AC447}"/>
              </a:ext>
            </a:extLst>
          </p:cNvPr>
          <p:cNvSpPr>
            <a:spLocks noGrp="1"/>
          </p:cNvSpPr>
          <p:nvPr/>
        </p:nvSpPr>
        <p:spPr>
          <a:xfrm>
            <a:off x="4038600" y="64928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20CYS 495 B.Tech CYS: 2022 - 2026 Project Presentation </a:t>
            </a:r>
            <a:endParaRPr lang="en-IN"/>
          </a:p>
        </p:txBody>
      </p:sp>
      <p:sp>
        <p:nvSpPr>
          <p:cNvPr id="3" name="TextBox 2">
            <a:extLst>
              <a:ext uri="{FF2B5EF4-FFF2-40B4-BE49-F238E27FC236}">
                <a16:creationId xmlns:a16="http://schemas.microsoft.com/office/drawing/2014/main" id="{09085985-300B-E624-BB74-FC2A5423D6EB}"/>
              </a:ext>
            </a:extLst>
          </p:cNvPr>
          <p:cNvSpPr txBox="1"/>
          <p:nvPr/>
        </p:nvSpPr>
        <p:spPr>
          <a:xfrm>
            <a:off x="1129392" y="938892"/>
            <a:ext cx="274320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latin typeface="Times New Roman"/>
                <a:cs typeface="Times New Roman"/>
              </a:rPr>
              <a:t>Methodologies: </a:t>
            </a:r>
          </a:p>
        </p:txBody>
      </p:sp>
      <p:sp>
        <p:nvSpPr>
          <p:cNvPr id="12" name="Rectangle 2">
            <a:extLst>
              <a:ext uri="{FF2B5EF4-FFF2-40B4-BE49-F238E27FC236}">
                <a16:creationId xmlns:a16="http://schemas.microsoft.com/office/drawing/2014/main" id="{B5DE2148-17A9-B2CA-385C-3C94F9690766}"/>
              </a:ext>
            </a:extLst>
          </p:cNvPr>
          <p:cNvSpPr>
            <a:spLocks noChangeArrowheads="1"/>
          </p:cNvSpPr>
          <p:nvPr/>
        </p:nvSpPr>
        <p:spPr bwMode="auto">
          <a:xfrm>
            <a:off x="1180878" y="1471645"/>
            <a:ext cx="9599158"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sng" strike="noStrike" cap="none" normalizeH="0" baseline="0">
                <a:ln>
                  <a:noFill/>
                </a:ln>
                <a:effectLst/>
                <a:latin typeface="Times New Roman"/>
                <a:cs typeface="Times New Roman"/>
              </a:rPr>
              <a:t>Approach Taken</a:t>
            </a:r>
          </a:p>
          <a:p>
            <a:pPr marL="285750" marR="0" lvl="0" indent="-285750" algn="l" defTabSz="914400" rtl="0" eaLnBrk="0" fontAlgn="base" latinLnBrk="0" hangingPunct="0">
              <a:lnSpc>
                <a:spcPct val="100000"/>
              </a:lnSpc>
              <a:spcBef>
                <a:spcPct val="0"/>
              </a:spcBef>
              <a:spcAft>
                <a:spcPct val="0"/>
              </a:spcAft>
              <a:buClrTx/>
              <a:buSzTx/>
              <a:buFont typeface="Arial"/>
              <a:buChar char="•"/>
              <a:tabLst/>
            </a:pPr>
            <a:endParaRPr lang="en-US" altLang="en-US" b="1">
              <a:latin typeface="Times New Roman" panose="02020603050405020304" pitchFamily="18" charset="0"/>
              <a:cs typeface="Times New Roman" panose="02020603050405020304" pitchFamily="18" charset="0"/>
            </a:endParaRPr>
          </a:p>
          <a:p>
            <a:pPr marL="742950" lvl="1" indent="-285750" eaLnBrk="0" fontAlgn="base" hangingPunct="0">
              <a:spcBef>
                <a:spcPct val="0"/>
              </a:spcBef>
              <a:spcAft>
                <a:spcPct val="0"/>
              </a:spcAft>
              <a:buFont typeface="Arial"/>
              <a:buChar char="•"/>
            </a:pPr>
            <a:r>
              <a:rPr kumimoji="0" lang="en-US" altLang="en-US" b="1" i="0" u="none" strike="noStrike" cap="none" normalizeH="0" baseline="0">
                <a:ln>
                  <a:noFill/>
                </a:ln>
                <a:effectLst/>
                <a:latin typeface="Times New Roman"/>
                <a:cs typeface="Times New Roman"/>
              </a:rPr>
              <a:t> Honeypot-based Threat Collection</a:t>
            </a:r>
            <a:r>
              <a:rPr kumimoji="0" lang="en-US" altLang="en-US" b="0" i="0" u="none" strike="noStrike" cap="none" normalizeH="0" baseline="0">
                <a:ln>
                  <a:noFill/>
                </a:ln>
                <a:effectLst/>
                <a:latin typeface="Times New Roman"/>
                <a:cs typeface="Times New Roman"/>
              </a:rPr>
              <a:t>  (using T-Pot CE)</a:t>
            </a:r>
            <a:endParaRPr lang="en-US" altLang="en-US" b="0" i="0" u="none" strike="noStrike" cap="none" normalizeH="0" baseline="0">
              <a:ln>
                <a:noFill/>
              </a:ln>
              <a:effectLst/>
              <a:latin typeface="Times New Roman"/>
              <a:cs typeface="Times New Roman"/>
            </a:endParaRPr>
          </a:p>
          <a:p>
            <a:pPr marL="742950" lvl="1" indent="-285750" eaLnBrk="0" fontAlgn="base" hangingPunct="0">
              <a:spcBef>
                <a:spcPct val="0"/>
              </a:spcBef>
              <a:spcAft>
                <a:spcPct val="0"/>
              </a:spcAft>
              <a:buFont typeface="Arial"/>
              <a:buChar char="•"/>
            </a:pPr>
            <a:r>
              <a:rPr kumimoji="0" lang="en-US" altLang="en-US" b="1" i="0" u="none" strike="noStrike" cap="none" normalizeH="0" baseline="0">
                <a:ln>
                  <a:noFill/>
                </a:ln>
                <a:effectLst/>
                <a:latin typeface="Times New Roman"/>
                <a:cs typeface="Times New Roman"/>
              </a:rPr>
              <a:t> Penetration Testing Simulation</a:t>
            </a:r>
            <a:r>
              <a:rPr kumimoji="0" lang="en-US" altLang="en-US" b="0" i="0" u="none" strike="noStrike" cap="none" normalizeH="0" baseline="0">
                <a:ln>
                  <a:noFill/>
                </a:ln>
                <a:effectLst/>
                <a:latin typeface="Times New Roman"/>
                <a:cs typeface="Times New Roman"/>
              </a:rPr>
              <a:t>  (APT-style attacks launched from Kali Linux)</a:t>
            </a:r>
            <a:endParaRPr lang="en-US" altLang="en-US" b="0" i="0" u="none" strike="noStrike" cap="none" normalizeH="0" baseline="0">
              <a:ln>
                <a:noFill/>
              </a:ln>
              <a:effectLst/>
              <a:latin typeface="Times New Roman"/>
              <a:cs typeface="Times New Roman"/>
            </a:endParaRPr>
          </a:p>
          <a:p>
            <a:pPr marL="742950" lvl="1" indent="-285750" eaLnBrk="0" fontAlgn="base" hangingPunct="0">
              <a:spcBef>
                <a:spcPct val="0"/>
              </a:spcBef>
              <a:spcAft>
                <a:spcPct val="0"/>
              </a:spcAft>
              <a:buFont typeface="Arial"/>
              <a:buChar char="•"/>
            </a:pPr>
            <a:r>
              <a:rPr kumimoji="0" lang="en-US" altLang="en-US" b="1" i="0" u="none" strike="noStrike" cap="none" normalizeH="0" baseline="0">
                <a:ln>
                  <a:noFill/>
                </a:ln>
                <a:effectLst/>
                <a:latin typeface="Times New Roman"/>
                <a:cs typeface="Times New Roman"/>
              </a:rPr>
              <a:t> SIEM-based Detection &amp; Analysis</a:t>
            </a:r>
            <a:r>
              <a:rPr kumimoji="0" lang="en-US" altLang="en-US" b="0" i="0" u="none" strike="noStrike" cap="none" normalizeH="0" baseline="0">
                <a:ln>
                  <a:noFill/>
                </a:ln>
                <a:effectLst/>
                <a:latin typeface="Times New Roman"/>
                <a:cs typeface="Times New Roman"/>
              </a:rPr>
              <a:t> (via Splunk correlation rules)</a:t>
            </a:r>
            <a:endParaRPr lang="en-US" altLang="en-US" b="0" i="0" u="none" strike="noStrike" cap="none" normalizeH="0" baseline="0">
              <a:ln>
                <a:noFill/>
              </a:ln>
              <a:effectLst/>
              <a:latin typeface="Times New Roman"/>
              <a:cs typeface="Times New Roman"/>
            </a:endParaRPr>
          </a:p>
          <a:p>
            <a:pPr marL="742950" lvl="1" indent="-285750" eaLnBrk="0" fontAlgn="base" hangingPunct="0">
              <a:spcBef>
                <a:spcPct val="0"/>
              </a:spcBef>
              <a:spcAft>
                <a:spcPct val="0"/>
              </a:spcAft>
              <a:buFont typeface="Arial"/>
              <a:buChar char="•"/>
            </a:pPr>
            <a:r>
              <a:rPr kumimoji="0" lang="en-US" altLang="en-US" b="1" i="0" u="none" strike="noStrike" cap="none" normalizeH="0" baseline="0">
                <a:ln>
                  <a:noFill/>
                </a:ln>
                <a:effectLst/>
                <a:latin typeface="Times New Roman"/>
                <a:cs typeface="Times New Roman"/>
              </a:rPr>
              <a:t> Threat Intelligence Mapping</a:t>
            </a:r>
            <a:r>
              <a:rPr kumimoji="0" lang="en-US" altLang="en-US" b="0" i="0" u="none" strike="noStrike" cap="none" normalizeH="0" baseline="0">
                <a:ln>
                  <a:noFill/>
                </a:ln>
                <a:effectLst/>
                <a:latin typeface="Times New Roman"/>
                <a:cs typeface="Times New Roman"/>
              </a:rPr>
              <a:t> (to MITRE ATT&amp;CK tactics &amp; techniques)</a:t>
            </a:r>
            <a:endParaRPr lang="en-US" altLang="en-US" b="0" i="0" u="none" strike="noStrike" cap="none" normalizeH="0" baseline="0">
              <a:ln>
                <a:noFill/>
              </a:ln>
              <a:effectLst/>
              <a:latin typeface="Times New Roman"/>
              <a:cs typeface="Times New Roman"/>
            </a:endParaRPr>
          </a:p>
          <a:p>
            <a:pPr lvl="1" eaLnBrk="0" fontAlgn="base" hangingPunct="0">
              <a:spcBef>
                <a:spcPct val="0"/>
              </a:spcBef>
              <a:spcAft>
                <a:spcPct val="0"/>
              </a:spcAft>
            </a:pPr>
            <a:endParaRPr kumimoji="0" lang="en-US" altLang="en-US"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p:txBody>
      </p:sp>
      <p:sp>
        <p:nvSpPr>
          <p:cNvPr id="16" name="Rectangle 2">
            <a:extLst>
              <a:ext uri="{FF2B5EF4-FFF2-40B4-BE49-F238E27FC236}">
                <a16:creationId xmlns:a16="http://schemas.microsoft.com/office/drawing/2014/main" id="{7989FBAD-491A-55C8-5121-6698A6927AC5}"/>
              </a:ext>
            </a:extLst>
          </p:cNvPr>
          <p:cNvSpPr>
            <a:spLocks noChangeArrowheads="1"/>
          </p:cNvSpPr>
          <p:nvPr/>
        </p:nvSpPr>
        <p:spPr bwMode="auto">
          <a:xfrm>
            <a:off x="1129392" y="3470621"/>
            <a:ext cx="9599158"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b="1" u="sng">
                <a:latin typeface="Times New Roman"/>
                <a:cs typeface="Times New Roman"/>
              </a:rPr>
              <a:t>Tools &amp; Technologies Used:</a:t>
            </a:r>
          </a:p>
          <a:p>
            <a:endParaRPr lang="en-US" u="sng">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b="1">
                <a:latin typeface="Times New Roman"/>
                <a:cs typeface="Times New Roman"/>
              </a:rPr>
              <a:t>T-Pot CE</a:t>
            </a:r>
            <a:r>
              <a:rPr lang="en-US">
                <a:latin typeface="Times New Roman"/>
                <a:cs typeface="Times New Roman"/>
              </a:rPr>
              <a:t> – Multi-honeypot framework (Cowrie, Dionaea, </a:t>
            </a:r>
            <a:r>
              <a:rPr lang="en-US" err="1">
                <a:latin typeface="Times New Roman"/>
                <a:cs typeface="Times New Roman"/>
              </a:rPr>
              <a:t>Conpot</a:t>
            </a:r>
            <a:r>
              <a:rPr lang="en-US">
                <a:latin typeface="Times New Roman"/>
                <a:cs typeface="Times New Roman"/>
              </a:rPr>
              <a:t>, </a:t>
            </a:r>
            <a:r>
              <a:rPr lang="en-US" err="1">
                <a:latin typeface="Times New Roman"/>
                <a:cs typeface="Times New Roman"/>
              </a:rPr>
              <a:t>Medpot</a:t>
            </a:r>
            <a:r>
              <a:rPr lang="en-US">
                <a:latin typeface="Times New Roman"/>
                <a:cs typeface="Times New Roman"/>
              </a:rPr>
              <a:t>, etc.)</a:t>
            </a:r>
          </a:p>
          <a:p>
            <a:pPr marL="742950" lvl="1" indent="-285750">
              <a:buFont typeface="Arial" panose="020B0604020202020204" pitchFamily="34" charset="0"/>
              <a:buChar char="•"/>
            </a:pPr>
            <a:r>
              <a:rPr lang="en-US" b="1">
                <a:latin typeface="Times New Roman" panose="02020603050405020304" pitchFamily="18" charset="0"/>
                <a:cs typeface="Times New Roman" panose="02020603050405020304" pitchFamily="18" charset="0"/>
              </a:rPr>
              <a:t>Kali Linux</a:t>
            </a:r>
            <a:r>
              <a:rPr lang="en-US">
                <a:latin typeface="Times New Roman" panose="02020603050405020304" pitchFamily="18" charset="0"/>
                <a:cs typeface="Times New Roman" panose="02020603050405020304" pitchFamily="18" charset="0"/>
              </a:rPr>
              <a:t> – Attack simulation (FTP brute-force, web exploitation, etc.)</a:t>
            </a:r>
          </a:p>
          <a:p>
            <a:pPr marL="742950" lvl="1" indent="-285750">
              <a:buFont typeface="Arial" panose="020B0604020202020204" pitchFamily="34" charset="0"/>
              <a:buChar char="•"/>
            </a:pPr>
            <a:r>
              <a:rPr lang="en-US" b="1">
                <a:latin typeface="Times New Roman" panose="02020603050405020304" pitchFamily="18" charset="0"/>
                <a:cs typeface="Times New Roman" panose="02020603050405020304" pitchFamily="18" charset="0"/>
              </a:rPr>
              <a:t>Splunk Enterprise</a:t>
            </a:r>
            <a:r>
              <a:rPr lang="en-US">
                <a:latin typeface="Times New Roman" panose="02020603050405020304" pitchFamily="18" charset="0"/>
                <a:cs typeface="Times New Roman" panose="02020603050405020304" pitchFamily="18" charset="0"/>
              </a:rPr>
              <a:t> – Log aggregation, visualization &amp; rule-based detection</a:t>
            </a:r>
          </a:p>
          <a:p>
            <a:pPr marL="742950" lvl="1" indent="-285750">
              <a:buFont typeface="Arial" panose="020B0604020202020204" pitchFamily="34" charset="0"/>
              <a:buChar char="•"/>
            </a:pPr>
            <a:r>
              <a:rPr lang="en-US" b="1">
                <a:latin typeface="Times New Roman" panose="02020603050405020304" pitchFamily="18" charset="0"/>
                <a:cs typeface="Times New Roman" panose="02020603050405020304" pitchFamily="18" charset="0"/>
              </a:rPr>
              <a:t>Docker</a:t>
            </a:r>
            <a:r>
              <a:rPr lang="en-US">
                <a:latin typeface="Times New Roman" panose="02020603050405020304" pitchFamily="18" charset="0"/>
                <a:cs typeface="Times New Roman" panose="02020603050405020304" pitchFamily="18" charset="0"/>
              </a:rPr>
              <a:t> – Containerized honeypot management</a:t>
            </a:r>
          </a:p>
          <a:p>
            <a:pPr marL="742950" lvl="1" indent="-285750">
              <a:buFont typeface="Arial" panose="020B0604020202020204" pitchFamily="34" charset="0"/>
              <a:buChar char="•"/>
            </a:pPr>
            <a:r>
              <a:rPr lang="en-US" b="1">
                <a:latin typeface="Times New Roman" panose="02020603050405020304" pitchFamily="18" charset="0"/>
                <a:cs typeface="Times New Roman" panose="02020603050405020304" pitchFamily="18" charset="0"/>
              </a:rPr>
              <a:t>Python</a:t>
            </a:r>
            <a:r>
              <a:rPr lang="en-US">
                <a:latin typeface="Times New Roman" panose="02020603050405020304" pitchFamily="18" charset="0"/>
                <a:cs typeface="Times New Roman" panose="02020603050405020304" pitchFamily="18" charset="0"/>
              </a:rPr>
              <a:t> – Log parsing &amp; JSON-based APT simulation script</a:t>
            </a:r>
          </a:p>
          <a:p>
            <a:pPr marL="742950" lvl="1" indent="-285750">
              <a:buFont typeface="Arial" panose="020B0604020202020204" pitchFamily="34" charset="0"/>
              <a:buChar char="•"/>
            </a:pPr>
            <a:r>
              <a:rPr lang="en-US" b="1">
                <a:latin typeface="Times New Roman" panose="02020603050405020304" pitchFamily="18" charset="0"/>
                <a:cs typeface="Times New Roman" panose="02020603050405020304" pitchFamily="18" charset="0"/>
              </a:rPr>
              <a:t>MITRE ATT&amp;CK Framework</a:t>
            </a:r>
            <a:r>
              <a:rPr lang="en-US">
                <a:latin typeface="Times New Roman" panose="02020603050405020304" pitchFamily="18" charset="0"/>
                <a:cs typeface="Times New Roman" panose="02020603050405020304" pitchFamily="18" charset="0"/>
              </a:rPr>
              <a:t> – For APT classification</a:t>
            </a:r>
          </a:p>
        </p:txBody>
      </p:sp>
    </p:spTree>
    <p:extLst>
      <p:ext uri="{BB962C8B-B14F-4D97-AF65-F5344CB8AC3E}">
        <p14:creationId xmlns:p14="http://schemas.microsoft.com/office/powerpoint/2010/main" val="38380321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5D39AF-7058-6307-9FFD-4453F4B672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14E335-E2C6-4305-7DAF-39E118136D41}"/>
              </a:ext>
            </a:extLst>
          </p:cNvPr>
          <p:cNvSpPr>
            <a:spLocks noGrp="1"/>
          </p:cNvSpPr>
          <p:nvPr>
            <p:ph type="ctrTitle"/>
          </p:nvPr>
        </p:nvSpPr>
        <p:spPr>
          <a:xfrm>
            <a:off x="1103613" y="1307156"/>
            <a:ext cx="8389584" cy="1241842"/>
          </a:xfrm>
        </p:spPr>
        <p:txBody>
          <a:bodyPr vert="horz" lIns="91440" tIns="45720" rIns="91440" bIns="45720" rtlCol="0" anchor="b">
            <a:normAutofit/>
          </a:bodyPr>
          <a:lstStyle/>
          <a:p>
            <a:pPr algn="l"/>
            <a:r>
              <a:rPr lang="en-US" sz="1800" b="1" u="sng">
                <a:latin typeface="Aptos Display"/>
              </a:rPr>
              <a:t>Algorithms/Models Used</a:t>
            </a:r>
            <a:r>
              <a:rPr lang="en-US" sz="1800" b="1">
                <a:latin typeface="Aptos Display"/>
              </a:rPr>
              <a:t>:</a:t>
            </a:r>
            <a:br>
              <a:rPr lang="en-US" sz="1800" b="1"/>
            </a:br>
            <a:br>
              <a:rPr lang="en-US" sz="1800">
                <a:latin typeface="Times New Roman"/>
                <a:cs typeface="Times New Roman" panose="02020603050405020304" pitchFamily="18" charset="0"/>
              </a:rPr>
            </a:br>
            <a:r>
              <a:rPr lang="en-US" sz="1800" b="1">
                <a:latin typeface="Aptos Display"/>
              </a:rPr>
              <a:t>Rule-based Detection Algorithms</a:t>
            </a:r>
            <a:r>
              <a:rPr lang="en-US" sz="1800">
                <a:latin typeface="Aptos Display"/>
              </a:rPr>
              <a:t> in Splunk (mapping log patterns → APT stages)</a:t>
            </a:r>
            <a:br>
              <a:rPr lang="en-US" sz="1800"/>
            </a:br>
            <a:endParaRPr lang="en-US" sz="1800">
              <a:latin typeface="Aptos Display"/>
            </a:endParaRPr>
          </a:p>
        </p:txBody>
      </p:sp>
      <p:pic>
        <p:nvPicPr>
          <p:cNvPr id="4" name="Picture 3">
            <a:extLst>
              <a:ext uri="{FF2B5EF4-FFF2-40B4-BE49-F238E27FC236}">
                <a16:creationId xmlns:a16="http://schemas.microsoft.com/office/drawing/2014/main" id="{79E62447-61AE-EE7B-DB65-4D829EDBEA9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1663" y="79092"/>
            <a:ext cx="1740919" cy="402801"/>
          </a:xfrm>
          <a:prstGeom prst="rect">
            <a:avLst/>
          </a:prstGeom>
        </p:spPr>
      </p:pic>
      <p:cxnSp>
        <p:nvCxnSpPr>
          <p:cNvPr id="5" name="Straight Connector 4">
            <a:extLst>
              <a:ext uri="{FF2B5EF4-FFF2-40B4-BE49-F238E27FC236}">
                <a16:creationId xmlns:a16="http://schemas.microsoft.com/office/drawing/2014/main" id="{46BE4C06-4DC9-666C-6F0F-96D69C65AC82}"/>
              </a:ext>
            </a:extLst>
          </p:cNvPr>
          <p:cNvCxnSpPr>
            <a:cxnSpLocks/>
          </p:cNvCxnSpPr>
          <p:nvPr/>
        </p:nvCxnSpPr>
        <p:spPr>
          <a:xfrm>
            <a:off x="1109709" y="594804"/>
            <a:ext cx="10235953" cy="0"/>
          </a:xfrm>
          <a:prstGeom prst="line">
            <a:avLst/>
          </a:prstGeom>
        </p:spPr>
        <p:style>
          <a:lnRef idx="3">
            <a:schemeClr val="dk1"/>
          </a:lnRef>
          <a:fillRef idx="0">
            <a:schemeClr val="dk1"/>
          </a:fillRef>
          <a:effectRef idx="2">
            <a:schemeClr val="dk1"/>
          </a:effectRef>
          <a:fontRef idx="minor">
            <a:schemeClr val="tx1"/>
          </a:fontRef>
        </p:style>
      </p:cxnSp>
      <p:cxnSp>
        <p:nvCxnSpPr>
          <p:cNvPr id="6" name="Straight Connector 5">
            <a:extLst>
              <a:ext uri="{FF2B5EF4-FFF2-40B4-BE49-F238E27FC236}">
                <a16:creationId xmlns:a16="http://schemas.microsoft.com/office/drawing/2014/main" id="{E7559D18-4B16-6D08-8C1D-E6891E2D1D97}"/>
              </a:ext>
            </a:extLst>
          </p:cNvPr>
          <p:cNvCxnSpPr/>
          <p:nvPr/>
        </p:nvCxnSpPr>
        <p:spPr>
          <a:xfrm>
            <a:off x="1038687" y="6462943"/>
            <a:ext cx="10369119" cy="0"/>
          </a:xfrm>
          <a:prstGeom prst="line">
            <a:avLst/>
          </a:prstGeom>
        </p:spPr>
        <p:style>
          <a:lnRef idx="3">
            <a:schemeClr val="dk1"/>
          </a:lnRef>
          <a:fillRef idx="0">
            <a:schemeClr val="dk1"/>
          </a:fillRef>
          <a:effectRef idx="2">
            <a:schemeClr val="dk1"/>
          </a:effectRef>
          <a:fontRef idx="minor">
            <a:schemeClr val="tx1"/>
          </a:fontRef>
        </p:style>
      </p:cxnSp>
      <p:sp>
        <p:nvSpPr>
          <p:cNvPr id="7" name="TextBox 7">
            <a:extLst>
              <a:ext uri="{FF2B5EF4-FFF2-40B4-BE49-F238E27FC236}">
                <a16:creationId xmlns:a16="http://schemas.microsoft.com/office/drawing/2014/main" id="{88FB0CD2-4334-1A6B-7939-F858AE3708E6}"/>
              </a:ext>
            </a:extLst>
          </p:cNvPr>
          <p:cNvSpPr txBox="1"/>
          <p:nvPr/>
        </p:nvSpPr>
        <p:spPr>
          <a:xfrm>
            <a:off x="8788893" y="319596"/>
            <a:ext cx="2821413" cy="276999"/>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1">
                <a:latin typeface="Times New Roman" panose="02020603050405020304" pitchFamily="18" charset="0"/>
                <a:cs typeface="Times New Roman" panose="02020603050405020304" pitchFamily="18" charset="0"/>
              </a:rPr>
              <a:t>TIFAC – CORE in CYBER SECURITY</a:t>
            </a:r>
            <a:endParaRPr lang="en-IN" sz="1200" b="1">
              <a:latin typeface="Times New Roman" panose="02020603050405020304" pitchFamily="18" charset="0"/>
              <a:cs typeface="Times New Roman" panose="02020603050405020304" pitchFamily="18" charset="0"/>
            </a:endParaRPr>
          </a:p>
        </p:txBody>
      </p:sp>
      <p:sp>
        <p:nvSpPr>
          <p:cNvPr id="8" name="Slide Number Placeholder 10">
            <a:extLst>
              <a:ext uri="{FF2B5EF4-FFF2-40B4-BE49-F238E27FC236}">
                <a16:creationId xmlns:a16="http://schemas.microsoft.com/office/drawing/2014/main" id="{15FD1A83-B8AA-9253-A300-1450A5868AEC}"/>
              </a:ext>
            </a:extLst>
          </p:cNvPr>
          <p:cNvSpPr>
            <a:spLocks noGrp="1"/>
          </p:cNvSpPr>
          <p:nvPr/>
        </p:nvSpPr>
        <p:spPr>
          <a:xfrm>
            <a:off x="8734887"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C3E5B82-863A-4B66-9E4F-DCFAD2A3B854}" type="slidenum">
              <a:rPr lang="en-IN" smtClean="0"/>
              <a:pPr/>
              <a:t>6</a:t>
            </a:fld>
            <a:endParaRPr lang="en-IN"/>
          </a:p>
        </p:txBody>
      </p:sp>
      <p:sp>
        <p:nvSpPr>
          <p:cNvPr id="9" name="Footer Placeholder 11">
            <a:extLst>
              <a:ext uri="{FF2B5EF4-FFF2-40B4-BE49-F238E27FC236}">
                <a16:creationId xmlns:a16="http://schemas.microsoft.com/office/drawing/2014/main" id="{66616064-3FF7-4042-1136-E112957AC447}"/>
              </a:ext>
            </a:extLst>
          </p:cNvPr>
          <p:cNvSpPr>
            <a:spLocks noGrp="1"/>
          </p:cNvSpPr>
          <p:nvPr/>
        </p:nvSpPr>
        <p:spPr>
          <a:xfrm>
            <a:off x="4038600" y="64928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20CYS 495 B.Tech CYS: 2022 - 2026 Project Presentation </a:t>
            </a:r>
            <a:endParaRPr lang="en-IN"/>
          </a:p>
        </p:txBody>
      </p:sp>
      <p:sp>
        <p:nvSpPr>
          <p:cNvPr id="11" name="TextBox 10">
            <a:extLst>
              <a:ext uri="{FF2B5EF4-FFF2-40B4-BE49-F238E27FC236}">
                <a16:creationId xmlns:a16="http://schemas.microsoft.com/office/drawing/2014/main" id="{AEEA5CB4-4598-32FF-2B0B-DBED4478DF01}"/>
              </a:ext>
            </a:extLst>
          </p:cNvPr>
          <p:cNvSpPr txBox="1"/>
          <p:nvPr/>
        </p:nvSpPr>
        <p:spPr>
          <a:xfrm>
            <a:off x="1319892" y="1687285"/>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Tree>
    <p:extLst>
      <p:ext uri="{BB962C8B-B14F-4D97-AF65-F5344CB8AC3E}">
        <p14:creationId xmlns:p14="http://schemas.microsoft.com/office/powerpoint/2010/main" val="31304793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5D39AF-7058-6307-9FFD-4453F4B672B6}"/>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79E62447-61AE-EE7B-DB65-4D829EDBEA9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1663" y="79092"/>
            <a:ext cx="1740919" cy="402801"/>
          </a:xfrm>
          <a:prstGeom prst="rect">
            <a:avLst/>
          </a:prstGeom>
        </p:spPr>
      </p:pic>
      <p:cxnSp>
        <p:nvCxnSpPr>
          <p:cNvPr id="5" name="Straight Connector 4">
            <a:extLst>
              <a:ext uri="{FF2B5EF4-FFF2-40B4-BE49-F238E27FC236}">
                <a16:creationId xmlns:a16="http://schemas.microsoft.com/office/drawing/2014/main" id="{46BE4C06-4DC9-666C-6F0F-96D69C65AC82}"/>
              </a:ext>
            </a:extLst>
          </p:cNvPr>
          <p:cNvCxnSpPr>
            <a:cxnSpLocks/>
          </p:cNvCxnSpPr>
          <p:nvPr/>
        </p:nvCxnSpPr>
        <p:spPr>
          <a:xfrm>
            <a:off x="1109709" y="594804"/>
            <a:ext cx="10235953" cy="0"/>
          </a:xfrm>
          <a:prstGeom prst="line">
            <a:avLst/>
          </a:prstGeom>
        </p:spPr>
        <p:style>
          <a:lnRef idx="3">
            <a:schemeClr val="dk1"/>
          </a:lnRef>
          <a:fillRef idx="0">
            <a:schemeClr val="dk1"/>
          </a:fillRef>
          <a:effectRef idx="2">
            <a:schemeClr val="dk1"/>
          </a:effectRef>
          <a:fontRef idx="minor">
            <a:schemeClr val="tx1"/>
          </a:fontRef>
        </p:style>
      </p:cxnSp>
      <p:cxnSp>
        <p:nvCxnSpPr>
          <p:cNvPr id="6" name="Straight Connector 5">
            <a:extLst>
              <a:ext uri="{FF2B5EF4-FFF2-40B4-BE49-F238E27FC236}">
                <a16:creationId xmlns:a16="http://schemas.microsoft.com/office/drawing/2014/main" id="{E7559D18-4B16-6D08-8C1D-E6891E2D1D97}"/>
              </a:ext>
            </a:extLst>
          </p:cNvPr>
          <p:cNvCxnSpPr/>
          <p:nvPr/>
        </p:nvCxnSpPr>
        <p:spPr>
          <a:xfrm>
            <a:off x="1038687" y="6462943"/>
            <a:ext cx="10369119" cy="0"/>
          </a:xfrm>
          <a:prstGeom prst="line">
            <a:avLst/>
          </a:prstGeom>
        </p:spPr>
        <p:style>
          <a:lnRef idx="3">
            <a:schemeClr val="dk1"/>
          </a:lnRef>
          <a:fillRef idx="0">
            <a:schemeClr val="dk1"/>
          </a:fillRef>
          <a:effectRef idx="2">
            <a:schemeClr val="dk1"/>
          </a:effectRef>
          <a:fontRef idx="minor">
            <a:schemeClr val="tx1"/>
          </a:fontRef>
        </p:style>
      </p:cxnSp>
      <p:sp>
        <p:nvSpPr>
          <p:cNvPr id="7" name="TextBox 7">
            <a:extLst>
              <a:ext uri="{FF2B5EF4-FFF2-40B4-BE49-F238E27FC236}">
                <a16:creationId xmlns:a16="http://schemas.microsoft.com/office/drawing/2014/main" id="{88FB0CD2-4334-1A6B-7939-F858AE3708E6}"/>
              </a:ext>
            </a:extLst>
          </p:cNvPr>
          <p:cNvSpPr txBox="1"/>
          <p:nvPr/>
        </p:nvSpPr>
        <p:spPr>
          <a:xfrm>
            <a:off x="8788893" y="319596"/>
            <a:ext cx="2821413" cy="276999"/>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1">
                <a:latin typeface="Times New Roman" panose="02020603050405020304" pitchFamily="18" charset="0"/>
                <a:cs typeface="Times New Roman" panose="02020603050405020304" pitchFamily="18" charset="0"/>
              </a:rPr>
              <a:t>TIFAC – CORE in CYBER SECURITY</a:t>
            </a:r>
            <a:endParaRPr lang="en-IN" sz="1200" b="1">
              <a:latin typeface="Times New Roman" panose="02020603050405020304" pitchFamily="18" charset="0"/>
              <a:cs typeface="Times New Roman" panose="02020603050405020304" pitchFamily="18" charset="0"/>
            </a:endParaRPr>
          </a:p>
        </p:txBody>
      </p:sp>
      <p:sp>
        <p:nvSpPr>
          <p:cNvPr id="8" name="Slide Number Placeholder 10">
            <a:extLst>
              <a:ext uri="{FF2B5EF4-FFF2-40B4-BE49-F238E27FC236}">
                <a16:creationId xmlns:a16="http://schemas.microsoft.com/office/drawing/2014/main" id="{15FD1A83-B8AA-9253-A300-1450A5868AEC}"/>
              </a:ext>
            </a:extLst>
          </p:cNvPr>
          <p:cNvSpPr>
            <a:spLocks noGrp="1"/>
          </p:cNvSpPr>
          <p:nvPr/>
        </p:nvSpPr>
        <p:spPr>
          <a:xfrm>
            <a:off x="8734887"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C3E5B82-863A-4B66-9E4F-DCFAD2A3B854}" type="slidenum">
              <a:rPr lang="en-IN" smtClean="0"/>
              <a:pPr/>
              <a:t>7</a:t>
            </a:fld>
            <a:endParaRPr lang="en-IN"/>
          </a:p>
        </p:txBody>
      </p:sp>
      <p:sp>
        <p:nvSpPr>
          <p:cNvPr id="9" name="Footer Placeholder 11">
            <a:extLst>
              <a:ext uri="{FF2B5EF4-FFF2-40B4-BE49-F238E27FC236}">
                <a16:creationId xmlns:a16="http://schemas.microsoft.com/office/drawing/2014/main" id="{66616064-3FF7-4042-1136-E112957AC447}"/>
              </a:ext>
            </a:extLst>
          </p:cNvPr>
          <p:cNvSpPr>
            <a:spLocks noGrp="1"/>
          </p:cNvSpPr>
          <p:nvPr/>
        </p:nvSpPr>
        <p:spPr>
          <a:xfrm>
            <a:off x="4038600" y="64928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20CYS 495 B.Tech CYS: 2022 - 2026 Project Presentation </a:t>
            </a:r>
            <a:endParaRPr lang="en-IN"/>
          </a:p>
        </p:txBody>
      </p:sp>
      <p:sp>
        <p:nvSpPr>
          <p:cNvPr id="3" name="TextBox 2">
            <a:extLst>
              <a:ext uri="{FF2B5EF4-FFF2-40B4-BE49-F238E27FC236}">
                <a16:creationId xmlns:a16="http://schemas.microsoft.com/office/drawing/2014/main" id="{09085985-300B-E624-BB74-FC2A5423D6EB}"/>
              </a:ext>
            </a:extLst>
          </p:cNvPr>
          <p:cNvSpPr txBox="1"/>
          <p:nvPr/>
        </p:nvSpPr>
        <p:spPr>
          <a:xfrm>
            <a:off x="1092122" y="707716"/>
            <a:ext cx="4622184"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latin typeface="Times New Roman"/>
                <a:cs typeface="Times New Roman"/>
              </a:rPr>
              <a:t>System  Architecture</a:t>
            </a:r>
          </a:p>
        </p:txBody>
      </p:sp>
      <p:sp>
        <p:nvSpPr>
          <p:cNvPr id="11" name="TextBox 10">
            <a:extLst>
              <a:ext uri="{FF2B5EF4-FFF2-40B4-BE49-F238E27FC236}">
                <a16:creationId xmlns:a16="http://schemas.microsoft.com/office/drawing/2014/main" id="{AEEA5CB4-4598-32FF-2B0B-DBED4478DF01}"/>
              </a:ext>
            </a:extLst>
          </p:cNvPr>
          <p:cNvSpPr txBox="1"/>
          <p:nvPr/>
        </p:nvSpPr>
        <p:spPr>
          <a:xfrm>
            <a:off x="1319892" y="1687285"/>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pic>
        <p:nvPicPr>
          <p:cNvPr id="16" name="Picture 15">
            <a:extLst>
              <a:ext uri="{FF2B5EF4-FFF2-40B4-BE49-F238E27FC236}">
                <a16:creationId xmlns:a16="http://schemas.microsoft.com/office/drawing/2014/main" id="{A2ABE181-7912-011A-D3EA-485E1AAAF81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6656" y="1122815"/>
            <a:ext cx="11119104" cy="5104951"/>
          </a:xfrm>
          <a:prstGeom prst="rect">
            <a:avLst/>
          </a:prstGeom>
        </p:spPr>
      </p:pic>
    </p:spTree>
    <p:extLst>
      <p:ext uri="{BB962C8B-B14F-4D97-AF65-F5344CB8AC3E}">
        <p14:creationId xmlns:p14="http://schemas.microsoft.com/office/powerpoint/2010/main" val="8524468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6BB468-D228-8943-D481-3A9378C1CC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39A184-1974-73BA-40B7-82C8F6917596}"/>
              </a:ext>
            </a:extLst>
          </p:cNvPr>
          <p:cNvSpPr>
            <a:spLocks noGrp="1"/>
          </p:cNvSpPr>
          <p:nvPr>
            <p:ph type="ctrTitle"/>
          </p:nvPr>
        </p:nvSpPr>
        <p:spPr>
          <a:xfrm>
            <a:off x="1524000" y="1134363"/>
            <a:ext cx="8670000" cy="773600"/>
          </a:xfrm>
        </p:spPr>
        <p:txBody>
          <a:bodyPr>
            <a:normAutofit fontScale="90000"/>
          </a:bodyPr>
          <a:lstStyle/>
          <a:p>
            <a:br>
              <a:rPr lang="en-US"/>
            </a:br>
            <a:endParaRPr lang="en-US"/>
          </a:p>
        </p:txBody>
      </p:sp>
      <p:pic>
        <p:nvPicPr>
          <p:cNvPr id="4" name="Picture 3">
            <a:extLst>
              <a:ext uri="{FF2B5EF4-FFF2-40B4-BE49-F238E27FC236}">
                <a16:creationId xmlns:a16="http://schemas.microsoft.com/office/drawing/2014/main" id="{2DC9850F-3DD3-DA95-75FE-887186AD421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1663" y="79092"/>
            <a:ext cx="1740919" cy="402801"/>
          </a:xfrm>
          <a:prstGeom prst="rect">
            <a:avLst/>
          </a:prstGeom>
        </p:spPr>
      </p:pic>
      <p:cxnSp>
        <p:nvCxnSpPr>
          <p:cNvPr id="5" name="Straight Connector 4">
            <a:extLst>
              <a:ext uri="{FF2B5EF4-FFF2-40B4-BE49-F238E27FC236}">
                <a16:creationId xmlns:a16="http://schemas.microsoft.com/office/drawing/2014/main" id="{164E7082-D1CC-0A51-C08B-DCD9B06A483C}"/>
              </a:ext>
            </a:extLst>
          </p:cNvPr>
          <p:cNvCxnSpPr>
            <a:cxnSpLocks/>
          </p:cNvCxnSpPr>
          <p:nvPr/>
        </p:nvCxnSpPr>
        <p:spPr>
          <a:xfrm>
            <a:off x="1109709" y="594804"/>
            <a:ext cx="10235953" cy="0"/>
          </a:xfrm>
          <a:prstGeom prst="line">
            <a:avLst/>
          </a:prstGeom>
        </p:spPr>
        <p:style>
          <a:lnRef idx="3">
            <a:schemeClr val="dk1"/>
          </a:lnRef>
          <a:fillRef idx="0">
            <a:schemeClr val="dk1"/>
          </a:fillRef>
          <a:effectRef idx="2">
            <a:schemeClr val="dk1"/>
          </a:effectRef>
          <a:fontRef idx="minor">
            <a:schemeClr val="tx1"/>
          </a:fontRef>
        </p:style>
      </p:cxnSp>
      <p:cxnSp>
        <p:nvCxnSpPr>
          <p:cNvPr id="6" name="Straight Connector 5">
            <a:extLst>
              <a:ext uri="{FF2B5EF4-FFF2-40B4-BE49-F238E27FC236}">
                <a16:creationId xmlns:a16="http://schemas.microsoft.com/office/drawing/2014/main" id="{41F09C0F-B9DB-36F4-B368-F19ADD180AA9}"/>
              </a:ext>
            </a:extLst>
          </p:cNvPr>
          <p:cNvCxnSpPr/>
          <p:nvPr/>
        </p:nvCxnSpPr>
        <p:spPr>
          <a:xfrm>
            <a:off x="1038687" y="6462943"/>
            <a:ext cx="10369119" cy="0"/>
          </a:xfrm>
          <a:prstGeom prst="line">
            <a:avLst/>
          </a:prstGeom>
        </p:spPr>
        <p:style>
          <a:lnRef idx="3">
            <a:schemeClr val="dk1"/>
          </a:lnRef>
          <a:fillRef idx="0">
            <a:schemeClr val="dk1"/>
          </a:fillRef>
          <a:effectRef idx="2">
            <a:schemeClr val="dk1"/>
          </a:effectRef>
          <a:fontRef idx="minor">
            <a:schemeClr val="tx1"/>
          </a:fontRef>
        </p:style>
      </p:cxnSp>
      <p:sp>
        <p:nvSpPr>
          <p:cNvPr id="7" name="TextBox 7">
            <a:extLst>
              <a:ext uri="{FF2B5EF4-FFF2-40B4-BE49-F238E27FC236}">
                <a16:creationId xmlns:a16="http://schemas.microsoft.com/office/drawing/2014/main" id="{86F62E7B-AA8D-2198-E406-A9821FDDC49D}"/>
              </a:ext>
            </a:extLst>
          </p:cNvPr>
          <p:cNvSpPr txBox="1"/>
          <p:nvPr/>
        </p:nvSpPr>
        <p:spPr>
          <a:xfrm>
            <a:off x="8788893" y="319596"/>
            <a:ext cx="2821413" cy="276999"/>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1">
                <a:latin typeface="Times New Roman" panose="02020603050405020304" pitchFamily="18" charset="0"/>
                <a:cs typeface="Times New Roman" panose="02020603050405020304" pitchFamily="18" charset="0"/>
              </a:rPr>
              <a:t>TIFAC – CORE in CYBER SECURITY</a:t>
            </a:r>
            <a:endParaRPr lang="en-IN" sz="1200" b="1">
              <a:latin typeface="Times New Roman" panose="02020603050405020304" pitchFamily="18" charset="0"/>
              <a:cs typeface="Times New Roman" panose="02020603050405020304" pitchFamily="18" charset="0"/>
            </a:endParaRPr>
          </a:p>
        </p:txBody>
      </p:sp>
      <p:sp>
        <p:nvSpPr>
          <p:cNvPr id="8" name="Slide Number Placeholder 10">
            <a:extLst>
              <a:ext uri="{FF2B5EF4-FFF2-40B4-BE49-F238E27FC236}">
                <a16:creationId xmlns:a16="http://schemas.microsoft.com/office/drawing/2014/main" id="{AEFC0860-64FB-85F3-3F4F-2DD96156EACC}"/>
              </a:ext>
            </a:extLst>
          </p:cNvPr>
          <p:cNvSpPr>
            <a:spLocks noGrp="1"/>
          </p:cNvSpPr>
          <p:nvPr/>
        </p:nvSpPr>
        <p:spPr>
          <a:xfrm>
            <a:off x="8734887"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C3E5B82-863A-4B66-9E4F-DCFAD2A3B854}" type="slidenum">
              <a:rPr lang="en-IN" smtClean="0"/>
              <a:pPr/>
              <a:t>8</a:t>
            </a:fld>
            <a:endParaRPr lang="en-IN"/>
          </a:p>
        </p:txBody>
      </p:sp>
      <p:sp>
        <p:nvSpPr>
          <p:cNvPr id="9" name="Footer Placeholder 11">
            <a:extLst>
              <a:ext uri="{FF2B5EF4-FFF2-40B4-BE49-F238E27FC236}">
                <a16:creationId xmlns:a16="http://schemas.microsoft.com/office/drawing/2014/main" id="{2754B3B1-E4B0-FEE5-8D9D-C1DE7A4D83F8}"/>
              </a:ext>
            </a:extLst>
          </p:cNvPr>
          <p:cNvSpPr>
            <a:spLocks noGrp="1"/>
          </p:cNvSpPr>
          <p:nvPr/>
        </p:nvSpPr>
        <p:spPr>
          <a:xfrm>
            <a:off x="4038600" y="64928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20CYS 495 B.Tech CYS: 2022 - 2026 Project Presentation </a:t>
            </a:r>
            <a:endParaRPr lang="en-IN"/>
          </a:p>
        </p:txBody>
      </p:sp>
      <p:sp>
        <p:nvSpPr>
          <p:cNvPr id="11" name="TextBox 10">
            <a:extLst>
              <a:ext uri="{FF2B5EF4-FFF2-40B4-BE49-F238E27FC236}">
                <a16:creationId xmlns:a16="http://schemas.microsoft.com/office/drawing/2014/main" id="{E90785C1-585B-6FEA-3245-7539EE9E7D83}"/>
              </a:ext>
            </a:extLst>
          </p:cNvPr>
          <p:cNvSpPr txBox="1"/>
          <p:nvPr/>
        </p:nvSpPr>
        <p:spPr>
          <a:xfrm>
            <a:off x="1319892" y="1687285"/>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0" name="TextBox 9">
            <a:extLst>
              <a:ext uri="{FF2B5EF4-FFF2-40B4-BE49-F238E27FC236}">
                <a16:creationId xmlns:a16="http://schemas.microsoft.com/office/drawing/2014/main" id="{3E60703A-E303-842E-FF76-B69C3F855B5F}"/>
              </a:ext>
            </a:extLst>
          </p:cNvPr>
          <p:cNvSpPr txBox="1"/>
          <p:nvPr/>
        </p:nvSpPr>
        <p:spPr>
          <a:xfrm>
            <a:off x="1224000" y="1710000"/>
            <a:ext cx="9739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pic>
        <p:nvPicPr>
          <p:cNvPr id="3" name="Picture 2" descr="A screenshot of a computer program&#10;&#10;AI-generated content may be incorrect.">
            <a:extLst>
              <a:ext uri="{FF2B5EF4-FFF2-40B4-BE49-F238E27FC236}">
                <a16:creationId xmlns:a16="http://schemas.microsoft.com/office/drawing/2014/main" id="{E82C1C19-C48B-6792-64D1-0BF3F5767627}"/>
              </a:ext>
            </a:extLst>
          </p:cNvPr>
          <p:cNvPicPr>
            <a:picLocks noChangeAspect="1"/>
          </p:cNvPicPr>
          <p:nvPr/>
        </p:nvPicPr>
        <p:blipFill>
          <a:blip r:embed="rId3"/>
          <a:stretch>
            <a:fillRect/>
          </a:stretch>
        </p:blipFill>
        <p:spPr>
          <a:xfrm>
            <a:off x="2200893" y="2832606"/>
            <a:ext cx="6832363" cy="3315986"/>
          </a:xfrm>
          <a:prstGeom prst="rect">
            <a:avLst/>
          </a:prstGeom>
        </p:spPr>
      </p:pic>
      <p:sp>
        <p:nvSpPr>
          <p:cNvPr id="12" name="TextBox 11">
            <a:extLst>
              <a:ext uri="{FF2B5EF4-FFF2-40B4-BE49-F238E27FC236}">
                <a16:creationId xmlns:a16="http://schemas.microsoft.com/office/drawing/2014/main" id="{1CD6E8E8-1FCF-85FF-8363-35CA357876BC}"/>
              </a:ext>
            </a:extLst>
          </p:cNvPr>
          <p:cNvSpPr txBox="1"/>
          <p:nvPr/>
        </p:nvSpPr>
        <p:spPr>
          <a:xfrm>
            <a:off x="1118390" y="1659266"/>
            <a:ext cx="10224008"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a:latin typeface="Times New Roman"/>
                <a:ea typeface="+mn-lt"/>
                <a:cs typeface="+mn-lt"/>
              </a:rPr>
              <a:t>The installation of </a:t>
            </a:r>
            <a:r>
              <a:rPr lang="en-US" b="1">
                <a:latin typeface="Times New Roman"/>
                <a:ea typeface="+mn-lt"/>
                <a:cs typeface="+mn-lt"/>
              </a:rPr>
              <a:t>T-Pot</a:t>
            </a:r>
            <a:r>
              <a:rPr lang="en-US">
                <a:latin typeface="Times New Roman"/>
                <a:ea typeface="+mn-lt"/>
                <a:cs typeface="+mn-lt"/>
              </a:rPr>
              <a:t>, a multi-honeypot framework that brings together several honeypot services into a single environment. During this step, the installation script sets up all the required dependencies such as Python libraries, ensuring the system can support and manage honeypots inside Docker containers.</a:t>
            </a:r>
            <a:endParaRPr lang="en-US">
              <a:latin typeface="Times New Roman"/>
              <a:cs typeface="Times New Roman"/>
            </a:endParaRPr>
          </a:p>
        </p:txBody>
      </p:sp>
      <p:sp>
        <p:nvSpPr>
          <p:cNvPr id="13" name="TextBox 12">
            <a:extLst>
              <a:ext uri="{FF2B5EF4-FFF2-40B4-BE49-F238E27FC236}">
                <a16:creationId xmlns:a16="http://schemas.microsoft.com/office/drawing/2014/main" id="{B11EB134-F9F9-6B2A-1BF4-06D67A4294B6}"/>
              </a:ext>
            </a:extLst>
          </p:cNvPr>
          <p:cNvSpPr txBox="1"/>
          <p:nvPr/>
        </p:nvSpPr>
        <p:spPr>
          <a:xfrm>
            <a:off x="1130300" y="749300"/>
            <a:ext cx="5410200"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latin typeface="Times New Roman"/>
                <a:cs typeface="Times New Roman"/>
              </a:rPr>
              <a:t>Implementation &amp; Results</a:t>
            </a:r>
            <a:endParaRPr lang="en-US" sz="2000">
              <a:latin typeface="Times New Roman"/>
              <a:cs typeface="Times New Roman"/>
            </a:endParaRPr>
          </a:p>
          <a:p>
            <a:pPr algn="l"/>
            <a:endParaRPr lang="en-US"/>
          </a:p>
          <a:p>
            <a:endParaRPr lang="en-US"/>
          </a:p>
        </p:txBody>
      </p:sp>
      <p:sp>
        <p:nvSpPr>
          <p:cNvPr id="14" name="TextBox 13">
            <a:extLst>
              <a:ext uri="{FF2B5EF4-FFF2-40B4-BE49-F238E27FC236}">
                <a16:creationId xmlns:a16="http://schemas.microsoft.com/office/drawing/2014/main" id="{5E916C1D-59E3-2F7A-D4D3-9403E2ECE976}"/>
              </a:ext>
            </a:extLst>
          </p:cNvPr>
          <p:cNvSpPr txBox="1"/>
          <p:nvPr/>
        </p:nvSpPr>
        <p:spPr>
          <a:xfrm>
            <a:off x="1219200" y="1181100"/>
            <a:ext cx="48006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Times New Roman"/>
                <a:cs typeface="Times New Roman"/>
              </a:rPr>
              <a:t>Deployed </a:t>
            </a:r>
            <a:r>
              <a:rPr lang="en-US" b="1">
                <a:latin typeface="Times New Roman"/>
                <a:cs typeface="Times New Roman"/>
              </a:rPr>
              <a:t>T-Pot CE</a:t>
            </a:r>
            <a:r>
              <a:rPr lang="en-US">
                <a:latin typeface="Times New Roman"/>
                <a:cs typeface="Times New Roman"/>
              </a:rPr>
              <a:t> on Ubuntu (via Docker).</a:t>
            </a:r>
            <a:endParaRPr lang="en-US"/>
          </a:p>
        </p:txBody>
      </p:sp>
    </p:spTree>
    <p:extLst>
      <p:ext uri="{BB962C8B-B14F-4D97-AF65-F5344CB8AC3E}">
        <p14:creationId xmlns:p14="http://schemas.microsoft.com/office/powerpoint/2010/main" val="17691607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E4B30A-B75D-86F8-C4A8-83C9C39BF2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ECF566-E363-2E00-8E88-A0213D2BEFD2}"/>
              </a:ext>
            </a:extLst>
          </p:cNvPr>
          <p:cNvSpPr>
            <a:spLocks noGrp="1"/>
          </p:cNvSpPr>
          <p:nvPr>
            <p:ph type="ctrTitle"/>
          </p:nvPr>
        </p:nvSpPr>
        <p:spPr>
          <a:xfrm>
            <a:off x="1524000" y="1134363"/>
            <a:ext cx="8670000" cy="773600"/>
          </a:xfrm>
        </p:spPr>
        <p:txBody>
          <a:bodyPr>
            <a:normAutofit fontScale="90000"/>
          </a:bodyPr>
          <a:lstStyle/>
          <a:p>
            <a:br>
              <a:rPr lang="en-US"/>
            </a:br>
            <a:endParaRPr lang="en-US"/>
          </a:p>
        </p:txBody>
      </p:sp>
      <p:pic>
        <p:nvPicPr>
          <p:cNvPr id="4" name="Picture 3">
            <a:extLst>
              <a:ext uri="{FF2B5EF4-FFF2-40B4-BE49-F238E27FC236}">
                <a16:creationId xmlns:a16="http://schemas.microsoft.com/office/drawing/2014/main" id="{51C3264C-451D-50FE-AC02-767E46FE634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1663" y="79092"/>
            <a:ext cx="1740919" cy="402801"/>
          </a:xfrm>
          <a:prstGeom prst="rect">
            <a:avLst/>
          </a:prstGeom>
        </p:spPr>
      </p:pic>
      <p:cxnSp>
        <p:nvCxnSpPr>
          <p:cNvPr id="5" name="Straight Connector 4">
            <a:extLst>
              <a:ext uri="{FF2B5EF4-FFF2-40B4-BE49-F238E27FC236}">
                <a16:creationId xmlns:a16="http://schemas.microsoft.com/office/drawing/2014/main" id="{A4A8FA43-DA9F-59AE-7AE1-AD17B07407AB}"/>
              </a:ext>
            </a:extLst>
          </p:cNvPr>
          <p:cNvCxnSpPr>
            <a:cxnSpLocks/>
          </p:cNvCxnSpPr>
          <p:nvPr/>
        </p:nvCxnSpPr>
        <p:spPr>
          <a:xfrm>
            <a:off x="1109709" y="594804"/>
            <a:ext cx="10235953" cy="0"/>
          </a:xfrm>
          <a:prstGeom prst="line">
            <a:avLst/>
          </a:prstGeom>
        </p:spPr>
        <p:style>
          <a:lnRef idx="3">
            <a:schemeClr val="dk1"/>
          </a:lnRef>
          <a:fillRef idx="0">
            <a:schemeClr val="dk1"/>
          </a:fillRef>
          <a:effectRef idx="2">
            <a:schemeClr val="dk1"/>
          </a:effectRef>
          <a:fontRef idx="minor">
            <a:schemeClr val="tx1"/>
          </a:fontRef>
        </p:style>
      </p:cxnSp>
      <p:cxnSp>
        <p:nvCxnSpPr>
          <p:cNvPr id="6" name="Straight Connector 5">
            <a:extLst>
              <a:ext uri="{FF2B5EF4-FFF2-40B4-BE49-F238E27FC236}">
                <a16:creationId xmlns:a16="http://schemas.microsoft.com/office/drawing/2014/main" id="{24DDCE2F-07B9-A250-AB8E-8171F982EAE7}"/>
              </a:ext>
            </a:extLst>
          </p:cNvPr>
          <p:cNvCxnSpPr/>
          <p:nvPr/>
        </p:nvCxnSpPr>
        <p:spPr>
          <a:xfrm>
            <a:off x="1038687" y="6462943"/>
            <a:ext cx="10369119" cy="0"/>
          </a:xfrm>
          <a:prstGeom prst="line">
            <a:avLst/>
          </a:prstGeom>
        </p:spPr>
        <p:style>
          <a:lnRef idx="3">
            <a:schemeClr val="dk1"/>
          </a:lnRef>
          <a:fillRef idx="0">
            <a:schemeClr val="dk1"/>
          </a:fillRef>
          <a:effectRef idx="2">
            <a:schemeClr val="dk1"/>
          </a:effectRef>
          <a:fontRef idx="minor">
            <a:schemeClr val="tx1"/>
          </a:fontRef>
        </p:style>
      </p:cxnSp>
      <p:sp>
        <p:nvSpPr>
          <p:cNvPr id="7" name="TextBox 7">
            <a:extLst>
              <a:ext uri="{FF2B5EF4-FFF2-40B4-BE49-F238E27FC236}">
                <a16:creationId xmlns:a16="http://schemas.microsoft.com/office/drawing/2014/main" id="{2C1A47C4-314A-25FF-73E9-6213C4CC4999}"/>
              </a:ext>
            </a:extLst>
          </p:cNvPr>
          <p:cNvSpPr txBox="1"/>
          <p:nvPr/>
        </p:nvSpPr>
        <p:spPr>
          <a:xfrm>
            <a:off x="8788893" y="319596"/>
            <a:ext cx="2821413" cy="276999"/>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1">
                <a:latin typeface="Times New Roman" panose="02020603050405020304" pitchFamily="18" charset="0"/>
                <a:cs typeface="Times New Roman" panose="02020603050405020304" pitchFamily="18" charset="0"/>
              </a:rPr>
              <a:t>TIFAC – CORE in CYBER SECURITY</a:t>
            </a:r>
            <a:endParaRPr lang="en-IN" sz="1200" b="1">
              <a:latin typeface="Times New Roman" panose="02020603050405020304" pitchFamily="18" charset="0"/>
              <a:cs typeface="Times New Roman" panose="02020603050405020304" pitchFamily="18" charset="0"/>
            </a:endParaRPr>
          </a:p>
        </p:txBody>
      </p:sp>
      <p:sp>
        <p:nvSpPr>
          <p:cNvPr id="8" name="Slide Number Placeholder 10">
            <a:extLst>
              <a:ext uri="{FF2B5EF4-FFF2-40B4-BE49-F238E27FC236}">
                <a16:creationId xmlns:a16="http://schemas.microsoft.com/office/drawing/2014/main" id="{155217FA-CE1D-371A-4AA2-990F489E560A}"/>
              </a:ext>
            </a:extLst>
          </p:cNvPr>
          <p:cNvSpPr>
            <a:spLocks noGrp="1"/>
          </p:cNvSpPr>
          <p:nvPr/>
        </p:nvSpPr>
        <p:spPr>
          <a:xfrm>
            <a:off x="8734887"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C3E5B82-863A-4B66-9E4F-DCFAD2A3B854}" type="slidenum">
              <a:rPr lang="en-IN" smtClean="0"/>
              <a:pPr/>
              <a:t>9</a:t>
            </a:fld>
            <a:endParaRPr lang="en-IN"/>
          </a:p>
        </p:txBody>
      </p:sp>
      <p:sp>
        <p:nvSpPr>
          <p:cNvPr id="9" name="Footer Placeholder 11">
            <a:extLst>
              <a:ext uri="{FF2B5EF4-FFF2-40B4-BE49-F238E27FC236}">
                <a16:creationId xmlns:a16="http://schemas.microsoft.com/office/drawing/2014/main" id="{1BD00F00-34B7-E691-5D96-0BC360114B62}"/>
              </a:ext>
            </a:extLst>
          </p:cNvPr>
          <p:cNvSpPr>
            <a:spLocks noGrp="1"/>
          </p:cNvSpPr>
          <p:nvPr/>
        </p:nvSpPr>
        <p:spPr>
          <a:xfrm>
            <a:off x="4038600" y="64928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20CYS 495 B.Tech CYS: 2022 - 2026 Project Presentation </a:t>
            </a:r>
            <a:endParaRPr lang="en-IN"/>
          </a:p>
        </p:txBody>
      </p:sp>
      <p:sp>
        <p:nvSpPr>
          <p:cNvPr id="11" name="TextBox 10">
            <a:extLst>
              <a:ext uri="{FF2B5EF4-FFF2-40B4-BE49-F238E27FC236}">
                <a16:creationId xmlns:a16="http://schemas.microsoft.com/office/drawing/2014/main" id="{DB9D463A-CC83-6D30-865E-FEBAB00D484D}"/>
              </a:ext>
            </a:extLst>
          </p:cNvPr>
          <p:cNvSpPr txBox="1"/>
          <p:nvPr/>
        </p:nvSpPr>
        <p:spPr>
          <a:xfrm>
            <a:off x="1319892" y="1687285"/>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0" name="TextBox 9">
            <a:extLst>
              <a:ext uri="{FF2B5EF4-FFF2-40B4-BE49-F238E27FC236}">
                <a16:creationId xmlns:a16="http://schemas.microsoft.com/office/drawing/2014/main" id="{BB37C572-4E4A-3D39-48E6-50751BDFB390}"/>
              </a:ext>
            </a:extLst>
          </p:cNvPr>
          <p:cNvSpPr txBox="1"/>
          <p:nvPr/>
        </p:nvSpPr>
        <p:spPr>
          <a:xfrm>
            <a:off x="1224000" y="1710000"/>
            <a:ext cx="9739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pic>
        <p:nvPicPr>
          <p:cNvPr id="3" name="Picture 2" descr="A screen shot of a computer&#10;&#10;AI-generated content may be incorrect.">
            <a:extLst>
              <a:ext uri="{FF2B5EF4-FFF2-40B4-BE49-F238E27FC236}">
                <a16:creationId xmlns:a16="http://schemas.microsoft.com/office/drawing/2014/main" id="{871F31E2-BE8F-C6C4-F246-597E612C99C8}"/>
              </a:ext>
            </a:extLst>
          </p:cNvPr>
          <p:cNvPicPr>
            <a:picLocks noChangeAspect="1"/>
          </p:cNvPicPr>
          <p:nvPr/>
        </p:nvPicPr>
        <p:blipFill>
          <a:blip r:embed="rId3"/>
          <a:stretch>
            <a:fillRect/>
          </a:stretch>
        </p:blipFill>
        <p:spPr>
          <a:xfrm>
            <a:off x="1318950" y="2798775"/>
            <a:ext cx="9182100" cy="2076450"/>
          </a:xfrm>
          <a:prstGeom prst="rect">
            <a:avLst/>
          </a:prstGeom>
        </p:spPr>
      </p:pic>
      <p:sp>
        <p:nvSpPr>
          <p:cNvPr id="12" name="TextBox 11">
            <a:extLst>
              <a:ext uri="{FF2B5EF4-FFF2-40B4-BE49-F238E27FC236}">
                <a16:creationId xmlns:a16="http://schemas.microsoft.com/office/drawing/2014/main" id="{A1EED648-A460-C94F-6F04-08216974F216}"/>
              </a:ext>
            </a:extLst>
          </p:cNvPr>
          <p:cNvSpPr txBox="1"/>
          <p:nvPr/>
        </p:nvSpPr>
        <p:spPr>
          <a:xfrm>
            <a:off x="1098000" y="1128711"/>
            <a:ext cx="10255200" cy="1194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a:latin typeface="Times New Roman"/>
                <a:ea typeface="+mn-lt"/>
                <a:cs typeface="+mn-lt"/>
              </a:rPr>
              <a:t>we install the </a:t>
            </a:r>
            <a:r>
              <a:rPr lang="en-US" b="1">
                <a:latin typeface="Times New Roman"/>
                <a:ea typeface="+mn-lt"/>
                <a:cs typeface="+mn-lt"/>
              </a:rPr>
              <a:t>OpenSSH Server</a:t>
            </a:r>
            <a:r>
              <a:rPr lang="en-US">
                <a:latin typeface="Times New Roman"/>
                <a:ea typeface="+mn-lt"/>
                <a:cs typeface="+mn-lt"/>
              </a:rPr>
              <a:t> on the machine. This setup is essential for enabling secure remote access and for simulating SSH services within our environment. Since SSH is one of the most commonly targeted services by attackers through brute-force attempts, including it in our honeypot setup makes the environment more realistic and effective in attracting malicious activity.</a:t>
            </a:r>
            <a:endParaRPr lang="en-US">
              <a:latin typeface="Times New Roman"/>
              <a:cs typeface="Times New Roman"/>
            </a:endParaRPr>
          </a:p>
        </p:txBody>
      </p:sp>
    </p:spTree>
    <p:extLst>
      <p:ext uri="{BB962C8B-B14F-4D97-AF65-F5344CB8AC3E}">
        <p14:creationId xmlns:p14="http://schemas.microsoft.com/office/powerpoint/2010/main" val="20644198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5198A8-4D79-E28E-89BE-9044F0073D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E6AEA9-0169-1F3C-F3B9-6EE345383F8A}"/>
              </a:ext>
            </a:extLst>
          </p:cNvPr>
          <p:cNvSpPr>
            <a:spLocks noGrp="1"/>
          </p:cNvSpPr>
          <p:nvPr>
            <p:ph type="ctrTitle"/>
          </p:nvPr>
        </p:nvSpPr>
        <p:spPr>
          <a:xfrm>
            <a:off x="1524000" y="1134363"/>
            <a:ext cx="8670000" cy="773600"/>
          </a:xfrm>
        </p:spPr>
        <p:txBody>
          <a:bodyPr>
            <a:normAutofit fontScale="90000"/>
          </a:bodyPr>
          <a:lstStyle/>
          <a:p>
            <a:br>
              <a:rPr lang="en-US"/>
            </a:br>
            <a:endParaRPr lang="en-US"/>
          </a:p>
        </p:txBody>
      </p:sp>
      <p:pic>
        <p:nvPicPr>
          <p:cNvPr id="4" name="Picture 3">
            <a:extLst>
              <a:ext uri="{FF2B5EF4-FFF2-40B4-BE49-F238E27FC236}">
                <a16:creationId xmlns:a16="http://schemas.microsoft.com/office/drawing/2014/main" id="{0E780F6C-572A-074C-3901-41305865DE4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1663" y="79092"/>
            <a:ext cx="1740919" cy="402801"/>
          </a:xfrm>
          <a:prstGeom prst="rect">
            <a:avLst/>
          </a:prstGeom>
        </p:spPr>
      </p:pic>
      <p:cxnSp>
        <p:nvCxnSpPr>
          <p:cNvPr id="5" name="Straight Connector 4">
            <a:extLst>
              <a:ext uri="{FF2B5EF4-FFF2-40B4-BE49-F238E27FC236}">
                <a16:creationId xmlns:a16="http://schemas.microsoft.com/office/drawing/2014/main" id="{9FCDE7AA-F66D-34D0-F20D-1B63DBA7C1BA}"/>
              </a:ext>
            </a:extLst>
          </p:cNvPr>
          <p:cNvCxnSpPr>
            <a:cxnSpLocks/>
          </p:cNvCxnSpPr>
          <p:nvPr/>
        </p:nvCxnSpPr>
        <p:spPr>
          <a:xfrm>
            <a:off x="1109709" y="594804"/>
            <a:ext cx="10235953" cy="0"/>
          </a:xfrm>
          <a:prstGeom prst="line">
            <a:avLst/>
          </a:prstGeom>
        </p:spPr>
        <p:style>
          <a:lnRef idx="3">
            <a:schemeClr val="dk1"/>
          </a:lnRef>
          <a:fillRef idx="0">
            <a:schemeClr val="dk1"/>
          </a:fillRef>
          <a:effectRef idx="2">
            <a:schemeClr val="dk1"/>
          </a:effectRef>
          <a:fontRef idx="minor">
            <a:schemeClr val="tx1"/>
          </a:fontRef>
        </p:style>
      </p:cxnSp>
      <p:cxnSp>
        <p:nvCxnSpPr>
          <p:cNvPr id="6" name="Straight Connector 5">
            <a:extLst>
              <a:ext uri="{FF2B5EF4-FFF2-40B4-BE49-F238E27FC236}">
                <a16:creationId xmlns:a16="http://schemas.microsoft.com/office/drawing/2014/main" id="{6FD3A161-01A4-0959-E17E-90AC4AECA5DB}"/>
              </a:ext>
            </a:extLst>
          </p:cNvPr>
          <p:cNvCxnSpPr/>
          <p:nvPr/>
        </p:nvCxnSpPr>
        <p:spPr>
          <a:xfrm>
            <a:off x="1038687" y="6462943"/>
            <a:ext cx="10369119" cy="0"/>
          </a:xfrm>
          <a:prstGeom prst="line">
            <a:avLst/>
          </a:prstGeom>
        </p:spPr>
        <p:style>
          <a:lnRef idx="3">
            <a:schemeClr val="dk1"/>
          </a:lnRef>
          <a:fillRef idx="0">
            <a:schemeClr val="dk1"/>
          </a:fillRef>
          <a:effectRef idx="2">
            <a:schemeClr val="dk1"/>
          </a:effectRef>
          <a:fontRef idx="minor">
            <a:schemeClr val="tx1"/>
          </a:fontRef>
        </p:style>
      </p:cxnSp>
      <p:sp>
        <p:nvSpPr>
          <p:cNvPr id="7" name="TextBox 7">
            <a:extLst>
              <a:ext uri="{FF2B5EF4-FFF2-40B4-BE49-F238E27FC236}">
                <a16:creationId xmlns:a16="http://schemas.microsoft.com/office/drawing/2014/main" id="{E2736622-9D8F-CD31-C115-4FE33EE96A0A}"/>
              </a:ext>
            </a:extLst>
          </p:cNvPr>
          <p:cNvSpPr txBox="1"/>
          <p:nvPr/>
        </p:nvSpPr>
        <p:spPr>
          <a:xfrm>
            <a:off x="8788893" y="319596"/>
            <a:ext cx="2821413" cy="276999"/>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1">
                <a:latin typeface="Times New Roman" panose="02020603050405020304" pitchFamily="18" charset="0"/>
                <a:cs typeface="Times New Roman" panose="02020603050405020304" pitchFamily="18" charset="0"/>
              </a:rPr>
              <a:t>TIFAC – CORE in CYBER SECURITY</a:t>
            </a:r>
            <a:endParaRPr lang="en-IN" sz="1200" b="1">
              <a:latin typeface="Times New Roman" panose="02020603050405020304" pitchFamily="18" charset="0"/>
              <a:cs typeface="Times New Roman" panose="02020603050405020304" pitchFamily="18" charset="0"/>
            </a:endParaRPr>
          </a:p>
        </p:txBody>
      </p:sp>
      <p:sp>
        <p:nvSpPr>
          <p:cNvPr id="8" name="Slide Number Placeholder 10">
            <a:extLst>
              <a:ext uri="{FF2B5EF4-FFF2-40B4-BE49-F238E27FC236}">
                <a16:creationId xmlns:a16="http://schemas.microsoft.com/office/drawing/2014/main" id="{D768E329-4776-B3BE-8361-AF5089C2DCDF}"/>
              </a:ext>
            </a:extLst>
          </p:cNvPr>
          <p:cNvSpPr>
            <a:spLocks noGrp="1"/>
          </p:cNvSpPr>
          <p:nvPr/>
        </p:nvSpPr>
        <p:spPr>
          <a:xfrm>
            <a:off x="8734887"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C3E5B82-863A-4B66-9E4F-DCFAD2A3B854}" type="slidenum">
              <a:rPr lang="en-IN" smtClean="0"/>
              <a:pPr/>
              <a:t>10</a:t>
            </a:fld>
            <a:endParaRPr lang="en-IN"/>
          </a:p>
        </p:txBody>
      </p:sp>
      <p:sp>
        <p:nvSpPr>
          <p:cNvPr id="9" name="Footer Placeholder 11">
            <a:extLst>
              <a:ext uri="{FF2B5EF4-FFF2-40B4-BE49-F238E27FC236}">
                <a16:creationId xmlns:a16="http://schemas.microsoft.com/office/drawing/2014/main" id="{FB831417-ABDA-B011-DF4E-7E11F1FE6FC5}"/>
              </a:ext>
            </a:extLst>
          </p:cNvPr>
          <p:cNvSpPr>
            <a:spLocks noGrp="1"/>
          </p:cNvSpPr>
          <p:nvPr/>
        </p:nvSpPr>
        <p:spPr>
          <a:xfrm>
            <a:off x="4038600" y="64928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20CYS 495 B.Tech CYS: 2022 - 2026 Project Presentation </a:t>
            </a:r>
            <a:endParaRPr lang="en-IN"/>
          </a:p>
        </p:txBody>
      </p:sp>
      <p:sp>
        <p:nvSpPr>
          <p:cNvPr id="11" name="TextBox 10">
            <a:extLst>
              <a:ext uri="{FF2B5EF4-FFF2-40B4-BE49-F238E27FC236}">
                <a16:creationId xmlns:a16="http://schemas.microsoft.com/office/drawing/2014/main" id="{6C9D9AAA-AFAE-E67F-A320-15F2A23E7B3D}"/>
              </a:ext>
            </a:extLst>
          </p:cNvPr>
          <p:cNvSpPr txBox="1"/>
          <p:nvPr/>
        </p:nvSpPr>
        <p:spPr>
          <a:xfrm>
            <a:off x="1319892" y="1687285"/>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0" name="TextBox 9">
            <a:extLst>
              <a:ext uri="{FF2B5EF4-FFF2-40B4-BE49-F238E27FC236}">
                <a16:creationId xmlns:a16="http://schemas.microsoft.com/office/drawing/2014/main" id="{6A4F0B87-6F2B-26DE-69A9-4BA51A7FD9E7}"/>
              </a:ext>
            </a:extLst>
          </p:cNvPr>
          <p:cNvSpPr txBox="1"/>
          <p:nvPr/>
        </p:nvSpPr>
        <p:spPr>
          <a:xfrm>
            <a:off x="1224000" y="1710000"/>
            <a:ext cx="9739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pic>
        <p:nvPicPr>
          <p:cNvPr id="12" name="Picture 11" descr="A screen shot of a computer&#10;&#10;AI-generated content may be incorrect.">
            <a:extLst>
              <a:ext uri="{FF2B5EF4-FFF2-40B4-BE49-F238E27FC236}">
                <a16:creationId xmlns:a16="http://schemas.microsoft.com/office/drawing/2014/main" id="{D6419109-B199-8B68-FB2E-01E72A532F93}"/>
              </a:ext>
            </a:extLst>
          </p:cNvPr>
          <p:cNvPicPr>
            <a:picLocks noChangeAspect="1"/>
          </p:cNvPicPr>
          <p:nvPr/>
        </p:nvPicPr>
        <p:blipFill>
          <a:blip r:embed="rId3"/>
          <a:stretch>
            <a:fillRect/>
          </a:stretch>
        </p:blipFill>
        <p:spPr>
          <a:xfrm>
            <a:off x="1692000" y="2282400"/>
            <a:ext cx="9060000" cy="3733200"/>
          </a:xfrm>
          <a:prstGeom prst="rect">
            <a:avLst/>
          </a:prstGeom>
        </p:spPr>
      </p:pic>
      <p:sp>
        <p:nvSpPr>
          <p:cNvPr id="13" name="TextBox 12">
            <a:extLst>
              <a:ext uri="{FF2B5EF4-FFF2-40B4-BE49-F238E27FC236}">
                <a16:creationId xmlns:a16="http://schemas.microsoft.com/office/drawing/2014/main" id="{C02BC075-5DC6-F9E5-0F85-B41BE68EDB2D}"/>
              </a:ext>
            </a:extLst>
          </p:cNvPr>
          <p:cNvSpPr txBox="1"/>
          <p:nvPr/>
        </p:nvSpPr>
        <p:spPr>
          <a:xfrm>
            <a:off x="832474" y="783966"/>
            <a:ext cx="10543200" cy="1489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a:latin typeface="Times New Roman"/>
                <a:ea typeface="+mn-lt"/>
                <a:cs typeface="+mn-lt"/>
              </a:rPr>
              <a:t>Docker pull process where multiple honeypot images such as Cowrie, Dionaea, </a:t>
            </a:r>
            <a:r>
              <a:rPr lang="en-US" err="1">
                <a:latin typeface="Times New Roman"/>
                <a:ea typeface="+mn-lt"/>
                <a:cs typeface="+mn-lt"/>
              </a:rPr>
              <a:t>Conpot</a:t>
            </a:r>
            <a:r>
              <a:rPr lang="en-US">
                <a:latin typeface="Times New Roman"/>
                <a:ea typeface="+mn-lt"/>
                <a:cs typeface="+mn-lt"/>
              </a:rPr>
              <a:t>, Suricata, and Honeytrap are being downloaded. Each honeypot simulates different services like SSH, web, or industrial control systems. Once pulled, these images can be deployed as containers to create a diverse deception environment for capturing attacker behavior.</a:t>
            </a:r>
            <a:endParaRPr lang="en-US">
              <a:latin typeface="Times New Roman"/>
              <a:cs typeface="Times New Roman"/>
            </a:endParaRPr>
          </a:p>
          <a:p>
            <a:pPr algn="l"/>
            <a:endParaRPr lang="en-US">
              <a:latin typeface="Times New Roman"/>
              <a:cs typeface="Times New Roman"/>
            </a:endParaRPr>
          </a:p>
        </p:txBody>
      </p:sp>
    </p:spTree>
    <p:extLst>
      <p:ext uri="{BB962C8B-B14F-4D97-AF65-F5344CB8AC3E}">
        <p14:creationId xmlns:p14="http://schemas.microsoft.com/office/powerpoint/2010/main" val="28761678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5D39AF-7058-6307-9FFD-4453F4B672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14E335-E2C6-4305-7DAF-39E118136D41}"/>
              </a:ext>
            </a:extLst>
          </p:cNvPr>
          <p:cNvSpPr>
            <a:spLocks noGrp="1"/>
          </p:cNvSpPr>
          <p:nvPr>
            <p:ph type="ctrTitle"/>
          </p:nvPr>
        </p:nvSpPr>
        <p:spPr>
          <a:xfrm>
            <a:off x="1524000" y="1134363"/>
            <a:ext cx="8670000" cy="773600"/>
          </a:xfrm>
        </p:spPr>
        <p:txBody>
          <a:bodyPr>
            <a:normAutofit fontScale="90000"/>
          </a:bodyPr>
          <a:lstStyle/>
          <a:p>
            <a:br>
              <a:rPr lang="en-US"/>
            </a:br>
            <a:endParaRPr lang="en-US"/>
          </a:p>
        </p:txBody>
      </p:sp>
      <p:pic>
        <p:nvPicPr>
          <p:cNvPr id="4" name="Picture 3">
            <a:extLst>
              <a:ext uri="{FF2B5EF4-FFF2-40B4-BE49-F238E27FC236}">
                <a16:creationId xmlns:a16="http://schemas.microsoft.com/office/drawing/2014/main" id="{79E62447-61AE-EE7B-DB65-4D829EDBEA9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1663" y="79092"/>
            <a:ext cx="1740919" cy="402801"/>
          </a:xfrm>
          <a:prstGeom prst="rect">
            <a:avLst/>
          </a:prstGeom>
        </p:spPr>
      </p:pic>
      <p:cxnSp>
        <p:nvCxnSpPr>
          <p:cNvPr id="5" name="Straight Connector 4">
            <a:extLst>
              <a:ext uri="{FF2B5EF4-FFF2-40B4-BE49-F238E27FC236}">
                <a16:creationId xmlns:a16="http://schemas.microsoft.com/office/drawing/2014/main" id="{46BE4C06-4DC9-666C-6F0F-96D69C65AC82}"/>
              </a:ext>
            </a:extLst>
          </p:cNvPr>
          <p:cNvCxnSpPr>
            <a:cxnSpLocks/>
          </p:cNvCxnSpPr>
          <p:nvPr/>
        </p:nvCxnSpPr>
        <p:spPr>
          <a:xfrm>
            <a:off x="1109709" y="594804"/>
            <a:ext cx="10235953" cy="0"/>
          </a:xfrm>
          <a:prstGeom prst="line">
            <a:avLst/>
          </a:prstGeom>
        </p:spPr>
        <p:style>
          <a:lnRef idx="3">
            <a:schemeClr val="dk1"/>
          </a:lnRef>
          <a:fillRef idx="0">
            <a:schemeClr val="dk1"/>
          </a:fillRef>
          <a:effectRef idx="2">
            <a:schemeClr val="dk1"/>
          </a:effectRef>
          <a:fontRef idx="minor">
            <a:schemeClr val="tx1"/>
          </a:fontRef>
        </p:style>
      </p:cxnSp>
      <p:cxnSp>
        <p:nvCxnSpPr>
          <p:cNvPr id="6" name="Straight Connector 5">
            <a:extLst>
              <a:ext uri="{FF2B5EF4-FFF2-40B4-BE49-F238E27FC236}">
                <a16:creationId xmlns:a16="http://schemas.microsoft.com/office/drawing/2014/main" id="{E7559D18-4B16-6D08-8C1D-E6891E2D1D97}"/>
              </a:ext>
            </a:extLst>
          </p:cNvPr>
          <p:cNvCxnSpPr/>
          <p:nvPr/>
        </p:nvCxnSpPr>
        <p:spPr>
          <a:xfrm>
            <a:off x="1038687" y="6462943"/>
            <a:ext cx="10369119" cy="0"/>
          </a:xfrm>
          <a:prstGeom prst="line">
            <a:avLst/>
          </a:prstGeom>
        </p:spPr>
        <p:style>
          <a:lnRef idx="3">
            <a:schemeClr val="dk1"/>
          </a:lnRef>
          <a:fillRef idx="0">
            <a:schemeClr val="dk1"/>
          </a:fillRef>
          <a:effectRef idx="2">
            <a:schemeClr val="dk1"/>
          </a:effectRef>
          <a:fontRef idx="minor">
            <a:schemeClr val="tx1"/>
          </a:fontRef>
        </p:style>
      </p:cxnSp>
      <p:sp>
        <p:nvSpPr>
          <p:cNvPr id="7" name="TextBox 7">
            <a:extLst>
              <a:ext uri="{FF2B5EF4-FFF2-40B4-BE49-F238E27FC236}">
                <a16:creationId xmlns:a16="http://schemas.microsoft.com/office/drawing/2014/main" id="{88FB0CD2-4334-1A6B-7939-F858AE3708E6}"/>
              </a:ext>
            </a:extLst>
          </p:cNvPr>
          <p:cNvSpPr txBox="1"/>
          <p:nvPr/>
        </p:nvSpPr>
        <p:spPr>
          <a:xfrm>
            <a:off x="8788893" y="319596"/>
            <a:ext cx="2821413" cy="276999"/>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1">
                <a:latin typeface="Times New Roman" panose="02020603050405020304" pitchFamily="18" charset="0"/>
                <a:cs typeface="Times New Roman" panose="02020603050405020304" pitchFamily="18" charset="0"/>
              </a:rPr>
              <a:t>TIFAC – CORE in CYBER SECURITY</a:t>
            </a:r>
            <a:endParaRPr lang="en-IN" sz="1200" b="1">
              <a:latin typeface="Times New Roman" panose="02020603050405020304" pitchFamily="18" charset="0"/>
              <a:cs typeface="Times New Roman" panose="02020603050405020304" pitchFamily="18" charset="0"/>
            </a:endParaRPr>
          </a:p>
        </p:txBody>
      </p:sp>
      <p:sp>
        <p:nvSpPr>
          <p:cNvPr id="8" name="Slide Number Placeholder 10">
            <a:extLst>
              <a:ext uri="{FF2B5EF4-FFF2-40B4-BE49-F238E27FC236}">
                <a16:creationId xmlns:a16="http://schemas.microsoft.com/office/drawing/2014/main" id="{15FD1A83-B8AA-9253-A300-1450A5868AEC}"/>
              </a:ext>
            </a:extLst>
          </p:cNvPr>
          <p:cNvSpPr>
            <a:spLocks noGrp="1"/>
          </p:cNvSpPr>
          <p:nvPr/>
        </p:nvSpPr>
        <p:spPr>
          <a:xfrm>
            <a:off x="8734887"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C3E5B82-863A-4B66-9E4F-DCFAD2A3B854}" type="slidenum">
              <a:rPr lang="en-IN" smtClean="0"/>
              <a:pPr/>
              <a:t>11</a:t>
            </a:fld>
            <a:endParaRPr lang="en-IN"/>
          </a:p>
        </p:txBody>
      </p:sp>
      <p:sp>
        <p:nvSpPr>
          <p:cNvPr id="9" name="Footer Placeholder 11">
            <a:extLst>
              <a:ext uri="{FF2B5EF4-FFF2-40B4-BE49-F238E27FC236}">
                <a16:creationId xmlns:a16="http://schemas.microsoft.com/office/drawing/2014/main" id="{66616064-3FF7-4042-1136-E112957AC447}"/>
              </a:ext>
            </a:extLst>
          </p:cNvPr>
          <p:cNvSpPr>
            <a:spLocks noGrp="1"/>
          </p:cNvSpPr>
          <p:nvPr/>
        </p:nvSpPr>
        <p:spPr>
          <a:xfrm>
            <a:off x="4038600" y="64928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20CYS 495 B.Tech CYS: 2022 - 2026 Project Presentation </a:t>
            </a:r>
            <a:endParaRPr lang="en-IN"/>
          </a:p>
        </p:txBody>
      </p:sp>
      <p:sp>
        <p:nvSpPr>
          <p:cNvPr id="3" name="TextBox 2">
            <a:extLst>
              <a:ext uri="{FF2B5EF4-FFF2-40B4-BE49-F238E27FC236}">
                <a16:creationId xmlns:a16="http://schemas.microsoft.com/office/drawing/2014/main" id="{09085985-300B-E624-BB74-FC2A5423D6EB}"/>
              </a:ext>
            </a:extLst>
          </p:cNvPr>
          <p:cNvSpPr txBox="1"/>
          <p:nvPr/>
        </p:nvSpPr>
        <p:spPr>
          <a:xfrm>
            <a:off x="1096100" y="938892"/>
            <a:ext cx="9648100" cy="96026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ea typeface="+mn-lt"/>
                <a:cs typeface="+mn-lt"/>
              </a:rPr>
              <a:t>Running Cowrie honeypot (for ssh attacks)</a:t>
            </a:r>
            <a:endParaRPr lang="en-US"/>
          </a:p>
          <a:p>
            <a:endParaRPr lang="en-US" sz="2000" b="1">
              <a:latin typeface="Aptos"/>
              <a:cs typeface="Times New Roman"/>
            </a:endParaRPr>
          </a:p>
          <a:p>
            <a:endParaRPr lang="en-US" sz="2000" b="1">
              <a:latin typeface="Aptos"/>
              <a:cs typeface="Times New Roman"/>
            </a:endParaRPr>
          </a:p>
          <a:p>
            <a:endParaRPr lang="en-US" sz="2000" b="1">
              <a:latin typeface="Aptos"/>
              <a:cs typeface="Times New Roman"/>
            </a:endParaRPr>
          </a:p>
          <a:p>
            <a:endParaRPr lang="en-US" sz="2000" b="1">
              <a:latin typeface="Aptos"/>
              <a:cs typeface="Times New Roman"/>
            </a:endParaRPr>
          </a:p>
          <a:p>
            <a:endParaRPr lang="en-US" sz="2000" b="1">
              <a:latin typeface="Aptos"/>
              <a:cs typeface="Times New Roman"/>
            </a:endParaRPr>
          </a:p>
          <a:p>
            <a:endParaRPr lang="en-US" sz="2000" b="1">
              <a:latin typeface="Aptos"/>
              <a:cs typeface="Times New Roman"/>
            </a:endParaRPr>
          </a:p>
          <a:p>
            <a:endParaRPr lang="en-US" sz="2000" b="1">
              <a:latin typeface="Aptos"/>
              <a:cs typeface="Times New Roman"/>
            </a:endParaRPr>
          </a:p>
          <a:p>
            <a:endParaRPr lang="en-US" sz="2000" b="1">
              <a:latin typeface="Aptos"/>
              <a:cs typeface="Times New Roman"/>
            </a:endParaRPr>
          </a:p>
          <a:p>
            <a:endParaRPr lang="en-US" sz="2000" b="1">
              <a:latin typeface="Aptos"/>
              <a:cs typeface="Times New Roman"/>
            </a:endParaRPr>
          </a:p>
          <a:p>
            <a:pPr marL="342900" indent="-342900">
              <a:buFont typeface="Arial"/>
              <a:buChar char="•"/>
            </a:pPr>
            <a:r>
              <a:rPr lang="en-US">
                <a:latin typeface="Aptos"/>
                <a:cs typeface="Times New Roman"/>
              </a:rPr>
              <a:t>The image shows an attacker gaining unauthorized access to the system via SSH after performing a brute-force attack.</a:t>
            </a:r>
            <a:endParaRPr lang="en-US">
              <a:latin typeface="Aptos"/>
            </a:endParaRPr>
          </a:p>
          <a:p>
            <a:pPr marL="342900" indent="-342900">
              <a:buFont typeface="Arial"/>
              <a:buChar char="•"/>
            </a:pPr>
            <a:r>
              <a:rPr lang="en-US">
                <a:latin typeface="Aptos"/>
                <a:cs typeface="Times New Roman"/>
              </a:rPr>
              <a:t>After successfully logging in as the root user, the attacker starts initial reconnaissance on the compromised machine.</a:t>
            </a:r>
            <a:endParaRPr lang="en-US">
              <a:latin typeface="Aptos"/>
            </a:endParaRPr>
          </a:p>
          <a:p>
            <a:pPr marL="342900" indent="-342900">
              <a:buFont typeface="Arial"/>
              <a:buChar char="•"/>
            </a:pPr>
            <a:r>
              <a:rPr lang="en-US">
                <a:ea typeface="+mn-lt"/>
                <a:cs typeface="+mn-lt"/>
              </a:rPr>
              <a:t>Commands such as </a:t>
            </a:r>
            <a:r>
              <a:rPr lang="en-US" err="1">
                <a:latin typeface="Aptos"/>
                <a:cs typeface="Times New Roman"/>
              </a:rPr>
              <a:t>pwd</a:t>
            </a:r>
            <a:r>
              <a:rPr lang="en-US">
                <a:ea typeface="+mn-lt"/>
                <a:cs typeface="+mn-lt"/>
              </a:rPr>
              <a:t>, </a:t>
            </a:r>
            <a:r>
              <a:rPr lang="en-US">
                <a:latin typeface="Aptos"/>
                <a:cs typeface="Times New Roman"/>
              </a:rPr>
              <a:t>ls</a:t>
            </a:r>
            <a:r>
              <a:rPr lang="en-US">
                <a:ea typeface="+mn-lt"/>
                <a:cs typeface="+mn-lt"/>
              </a:rPr>
              <a:t>, and </a:t>
            </a:r>
            <a:r>
              <a:rPr lang="en-US" err="1">
                <a:latin typeface="Aptos"/>
                <a:cs typeface="Times New Roman"/>
              </a:rPr>
              <a:t>whoami</a:t>
            </a:r>
            <a:r>
              <a:rPr lang="en-US">
                <a:ea typeface="+mn-lt"/>
                <a:cs typeface="+mn-lt"/>
              </a:rPr>
              <a:t> are executed to understand the system’s directory structure and confirm the attacker’s privileges.</a:t>
            </a:r>
            <a:endParaRPr lang="en-US"/>
          </a:p>
          <a:p>
            <a:pPr marL="342900" indent="-342900">
              <a:buFont typeface="Arial"/>
              <a:buChar char="•"/>
            </a:pPr>
            <a:r>
              <a:rPr lang="en-US">
                <a:ea typeface="+mn-lt"/>
                <a:cs typeface="+mn-lt"/>
              </a:rPr>
              <a:t>This activity represents the beginning of the attacker’s post-exploitation phase on the target host.</a:t>
            </a:r>
            <a:endParaRPr lang="en-US"/>
          </a:p>
          <a:p>
            <a:endParaRPr lang="en-US" sz="2000">
              <a:latin typeface="-webkit-standard"/>
              <a:cs typeface="Times New Roman"/>
            </a:endParaRPr>
          </a:p>
          <a:p>
            <a:endParaRPr lang="en-US" sz="2000" b="1">
              <a:cs typeface="Times New Roman"/>
            </a:endParaRPr>
          </a:p>
          <a:p>
            <a:pPr marL="285750" indent="-285750">
              <a:buFont typeface="Arial"/>
              <a:buChar char="•"/>
            </a:pPr>
            <a:endParaRPr lang="en-US"/>
          </a:p>
          <a:p>
            <a:pPr lvl="1"/>
            <a:endParaRPr lang="en-US"/>
          </a:p>
          <a:p>
            <a:pPr lvl="1"/>
            <a:endParaRPr lang="en-US"/>
          </a:p>
          <a:p>
            <a:pPr marL="742950" lvl="1" indent="-285750">
              <a:buFont typeface="Courier New"/>
              <a:buChar char="o"/>
            </a:pPr>
            <a:endParaRPr lang="en-US"/>
          </a:p>
          <a:p>
            <a:endParaRPr lang="en-US"/>
          </a:p>
          <a:p>
            <a:endParaRPr lang="en-US"/>
          </a:p>
          <a:p>
            <a:endParaRPr lang="en-US"/>
          </a:p>
          <a:p>
            <a:endParaRPr lang="en-US"/>
          </a:p>
          <a:p>
            <a:endParaRPr lang="en-US"/>
          </a:p>
          <a:p>
            <a:endParaRPr lang="en-US"/>
          </a:p>
          <a:p>
            <a:endParaRPr lang="en-US"/>
          </a:p>
          <a:p>
            <a:endParaRPr lang="en-US"/>
          </a:p>
          <a:p>
            <a:endParaRPr lang="en-US"/>
          </a:p>
        </p:txBody>
      </p:sp>
      <p:sp>
        <p:nvSpPr>
          <p:cNvPr id="11" name="TextBox 10">
            <a:extLst>
              <a:ext uri="{FF2B5EF4-FFF2-40B4-BE49-F238E27FC236}">
                <a16:creationId xmlns:a16="http://schemas.microsoft.com/office/drawing/2014/main" id="{AEEA5CB4-4598-32FF-2B0B-DBED4478DF01}"/>
              </a:ext>
            </a:extLst>
          </p:cNvPr>
          <p:cNvSpPr txBox="1"/>
          <p:nvPr/>
        </p:nvSpPr>
        <p:spPr>
          <a:xfrm>
            <a:off x="1319892" y="1687285"/>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pic>
        <p:nvPicPr>
          <p:cNvPr id="10" name="Picture 9" descr="A screenshot of a computer&#10;&#10;AI-generated content may be incorrect.">
            <a:extLst>
              <a:ext uri="{FF2B5EF4-FFF2-40B4-BE49-F238E27FC236}">
                <a16:creationId xmlns:a16="http://schemas.microsoft.com/office/drawing/2014/main" id="{7C9CA178-9CFE-E2F2-3CDC-75DB719E49A9}"/>
              </a:ext>
            </a:extLst>
          </p:cNvPr>
          <p:cNvPicPr>
            <a:picLocks noChangeAspect="1"/>
          </p:cNvPicPr>
          <p:nvPr/>
        </p:nvPicPr>
        <p:blipFill>
          <a:blip r:embed="rId3"/>
          <a:stretch>
            <a:fillRect/>
          </a:stretch>
        </p:blipFill>
        <p:spPr>
          <a:xfrm>
            <a:off x="2796159" y="1520190"/>
            <a:ext cx="4935474" cy="2513076"/>
          </a:xfrm>
          <a:prstGeom prst="rect">
            <a:avLst/>
          </a:prstGeom>
        </p:spPr>
      </p:pic>
    </p:spTree>
    <p:extLst>
      <p:ext uri="{BB962C8B-B14F-4D97-AF65-F5344CB8AC3E}">
        <p14:creationId xmlns:p14="http://schemas.microsoft.com/office/powerpoint/2010/main" val="41578426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8E873D-41C7-844E-5411-AA342050DD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9EF00C-0662-1A2B-CB75-A0E5739788D7}"/>
              </a:ext>
            </a:extLst>
          </p:cNvPr>
          <p:cNvSpPr>
            <a:spLocks noGrp="1"/>
          </p:cNvSpPr>
          <p:nvPr>
            <p:ph type="ctrTitle"/>
          </p:nvPr>
        </p:nvSpPr>
        <p:spPr>
          <a:xfrm>
            <a:off x="1524000" y="1134363"/>
            <a:ext cx="8670000" cy="773600"/>
          </a:xfrm>
        </p:spPr>
        <p:txBody>
          <a:bodyPr>
            <a:normAutofit fontScale="90000"/>
          </a:bodyPr>
          <a:lstStyle/>
          <a:p>
            <a:br>
              <a:rPr lang="en-US"/>
            </a:br>
            <a:endParaRPr lang="en-US"/>
          </a:p>
        </p:txBody>
      </p:sp>
      <p:pic>
        <p:nvPicPr>
          <p:cNvPr id="4" name="Picture 3">
            <a:extLst>
              <a:ext uri="{FF2B5EF4-FFF2-40B4-BE49-F238E27FC236}">
                <a16:creationId xmlns:a16="http://schemas.microsoft.com/office/drawing/2014/main" id="{63FA0806-96AB-44ED-008E-C94A18297D1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1663" y="79092"/>
            <a:ext cx="1740919" cy="402801"/>
          </a:xfrm>
          <a:prstGeom prst="rect">
            <a:avLst/>
          </a:prstGeom>
        </p:spPr>
      </p:pic>
      <p:cxnSp>
        <p:nvCxnSpPr>
          <p:cNvPr id="5" name="Straight Connector 4">
            <a:extLst>
              <a:ext uri="{FF2B5EF4-FFF2-40B4-BE49-F238E27FC236}">
                <a16:creationId xmlns:a16="http://schemas.microsoft.com/office/drawing/2014/main" id="{0AF9414B-D7E0-295D-C867-0FDD640A5C21}"/>
              </a:ext>
            </a:extLst>
          </p:cNvPr>
          <p:cNvCxnSpPr>
            <a:cxnSpLocks/>
          </p:cNvCxnSpPr>
          <p:nvPr/>
        </p:nvCxnSpPr>
        <p:spPr>
          <a:xfrm>
            <a:off x="1109709" y="594804"/>
            <a:ext cx="10235953" cy="0"/>
          </a:xfrm>
          <a:prstGeom prst="line">
            <a:avLst/>
          </a:prstGeom>
        </p:spPr>
        <p:style>
          <a:lnRef idx="3">
            <a:schemeClr val="dk1"/>
          </a:lnRef>
          <a:fillRef idx="0">
            <a:schemeClr val="dk1"/>
          </a:fillRef>
          <a:effectRef idx="2">
            <a:schemeClr val="dk1"/>
          </a:effectRef>
          <a:fontRef idx="minor">
            <a:schemeClr val="tx1"/>
          </a:fontRef>
        </p:style>
      </p:cxnSp>
      <p:cxnSp>
        <p:nvCxnSpPr>
          <p:cNvPr id="6" name="Straight Connector 5">
            <a:extLst>
              <a:ext uri="{FF2B5EF4-FFF2-40B4-BE49-F238E27FC236}">
                <a16:creationId xmlns:a16="http://schemas.microsoft.com/office/drawing/2014/main" id="{71AE6978-75D5-9BD1-153D-6150401055DC}"/>
              </a:ext>
            </a:extLst>
          </p:cNvPr>
          <p:cNvCxnSpPr/>
          <p:nvPr/>
        </p:nvCxnSpPr>
        <p:spPr>
          <a:xfrm>
            <a:off x="1038687" y="6462943"/>
            <a:ext cx="10369119" cy="0"/>
          </a:xfrm>
          <a:prstGeom prst="line">
            <a:avLst/>
          </a:prstGeom>
        </p:spPr>
        <p:style>
          <a:lnRef idx="3">
            <a:schemeClr val="dk1"/>
          </a:lnRef>
          <a:fillRef idx="0">
            <a:schemeClr val="dk1"/>
          </a:fillRef>
          <a:effectRef idx="2">
            <a:schemeClr val="dk1"/>
          </a:effectRef>
          <a:fontRef idx="minor">
            <a:schemeClr val="tx1"/>
          </a:fontRef>
        </p:style>
      </p:cxnSp>
      <p:sp>
        <p:nvSpPr>
          <p:cNvPr id="7" name="TextBox 7">
            <a:extLst>
              <a:ext uri="{FF2B5EF4-FFF2-40B4-BE49-F238E27FC236}">
                <a16:creationId xmlns:a16="http://schemas.microsoft.com/office/drawing/2014/main" id="{48696DC8-2376-7DC5-1B3C-B1FDFF52A967}"/>
              </a:ext>
            </a:extLst>
          </p:cNvPr>
          <p:cNvSpPr txBox="1"/>
          <p:nvPr/>
        </p:nvSpPr>
        <p:spPr>
          <a:xfrm>
            <a:off x="8788893" y="319596"/>
            <a:ext cx="2821413" cy="276999"/>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1">
                <a:latin typeface="Times New Roman" panose="02020603050405020304" pitchFamily="18" charset="0"/>
                <a:cs typeface="Times New Roman" panose="02020603050405020304" pitchFamily="18" charset="0"/>
              </a:rPr>
              <a:t>TIFAC – CORE in CYBER SECURITY</a:t>
            </a:r>
            <a:endParaRPr lang="en-IN" sz="1200" b="1">
              <a:latin typeface="Times New Roman" panose="02020603050405020304" pitchFamily="18" charset="0"/>
              <a:cs typeface="Times New Roman" panose="02020603050405020304" pitchFamily="18" charset="0"/>
            </a:endParaRPr>
          </a:p>
        </p:txBody>
      </p:sp>
      <p:sp>
        <p:nvSpPr>
          <p:cNvPr id="8" name="Slide Number Placeholder 10">
            <a:extLst>
              <a:ext uri="{FF2B5EF4-FFF2-40B4-BE49-F238E27FC236}">
                <a16:creationId xmlns:a16="http://schemas.microsoft.com/office/drawing/2014/main" id="{86FD5783-69CA-6459-E574-E7E6A15B2C89}"/>
              </a:ext>
            </a:extLst>
          </p:cNvPr>
          <p:cNvSpPr>
            <a:spLocks noGrp="1"/>
          </p:cNvSpPr>
          <p:nvPr/>
        </p:nvSpPr>
        <p:spPr>
          <a:xfrm>
            <a:off x="8734887"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C3E5B82-863A-4B66-9E4F-DCFAD2A3B854}" type="slidenum">
              <a:rPr lang="en-IN" smtClean="0"/>
              <a:pPr/>
              <a:t>12</a:t>
            </a:fld>
            <a:endParaRPr lang="en-IN"/>
          </a:p>
        </p:txBody>
      </p:sp>
      <p:sp>
        <p:nvSpPr>
          <p:cNvPr id="9" name="Footer Placeholder 11">
            <a:extLst>
              <a:ext uri="{FF2B5EF4-FFF2-40B4-BE49-F238E27FC236}">
                <a16:creationId xmlns:a16="http://schemas.microsoft.com/office/drawing/2014/main" id="{0864DB60-BADE-66BA-D645-3B07B286898C}"/>
              </a:ext>
            </a:extLst>
          </p:cNvPr>
          <p:cNvSpPr>
            <a:spLocks noGrp="1"/>
          </p:cNvSpPr>
          <p:nvPr/>
        </p:nvSpPr>
        <p:spPr>
          <a:xfrm>
            <a:off x="4038600" y="64928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20CYS 495 B.Tech CYS: 2022 - 2026 Project Presentation </a:t>
            </a:r>
            <a:endParaRPr lang="en-IN"/>
          </a:p>
        </p:txBody>
      </p:sp>
      <p:sp>
        <p:nvSpPr>
          <p:cNvPr id="3" name="TextBox 2">
            <a:extLst>
              <a:ext uri="{FF2B5EF4-FFF2-40B4-BE49-F238E27FC236}">
                <a16:creationId xmlns:a16="http://schemas.microsoft.com/office/drawing/2014/main" id="{2EA2351D-BCEE-B0CB-3338-A5D5A21F755B}"/>
              </a:ext>
            </a:extLst>
          </p:cNvPr>
          <p:cNvSpPr txBox="1"/>
          <p:nvPr/>
        </p:nvSpPr>
        <p:spPr>
          <a:xfrm>
            <a:off x="1096100" y="938892"/>
            <a:ext cx="9648100" cy="92640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ea typeface="+mn-lt"/>
                <a:cs typeface="+mn-lt"/>
              </a:rPr>
              <a:t>Running Cowrie honeypot (for ssh attacks)</a:t>
            </a:r>
            <a:endParaRPr lang="en-US"/>
          </a:p>
          <a:p>
            <a:endParaRPr lang="en-US" sz="2000" b="1">
              <a:latin typeface="Aptos"/>
              <a:cs typeface="Times New Roman"/>
            </a:endParaRPr>
          </a:p>
          <a:p>
            <a:endParaRPr lang="en-US" sz="2000" b="1">
              <a:latin typeface="Aptos"/>
              <a:cs typeface="Times New Roman"/>
            </a:endParaRPr>
          </a:p>
          <a:p>
            <a:endParaRPr lang="en-US" sz="2000" b="1">
              <a:latin typeface="Aptos"/>
              <a:cs typeface="Times New Roman"/>
            </a:endParaRPr>
          </a:p>
          <a:p>
            <a:endParaRPr lang="en-US" sz="2000" b="1">
              <a:latin typeface="Aptos"/>
              <a:cs typeface="Times New Roman"/>
            </a:endParaRPr>
          </a:p>
          <a:p>
            <a:endParaRPr lang="en-US" sz="2000" b="1">
              <a:latin typeface="Aptos"/>
              <a:cs typeface="Times New Roman"/>
            </a:endParaRPr>
          </a:p>
          <a:p>
            <a:endParaRPr lang="en-US" sz="2000" b="1">
              <a:latin typeface="Aptos"/>
              <a:cs typeface="Times New Roman"/>
            </a:endParaRPr>
          </a:p>
          <a:p>
            <a:endParaRPr lang="en-US" sz="2000" b="1">
              <a:latin typeface="Aptos"/>
              <a:cs typeface="Times New Roman"/>
            </a:endParaRPr>
          </a:p>
          <a:p>
            <a:pPr marL="285750" indent="-285750">
              <a:buFont typeface="Arial"/>
              <a:buChar char="•"/>
            </a:pPr>
            <a:r>
              <a:rPr lang="en-US">
                <a:ea typeface="+mn-lt"/>
                <a:cs typeface="+mn-lt"/>
              </a:rPr>
              <a:t>The image shows the logs captured by the Cowrie honeypot during the attacker’s SSH session.</a:t>
            </a:r>
          </a:p>
          <a:p>
            <a:pPr marL="285750" indent="-285750">
              <a:buFont typeface="Arial"/>
              <a:buChar char="•"/>
            </a:pPr>
            <a:r>
              <a:rPr lang="en-US">
                <a:ea typeface="+mn-lt"/>
                <a:cs typeface="+mn-lt"/>
              </a:rPr>
              <a:t>Cowrie records every command the attacker enters, including both successful and failed inputs.</a:t>
            </a:r>
          </a:p>
          <a:p>
            <a:pPr marL="285750" indent="-285750">
              <a:buFont typeface="Arial"/>
              <a:buChar char="•"/>
            </a:pPr>
            <a:r>
              <a:rPr lang="en-US">
                <a:ea typeface="+mn-lt"/>
                <a:cs typeface="+mn-lt"/>
              </a:rPr>
              <a:t>The logs include session parameters, timestamps, source IP address, and sensor details.</a:t>
            </a:r>
            <a:endParaRPr lang="en-US"/>
          </a:p>
          <a:p>
            <a:pPr marL="285750" indent="-285750">
              <a:buFont typeface="Arial"/>
              <a:buChar char="•"/>
            </a:pPr>
            <a:r>
              <a:rPr lang="en-US">
                <a:ea typeface="+mn-lt"/>
                <a:cs typeface="+mn-lt"/>
              </a:rPr>
              <a:t>This information helps analysts understand the attacker’s actions and behavior inside the honeypot environment.</a:t>
            </a:r>
          </a:p>
          <a:p>
            <a:pPr marL="285750" indent="-285750">
              <a:buFont typeface="Arial"/>
              <a:buChar char="•"/>
            </a:pPr>
            <a:r>
              <a:rPr lang="en-US">
                <a:ea typeface="+mn-lt"/>
                <a:cs typeface="+mn-lt"/>
              </a:rPr>
              <a:t>Such logs are crucial for reconstructing the attack flow and identifying patterns or intentions.</a:t>
            </a:r>
          </a:p>
          <a:p>
            <a:pPr marL="285750" indent="-285750">
              <a:buFont typeface="Arial"/>
              <a:buChar char="•"/>
            </a:pPr>
            <a:endParaRPr lang="en-US"/>
          </a:p>
          <a:p>
            <a:endParaRPr lang="en-US" sz="2000">
              <a:latin typeface="-webkit-standard"/>
              <a:cs typeface="Times New Roman"/>
            </a:endParaRPr>
          </a:p>
          <a:p>
            <a:endParaRPr lang="en-US" sz="2000" b="1">
              <a:cs typeface="Times New Roman"/>
            </a:endParaRPr>
          </a:p>
          <a:p>
            <a:pPr marL="285750" indent="-285750">
              <a:buFont typeface="Arial"/>
              <a:buChar char="•"/>
            </a:pPr>
            <a:endParaRPr lang="en-US"/>
          </a:p>
          <a:p>
            <a:pPr lvl="1"/>
            <a:endParaRPr lang="en-US"/>
          </a:p>
          <a:p>
            <a:pPr lvl="1"/>
            <a:endParaRPr lang="en-US"/>
          </a:p>
          <a:p>
            <a:pPr marL="742950" lvl="1" indent="-285750">
              <a:buFont typeface="Courier New"/>
              <a:buChar char="o"/>
            </a:pPr>
            <a:endParaRPr lang="en-US"/>
          </a:p>
          <a:p>
            <a:endParaRPr lang="en-US"/>
          </a:p>
          <a:p>
            <a:endParaRPr lang="en-US"/>
          </a:p>
          <a:p>
            <a:endParaRPr lang="en-US"/>
          </a:p>
          <a:p>
            <a:endParaRPr lang="en-US"/>
          </a:p>
          <a:p>
            <a:endParaRPr lang="en-US"/>
          </a:p>
          <a:p>
            <a:endParaRPr lang="en-US"/>
          </a:p>
          <a:p>
            <a:endParaRPr lang="en-US"/>
          </a:p>
          <a:p>
            <a:endParaRPr lang="en-US"/>
          </a:p>
          <a:p>
            <a:endParaRPr lang="en-US"/>
          </a:p>
        </p:txBody>
      </p:sp>
      <p:sp>
        <p:nvSpPr>
          <p:cNvPr id="11" name="TextBox 10">
            <a:extLst>
              <a:ext uri="{FF2B5EF4-FFF2-40B4-BE49-F238E27FC236}">
                <a16:creationId xmlns:a16="http://schemas.microsoft.com/office/drawing/2014/main" id="{B512E287-9AA7-9B66-0CC9-90246E31604C}"/>
              </a:ext>
            </a:extLst>
          </p:cNvPr>
          <p:cNvSpPr txBox="1"/>
          <p:nvPr/>
        </p:nvSpPr>
        <p:spPr>
          <a:xfrm>
            <a:off x="1319892" y="1687285"/>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pic>
        <p:nvPicPr>
          <p:cNvPr id="12" name="Picture 11" descr="A computer screen with white text&#10;&#10;AI-generated content may be incorrect.">
            <a:extLst>
              <a:ext uri="{FF2B5EF4-FFF2-40B4-BE49-F238E27FC236}">
                <a16:creationId xmlns:a16="http://schemas.microsoft.com/office/drawing/2014/main" id="{FEA3A638-FAC1-4FE3-2C1E-0C3514FB4C69}"/>
              </a:ext>
            </a:extLst>
          </p:cNvPr>
          <p:cNvPicPr>
            <a:picLocks noChangeAspect="1"/>
          </p:cNvPicPr>
          <p:nvPr/>
        </p:nvPicPr>
        <p:blipFill>
          <a:blip r:embed="rId3"/>
          <a:stretch>
            <a:fillRect/>
          </a:stretch>
        </p:blipFill>
        <p:spPr>
          <a:xfrm>
            <a:off x="1036320" y="1521714"/>
            <a:ext cx="10558272" cy="1680972"/>
          </a:xfrm>
          <a:prstGeom prst="rect">
            <a:avLst/>
          </a:prstGeom>
        </p:spPr>
      </p:pic>
    </p:spTree>
    <p:extLst>
      <p:ext uri="{BB962C8B-B14F-4D97-AF65-F5344CB8AC3E}">
        <p14:creationId xmlns:p14="http://schemas.microsoft.com/office/powerpoint/2010/main" val="30517518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9B9451-34BC-0A22-72A4-FC8D0035DD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EDA44C-BA0D-5FD2-2086-C1C5E3355CEC}"/>
              </a:ext>
            </a:extLst>
          </p:cNvPr>
          <p:cNvSpPr>
            <a:spLocks noGrp="1"/>
          </p:cNvSpPr>
          <p:nvPr>
            <p:ph type="ctrTitle"/>
          </p:nvPr>
        </p:nvSpPr>
        <p:spPr>
          <a:xfrm>
            <a:off x="1524000" y="1134363"/>
            <a:ext cx="8670000" cy="773600"/>
          </a:xfrm>
        </p:spPr>
        <p:txBody>
          <a:bodyPr>
            <a:normAutofit fontScale="90000"/>
          </a:bodyPr>
          <a:lstStyle/>
          <a:p>
            <a:br>
              <a:rPr lang="en-US"/>
            </a:br>
            <a:endParaRPr lang="en-US"/>
          </a:p>
        </p:txBody>
      </p:sp>
      <p:pic>
        <p:nvPicPr>
          <p:cNvPr id="4" name="Picture 3">
            <a:extLst>
              <a:ext uri="{FF2B5EF4-FFF2-40B4-BE49-F238E27FC236}">
                <a16:creationId xmlns:a16="http://schemas.microsoft.com/office/drawing/2014/main" id="{5284DDF4-7382-A5A6-D1F9-BF968B684D2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1663" y="79092"/>
            <a:ext cx="1740919" cy="402801"/>
          </a:xfrm>
          <a:prstGeom prst="rect">
            <a:avLst/>
          </a:prstGeom>
        </p:spPr>
      </p:pic>
      <p:cxnSp>
        <p:nvCxnSpPr>
          <p:cNvPr id="5" name="Straight Connector 4">
            <a:extLst>
              <a:ext uri="{FF2B5EF4-FFF2-40B4-BE49-F238E27FC236}">
                <a16:creationId xmlns:a16="http://schemas.microsoft.com/office/drawing/2014/main" id="{CE8FD0CB-CCA2-EB37-893B-E1042E68210B}"/>
              </a:ext>
            </a:extLst>
          </p:cNvPr>
          <p:cNvCxnSpPr>
            <a:cxnSpLocks/>
          </p:cNvCxnSpPr>
          <p:nvPr/>
        </p:nvCxnSpPr>
        <p:spPr>
          <a:xfrm>
            <a:off x="1109709" y="594804"/>
            <a:ext cx="10235953" cy="0"/>
          </a:xfrm>
          <a:prstGeom prst="line">
            <a:avLst/>
          </a:prstGeom>
        </p:spPr>
        <p:style>
          <a:lnRef idx="3">
            <a:schemeClr val="dk1"/>
          </a:lnRef>
          <a:fillRef idx="0">
            <a:schemeClr val="dk1"/>
          </a:fillRef>
          <a:effectRef idx="2">
            <a:schemeClr val="dk1"/>
          </a:effectRef>
          <a:fontRef idx="minor">
            <a:schemeClr val="tx1"/>
          </a:fontRef>
        </p:style>
      </p:cxnSp>
      <p:cxnSp>
        <p:nvCxnSpPr>
          <p:cNvPr id="6" name="Straight Connector 5">
            <a:extLst>
              <a:ext uri="{FF2B5EF4-FFF2-40B4-BE49-F238E27FC236}">
                <a16:creationId xmlns:a16="http://schemas.microsoft.com/office/drawing/2014/main" id="{EC92B5B1-F81E-B429-A8E1-B81B0629594A}"/>
              </a:ext>
            </a:extLst>
          </p:cNvPr>
          <p:cNvCxnSpPr/>
          <p:nvPr/>
        </p:nvCxnSpPr>
        <p:spPr>
          <a:xfrm>
            <a:off x="1038687" y="6462943"/>
            <a:ext cx="10369119" cy="0"/>
          </a:xfrm>
          <a:prstGeom prst="line">
            <a:avLst/>
          </a:prstGeom>
        </p:spPr>
        <p:style>
          <a:lnRef idx="3">
            <a:schemeClr val="dk1"/>
          </a:lnRef>
          <a:fillRef idx="0">
            <a:schemeClr val="dk1"/>
          </a:fillRef>
          <a:effectRef idx="2">
            <a:schemeClr val="dk1"/>
          </a:effectRef>
          <a:fontRef idx="minor">
            <a:schemeClr val="tx1"/>
          </a:fontRef>
        </p:style>
      </p:cxnSp>
      <p:sp>
        <p:nvSpPr>
          <p:cNvPr id="7" name="TextBox 7">
            <a:extLst>
              <a:ext uri="{FF2B5EF4-FFF2-40B4-BE49-F238E27FC236}">
                <a16:creationId xmlns:a16="http://schemas.microsoft.com/office/drawing/2014/main" id="{E1D882BB-6057-52B3-FA76-F89A0D03F9A2}"/>
              </a:ext>
            </a:extLst>
          </p:cNvPr>
          <p:cNvSpPr txBox="1"/>
          <p:nvPr/>
        </p:nvSpPr>
        <p:spPr>
          <a:xfrm>
            <a:off x="8788893" y="319596"/>
            <a:ext cx="2821413" cy="276999"/>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1">
                <a:latin typeface="Times New Roman" panose="02020603050405020304" pitchFamily="18" charset="0"/>
                <a:cs typeface="Times New Roman" panose="02020603050405020304" pitchFamily="18" charset="0"/>
              </a:rPr>
              <a:t>TIFAC – CORE in CYBER SECURITY</a:t>
            </a:r>
            <a:endParaRPr lang="en-IN" sz="1200" b="1">
              <a:latin typeface="Times New Roman" panose="02020603050405020304" pitchFamily="18" charset="0"/>
              <a:cs typeface="Times New Roman" panose="02020603050405020304" pitchFamily="18" charset="0"/>
            </a:endParaRPr>
          </a:p>
        </p:txBody>
      </p:sp>
      <p:sp>
        <p:nvSpPr>
          <p:cNvPr id="8" name="Slide Number Placeholder 10">
            <a:extLst>
              <a:ext uri="{FF2B5EF4-FFF2-40B4-BE49-F238E27FC236}">
                <a16:creationId xmlns:a16="http://schemas.microsoft.com/office/drawing/2014/main" id="{781AB4F3-5EDE-03B8-57F7-5EA5AE609777}"/>
              </a:ext>
            </a:extLst>
          </p:cNvPr>
          <p:cNvSpPr>
            <a:spLocks noGrp="1"/>
          </p:cNvSpPr>
          <p:nvPr/>
        </p:nvSpPr>
        <p:spPr>
          <a:xfrm>
            <a:off x="8734887"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C3E5B82-863A-4B66-9E4F-DCFAD2A3B854}" type="slidenum">
              <a:rPr lang="en-IN" smtClean="0"/>
              <a:pPr/>
              <a:t>13</a:t>
            </a:fld>
            <a:endParaRPr lang="en-IN"/>
          </a:p>
        </p:txBody>
      </p:sp>
      <p:sp>
        <p:nvSpPr>
          <p:cNvPr id="9" name="Footer Placeholder 11">
            <a:extLst>
              <a:ext uri="{FF2B5EF4-FFF2-40B4-BE49-F238E27FC236}">
                <a16:creationId xmlns:a16="http://schemas.microsoft.com/office/drawing/2014/main" id="{ED04ED89-5231-D4F3-0DF1-2D1989000408}"/>
              </a:ext>
            </a:extLst>
          </p:cNvPr>
          <p:cNvSpPr>
            <a:spLocks noGrp="1"/>
          </p:cNvSpPr>
          <p:nvPr/>
        </p:nvSpPr>
        <p:spPr>
          <a:xfrm>
            <a:off x="4038600" y="64928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20CYS 495 B.Tech CYS: 2022 - 2026 Project Presentation </a:t>
            </a:r>
            <a:endParaRPr lang="en-IN"/>
          </a:p>
        </p:txBody>
      </p:sp>
      <p:sp>
        <p:nvSpPr>
          <p:cNvPr id="3" name="TextBox 2">
            <a:extLst>
              <a:ext uri="{FF2B5EF4-FFF2-40B4-BE49-F238E27FC236}">
                <a16:creationId xmlns:a16="http://schemas.microsoft.com/office/drawing/2014/main" id="{DC3B4309-749C-BE44-B002-D6801C49BC8B}"/>
              </a:ext>
            </a:extLst>
          </p:cNvPr>
          <p:cNvSpPr txBox="1"/>
          <p:nvPr/>
        </p:nvSpPr>
        <p:spPr>
          <a:xfrm>
            <a:off x="1096100" y="938892"/>
            <a:ext cx="9648100" cy="680186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ea typeface="+mn-lt"/>
                <a:cs typeface="+mn-lt"/>
              </a:rPr>
              <a:t>Collecting T-POT Logs and Sending Them to Splunk</a:t>
            </a:r>
          </a:p>
          <a:p>
            <a:endParaRPr lang="en-US" sz="2000" b="1">
              <a:latin typeface="Aptos"/>
              <a:cs typeface="Times New Roman"/>
            </a:endParaRPr>
          </a:p>
          <a:p>
            <a:pPr marL="285750" indent="-285750">
              <a:buFont typeface="Arial"/>
              <a:buChar char="•"/>
            </a:pPr>
            <a:r>
              <a:rPr lang="en-US">
                <a:ea typeface="+mn-lt"/>
                <a:cs typeface="+mn-lt"/>
              </a:rPr>
              <a:t>Collected all logs generated by the T-POT honeypot, especially from the Cowrie service.</a:t>
            </a:r>
          </a:p>
          <a:p>
            <a:pPr marL="285750" indent="-285750">
              <a:buFont typeface="Arial"/>
              <a:buChar char="•"/>
            </a:pPr>
            <a:r>
              <a:rPr lang="en-US">
                <a:ea typeface="+mn-lt"/>
                <a:cs typeface="+mn-lt"/>
              </a:rPr>
              <a:t>Cowrie records attacker </a:t>
            </a:r>
            <a:r>
              <a:rPr lang="en-US" err="1">
                <a:ea typeface="+mn-lt"/>
                <a:cs typeface="+mn-lt"/>
              </a:rPr>
              <a:t>behaviour</a:t>
            </a:r>
            <a:r>
              <a:rPr lang="en-US">
                <a:ea typeface="+mn-lt"/>
                <a:cs typeface="+mn-lt"/>
              </a:rPr>
              <a:t>, such as:</a:t>
            </a:r>
            <a:endParaRPr lang="en-US"/>
          </a:p>
          <a:p>
            <a:pPr marL="742950" lvl="1" indent="-285750">
              <a:buFont typeface="Courier New"/>
              <a:buChar char="o"/>
            </a:pPr>
            <a:r>
              <a:rPr lang="en-US"/>
              <a:t>Login attempt </a:t>
            </a:r>
          </a:p>
          <a:p>
            <a:pPr marL="742950" lvl="1" indent="-285750">
              <a:buFont typeface="Courier New"/>
              <a:buChar char="o"/>
            </a:pPr>
            <a:r>
              <a:rPr lang="en-US"/>
              <a:t>Command typed</a:t>
            </a:r>
          </a:p>
          <a:p>
            <a:pPr marL="742950" lvl="1" indent="-285750">
              <a:buFont typeface="Courier New"/>
              <a:buChar char="o"/>
            </a:pPr>
            <a:r>
              <a:rPr lang="en-US"/>
              <a:t>Attacker IP addresses</a:t>
            </a:r>
          </a:p>
          <a:p>
            <a:pPr marL="742950" lvl="1" indent="-285750">
              <a:buFont typeface="Courier New"/>
              <a:buChar char="o"/>
            </a:pPr>
            <a:r>
              <a:rPr lang="en-US"/>
              <a:t>Session details </a:t>
            </a:r>
            <a:endParaRPr lang="en-US">
              <a:ea typeface="+mn-lt"/>
              <a:cs typeface="+mn-lt"/>
            </a:endParaRPr>
          </a:p>
          <a:p>
            <a:pPr lvl="1"/>
            <a:endParaRPr lang="en-US">
              <a:ea typeface="+mn-lt"/>
              <a:cs typeface="+mn-lt"/>
            </a:endParaRPr>
          </a:p>
          <a:p>
            <a:pPr marL="285750" indent="-285750">
              <a:buFont typeface="Arial"/>
              <a:buChar char="•"/>
            </a:pPr>
            <a:r>
              <a:rPr lang="en-US">
                <a:ea typeface="+mn-lt"/>
                <a:cs typeface="+mn-lt"/>
              </a:rPr>
              <a:t>Accessed the location where T-POT stores its logs and opened the main log file:</a:t>
            </a:r>
            <a:r>
              <a:rPr lang="en-US">
                <a:latin typeface="Aptos"/>
              </a:rPr>
              <a:t> </a:t>
            </a:r>
            <a:r>
              <a:rPr lang="en-US" err="1">
                <a:latin typeface="Consolas"/>
              </a:rPr>
              <a:t>cowrie.json</a:t>
            </a:r>
            <a:endParaRPr lang="en-US" err="1"/>
          </a:p>
          <a:p>
            <a:pPr marL="285750" indent="-285750">
              <a:buFont typeface="Arial"/>
              <a:buChar char="•"/>
            </a:pPr>
            <a:r>
              <a:rPr lang="en-US">
                <a:ea typeface="+mn-lt"/>
                <a:cs typeface="+mn-lt"/>
              </a:rPr>
              <a:t>This file contains raw attacker activity, which must be sent to Splunk for visualization and APT monitoring.</a:t>
            </a:r>
            <a:endParaRPr lang="en-US"/>
          </a:p>
          <a:p>
            <a:pPr lvl="1"/>
            <a:endParaRPr lang="en-US"/>
          </a:p>
          <a:p>
            <a:pPr lvl="1"/>
            <a:endParaRPr lang="en-US"/>
          </a:p>
          <a:p>
            <a:pPr marL="742950" lvl="1" indent="-285750">
              <a:buFont typeface="Courier New"/>
              <a:buChar char="o"/>
            </a:pPr>
            <a:endParaRPr lang="en-US"/>
          </a:p>
          <a:p>
            <a:endParaRPr lang="en-US"/>
          </a:p>
          <a:p>
            <a:endParaRPr lang="en-US"/>
          </a:p>
          <a:p>
            <a:endParaRPr lang="en-US"/>
          </a:p>
          <a:p>
            <a:endParaRPr lang="en-US"/>
          </a:p>
          <a:p>
            <a:endParaRPr lang="en-US"/>
          </a:p>
          <a:p>
            <a:endParaRPr lang="en-US"/>
          </a:p>
          <a:p>
            <a:endParaRPr lang="en-US"/>
          </a:p>
          <a:p>
            <a:endParaRPr lang="en-US"/>
          </a:p>
          <a:p>
            <a:endParaRPr lang="en-US"/>
          </a:p>
        </p:txBody>
      </p:sp>
      <p:sp>
        <p:nvSpPr>
          <p:cNvPr id="11" name="TextBox 10">
            <a:extLst>
              <a:ext uri="{FF2B5EF4-FFF2-40B4-BE49-F238E27FC236}">
                <a16:creationId xmlns:a16="http://schemas.microsoft.com/office/drawing/2014/main" id="{24D0F2A0-F1B1-4D73-B04E-A82B34054BF1}"/>
              </a:ext>
            </a:extLst>
          </p:cNvPr>
          <p:cNvSpPr txBox="1"/>
          <p:nvPr/>
        </p:nvSpPr>
        <p:spPr>
          <a:xfrm>
            <a:off x="1319892" y="1687285"/>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Tree>
    <p:extLst>
      <p:ext uri="{BB962C8B-B14F-4D97-AF65-F5344CB8AC3E}">
        <p14:creationId xmlns:p14="http://schemas.microsoft.com/office/powerpoint/2010/main" val="10205287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E7BC64-A441-C528-895B-A56B112A69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CC40A2-6CE4-9F3E-A1BF-910CC3D09ECF}"/>
              </a:ext>
            </a:extLst>
          </p:cNvPr>
          <p:cNvSpPr>
            <a:spLocks noGrp="1"/>
          </p:cNvSpPr>
          <p:nvPr>
            <p:ph type="ctrTitle"/>
          </p:nvPr>
        </p:nvSpPr>
        <p:spPr>
          <a:xfrm>
            <a:off x="1524000" y="1134363"/>
            <a:ext cx="8670000" cy="773600"/>
          </a:xfrm>
        </p:spPr>
        <p:txBody>
          <a:bodyPr>
            <a:normAutofit fontScale="90000"/>
          </a:bodyPr>
          <a:lstStyle/>
          <a:p>
            <a:br>
              <a:rPr lang="en-US"/>
            </a:br>
            <a:endParaRPr lang="en-US"/>
          </a:p>
        </p:txBody>
      </p:sp>
      <p:pic>
        <p:nvPicPr>
          <p:cNvPr id="4" name="Picture 3">
            <a:extLst>
              <a:ext uri="{FF2B5EF4-FFF2-40B4-BE49-F238E27FC236}">
                <a16:creationId xmlns:a16="http://schemas.microsoft.com/office/drawing/2014/main" id="{92C2EE4E-E4F9-ABB0-0303-12E2F958796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1663" y="79092"/>
            <a:ext cx="1740919" cy="402801"/>
          </a:xfrm>
          <a:prstGeom prst="rect">
            <a:avLst/>
          </a:prstGeom>
        </p:spPr>
      </p:pic>
      <p:cxnSp>
        <p:nvCxnSpPr>
          <p:cNvPr id="5" name="Straight Connector 4">
            <a:extLst>
              <a:ext uri="{FF2B5EF4-FFF2-40B4-BE49-F238E27FC236}">
                <a16:creationId xmlns:a16="http://schemas.microsoft.com/office/drawing/2014/main" id="{6E26AA73-D1F3-78EB-7979-B606920F8FC8}"/>
              </a:ext>
            </a:extLst>
          </p:cNvPr>
          <p:cNvCxnSpPr>
            <a:cxnSpLocks/>
          </p:cNvCxnSpPr>
          <p:nvPr/>
        </p:nvCxnSpPr>
        <p:spPr>
          <a:xfrm>
            <a:off x="1109709" y="594804"/>
            <a:ext cx="10235953" cy="0"/>
          </a:xfrm>
          <a:prstGeom prst="line">
            <a:avLst/>
          </a:prstGeom>
        </p:spPr>
        <p:style>
          <a:lnRef idx="3">
            <a:schemeClr val="dk1"/>
          </a:lnRef>
          <a:fillRef idx="0">
            <a:schemeClr val="dk1"/>
          </a:fillRef>
          <a:effectRef idx="2">
            <a:schemeClr val="dk1"/>
          </a:effectRef>
          <a:fontRef idx="minor">
            <a:schemeClr val="tx1"/>
          </a:fontRef>
        </p:style>
      </p:cxnSp>
      <p:cxnSp>
        <p:nvCxnSpPr>
          <p:cNvPr id="6" name="Straight Connector 5">
            <a:extLst>
              <a:ext uri="{FF2B5EF4-FFF2-40B4-BE49-F238E27FC236}">
                <a16:creationId xmlns:a16="http://schemas.microsoft.com/office/drawing/2014/main" id="{51B1D85D-94A1-E836-49FB-D9F7DD826BD7}"/>
              </a:ext>
            </a:extLst>
          </p:cNvPr>
          <p:cNvCxnSpPr/>
          <p:nvPr/>
        </p:nvCxnSpPr>
        <p:spPr>
          <a:xfrm>
            <a:off x="1038687" y="6462943"/>
            <a:ext cx="10369119" cy="0"/>
          </a:xfrm>
          <a:prstGeom prst="line">
            <a:avLst/>
          </a:prstGeom>
        </p:spPr>
        <p:style>
          <a:lnRef idx="3">
            <a:schemeClr val="dk1"/>
          </a:lnRef>
          <a:fillRef idx="0">
            <a:schemeClr val="dk1"/>
          </a:fillRef>
          <a:effectRef idx="2">
            <a:schemeClr val="dk1"/>
          </a:effectRef>
          <a:fontRef idx="minor">
            <a:schemeClr val="tx1"/>
          </a:fontRef>
        </p:style>
      </p:cxnSp>
      <p:sp>
        <p:nvSpPr>
          <p:cNvPr id="7" name="TextBox 7">
            <a:extLst>
              <a:ext uri="{FF2B5EF4-FFF2-40B4-BE49-F238E27FC236}">
                <a16:creationId xmlns:a16="http://schemas.microsoft.com/office/drawing/2014/main" id="{5711DE33-970E-A57F-0103-BFB0C73C4FBD}"/>
              </a:ext>
            </a:extLst>
          </p:cNvPr>
          <p:cNvSpPr txBox="1"/>
          <p:nvPr/>
        </p:nvSpPr>
        <p:spPr>
          <a:xfrm>
            <a:off x="8788893" y="319596"/>
            <a:ext cx="2821413" cy="276999"/>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1">
                <a:latin typeface="Times New Roman" panose="02020603050405020304" pitchFamily="18" charset="0"/>
                <a:cs typeface="Times New Roman" panose="02020603050405020304" pitchFamily="18" charset="0"/>
              </a:rPr>
              <a:t>TIFAC – CORE in CYBER SECURITY</a:t>
            </a:r>
            <a:endParaRPr lang="en-IN" sz="1200" b="1">
              <a:latin typeface="Times New Roman" panose="02020603050405020304" pitchFamily="18" charset="0"/>
              <a:cs typeface="Times New Roman" panose="02020603050405020304" pitchFamily="18" charset="0"/>
            </a:endParaRPr>
          </a:p>
        </p:txBody>
      </p:sp>
      <p:sp>
        <p:nvSpPr>
          <p:cNvPr id="8" name="Slide Number Placeholder 10">
            <a:extLst>
              <a:ext uri="{FF2B5EF4-FFF2-40B4-BE49-F238E27FC236}">
                <a16:creationId xmlns:a16="http://schemas.microsoft.com/office/drawing/2014/main" id="{3A35D740-F1E2-503A-972C-389EF7806893}"/>
              </a:ext>
            </a:extLst>
          </p:cNvPr>
          <p:cNvSpPr>
            <a:spLocks noGrp="1"/>
          </p:cNvSpPr>
          <p:nvPr/>
        </p:nvSpPr>
        <p:spPr>
          <a:xfrm>
            <a:off x="8734887"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C3E5B82-863A-4B66-9E4F-DCFAD2A3B854}" type="slidenum">
              <a:rPr lang="en-IN" smtClean="0"/>
              <a:pPr/>
              <a:t>14</a:t>
            </a:fld>
            <a:endParaRPr lang="en-IN"/>
          </a:p>
        </p:txBody>
      </p:sp>
      <p:sp>
        <p:nvSpPr>
          <p:cNvPr id="9" name="Footer Placeholder 11">
            <a:extLst>
              <a:ext uri="{FF2B5EF4-FFF2-40B4-BE49-F238E27FC236}">
                <a16:creationId xmlns:a16="http://schemas.microsoft.com/office/drawing/2014/main" id="{FD2DF2B8-D954-5923-F065-1B7F469ACBC3}"/>
              </a:ext>
            </a:extLst>
          </p:cNvPr>
          <p:cNvSpPr>
            <a:spLocks noGrp="1"/>
          </p:cNvSpPr>
          <p:nvPr/>
        </p:nvSpPr>
        <p:spPr>
          <a:xfrm>
            <a:off x="4038600" y="64928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20CYS 495 B.Tech CYS: 2022 - 2026 Project Presentation </a:t>
            </a:r>
            <a:endParaRPr lang="en-IN"/>
          </a:p>
        </p:txBody>
      </p:sp>
      <p:sp>
        <p:nvSpPr>
          <p:cNvPr id="11" name="TextBox 10">
            <a:extLst>
              <a:ext uri="{FF2B5EF4-FFF2-40B4-BE49-F238E27FC236}">
                <a16:creationId xmlns:a16="http://schemas.microsoft.com/office/drawing/2014/main" id="{124BFA4F-4F5D-4C31-A409-3C91208C2E96}"/>
              </a:ext>
            </a:extLst>
          </p:cNvPr>
          <p:cNvSpPr txBox="1"/>
          <p:nvPr/>
        </p:nvSpPr>
        <p:spPr>
          <a:xfrm>
            <a:off x="1319892" y="1687285"/>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pic>
        <p:nvPicPr>
          <p:cNvPr id="12" name="Content Placeholder 10" descr="A screen shot of a computer screen&#10;&#10;AI-generated content may be incorrect.">
            <a:extLst>
              <a:ext uri="{FF2B5EF4-FFF2-40B4-BE49-F238E27FC236}">
                <a16:creationId xmlns:a16="http://schemas.microsoft.com/office/drawing/2014/main" id="{5B3B5829-2475-EA44-A626-61558457EFFC}"/>
              </a:ext>
            </a:extLst>
          </p:cNvPr>
          <p:cNvPicPr>
            <a:picLocks noChangeAspect="1"/>
          </p:cNvPicPr>
          <p:nvPr/>
        </p:nvPicPr>
        <p:blipFill>
          <a:blip r:embed="rId3"/>
          <a:stretch>
            <a:fillRect/>
          </a:stretch>
        </p:blipFill>
        <p:spPr>
          <a:xfrm>
            <a:off x="643467" y="1098041"/>
            <a:ext cx="10905066" cy="4661915"/>
          </a:xfrm>
          <a:prstGeom prst="rect">
            <a:avLst/>
          </a:prstGeom>
        </p:spPr>
      </p:pic>
    </p:spTree>
    <p:extLst>
      <p:ext uri="{BB962C8B-B14F-4D97-AF65-F5344CB8AC3E}">
        <p14:creationId xmlns:p14="http://schemas.microsoft.com/office/powerpoint/2010/main" val="29306466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6C9025-EE27-CEE7-D57D-55656135B2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C862CE-6612-AC09-13F2-A72366398014}"/>
              </a:ext>
            </a:extLst>
          </p:cNvPr>
          <p:cNvSpPr>
            <a:spLocks noGrp="1"/>
          </p:cNvSpPr>
          <p:nvPr>
            <p:ph type="ctrTitle"/>
          </p:nvPr>
        </p:nvSpPr>
        <p:spPr>
          <a:xfrm>
            <a:off x="1524000" y="1134363"/>
            <a:ext cx="8670000" cy="773600"/>
          </a:xfrm>
        </p:spPr>
        <p:txBody>
          <a:bodyPr>
            <a:normAutofit fontScale="90000"/>
          </a:bodyPr>
          <a:lstStyle/>
          <a:p>
            <a:br>
              <a:rPr lang="en-US"/>
            </a:br>
            <a:endParaRPr lang="en-US"/>
          </a:p>
        </p:txBody>
      </p:sp>
      <p:pic>
        <p:nvPicPr>
          <p:cNvPr id="4" name="Picture 3">
            <a:extLst>
              <a:ext uri="{FF2B5EF4-FFF2-40B4-BE49-F238E27FC236}">
                <a16:creationId xmlns:a16="http://schemas.microsoft.com/office/drawing/2014/main" id="{5BAE8A97-2C6B-993A-B72C-1AA7BB71C36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1663" y="79092"/>
            <a:ext cx="1740919" cy="402801"/>
          </a:xfrm>
          <a:prstGeom prst="rect">
            <a:avLst/>
          </a:prstGeom>
        </p:spPr>
      </p:pic>
      <p:cxnSp>
        <p:nvCxnSpPr>
          <p:cNvPr id="5" name="Straight Connector 4">
            <a:extLst>
              <a:ext uri="{FF2B5EF4-FFF2-40B4-BE49-F238E27FC236}">
                <a16:creationId xmlns:a16="http://schemas.microsoft.com/office/drawing/2014/main" id="{5F294EA9-1EB9-E5B8-8064-30A092BF187F}"/>
              </a:ext>
            </a:extLst>
          </p:cNvPr>
          <p:cNvCxnSpPr>
            <a:cxnSpLocks/>
          </p:cNvCxnSpPr>
          <p:nvPr/>
        </p:nvCxnSpPr>
        <p:spPr>
          <a:xfrm>
            <a:off x="1109709" y="594804"/>
            <a:ext cx="10235953" cy="0"/>
          </a:xfrm>
          <a:prstGeom prst="line">
            <a:avLst/>
          </a:prstGeom>
        </p:spPr>
        <p:style>
          <a:lnRef idx="3">
            <a:schemeClr val="dk1"/>
          </a:lnRef>
          <a:fillRef idx="0">
            <a:schemeClr val="dk1"/>
          </a:fillRef>
          <a:effectRef idx="2">
            <a:schemeClr val="dk1"/>
          </a:effectRef>
          <a:fontRef idx="minor">
            <a:schemeClr val="tx1"/>
          </a:fontRef>
        </p:style>
      </p:cxnSp>
      <p:cxnSp>
        <p:nvCxnSpPr>
          <p:cNvPr id="6" name="Straight Connector 5">
            <a:extLst>
              <a:ext uri="{FF2B5EF4-FFF2-40B4-BE49-F238E27FC236}">
                <a16:creationId xmlns:a16="http://schemas.microsoft.com/office/drawing/2014/main" id="{E5CBC5FE-0870-814A-C459-84076FFA9BC0}"/>
              </a:ext>
            </a:extLst>
          </p:cNvPr>
          <p:cNvCxnSpPr/>
          <p:nvPr/>
        </p:nvCxnSpPr>
        <p:spPr>
          <a:xfrm>
            <a:off x="1038687" y="6462943"/>
            <a:ext cx="10369119" cy="0"/>
          </a:xfrm>
          <a:prstGeom prst="line">
            <a:avLst/>
          </a:prstGeom>
        </p:spPr>
        <p:style>
          <a:lnRef idx="3">
            <a:schemeClr val="dk1"/>
          </a:lnRef>
          <a:fillRef idx="0">
            <a:schemeClr val="dk1"/>
          </a:fillRef>
          <a:effectRef idx="2">
            <a:schemeClr val="dk1"/>
          </a:effectRef>
          <a:fontRef idx="minor">
            <a:schemeClr val="tx1"/>
          </a:fontRef>
        </p:style>
      </p:cxnSp>
      <p:sp>
        <p:nvSpPr>
          <p:cNvPr id="7" name="TextBox 7">
            <a:extLst>
              <a:ext uri="{FF2B5EF4-FFF2-40B4-BE49-F238E27FC236}">
                <a16:creationId xmlns:a16="http://schemas.microsoft.com/office/drawing/2014/main" id="{1BBC6ADD-FD61-8AFC-D273-06FF758E6340}"/>
              </a:ext>
            </a:extLst>
          </p:cNvPr>
          <p:cNvSpPr txBox="1"/>
          <p:nvPr/>
        </p:nvSpPr>
        <p:spPr>
          <a:xfrm>
            <a:off x="8788893" y="319596"/>
            <a:ext cx="2821413" cy="276999"/>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1">
                <a:latin typeface="Times New Roman" panose="02020603050405020304" pitchFamily="18" charset="0"/>
                <a:cs typeface="Times New Roman" panose="02020603050405020304" pitchFamily="18" charset="0"/>
              </a:rPr>
              <a:t>TIFAC – CORE in CYBER SECURITY</a:t>
            </a:r>
            <a:endParaRPr lang="en-IN" sz="1200" b="1">
              <a:latin typeface="Times New Roman" panose="02020603050405020304" pitchFamily="18" charset="0"/>
              <a:cs typeface="Times New Roman" panose="02020603050405020304" pitchFamily="18" charset="0"/>
            </a:endParaRPr>
          </a:p>
        </p:txBody>
      </p:sp>
      <p:sp>
        <p:nvSpPr>
          <p:cNvPr id="8" name="Slide Number Placeholder 10">
            <a:extLst>
              <a:ext uri="{FF2B5EF4-FFF2-40B4-BE49-F238E27FC236}">
                <a16:creationId xmlns:a16="http://schemas.microsoft.com/office/drawing/2014/main" id="{F26F70D6-6F21-4FFA-5D94-65F4DB4C4AF5}"/>
              </a:ext>
            </a:extLst>
          </p:cNvPr>
          <p:cNvSpPr>
            <a:spLocks noGrp="1"/>
          </p:cNvSpPr>
          <p:nvPr/>
        </p:nvSpPr>
        <p:spPr>
          <a:xfrm>
            <a:off x="8734887"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C3E5B82-863A-4B66-9E4F-DCFAD2A3B854}" type="slidenum">
              <a:rPr lang="en-IN" smtClean="0"/>
              <a:pPr/>
              <a:t>15</a:t>
            </a:fld>
            <a:endParaRPr lang="en-IN"/>
          </a:p>
        </p:txBody>
      </p:sp>
      <p:sp>
        <p:nvSpPr>
          <p:cNvPr id="9" name="Footer Placeholder 11">
            <a:extLst>
              <a:ext uri="{FF2B5EF4-FFF2-40B4-BE49-F238E27FC236}">
                <a16:creationId xmlns:a16="http://schemas.microsoft.com/office/drawing/2014/main" id="{F1417191-22D9-5F79-0873-92A8E11C638E}"/>
              </a:ext>
            </a:extLst>
          </p:cNvPr>
          <p:cNvSpPr>
            <a:spLocks noGrp="1"/>
          </p:cNvSpPr>
          <p:nvPr/>
        </p:nvSpPr>
        <p:spPr>
          <a:xfrm>
            <a:off x="4038600" y="64928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20CYS 495 B.Tech CYS: 2022 - 2026 Project Presentation </a:t>
            </a:r>
            <a:endParaRPr lang="en-IN"/>
          </a:p>
        </p:txBody>
      </p:sp>
      <p:sp>
        <p:nvSpPr>
          <p:cNvPr id="11" name="TextBox 10">
            <a:extLst>
              <a:ext uri="{FF2B5EF4-FFF2-40B4-BE49-F238E27FC236}">
                <a16:creationId xmlns:a16="http://schemas.microsoft.com/office/drawing/2014/main" id="{EB73144F-DCBE-36AA-F834-57BFF9A530F6}"/>
              </a:ext>
            </a:extLst>
          </p:cNvPr>
          <p:cNvSpPr txBox="1"/>
          <p:nvPr/>
        </p:nvSpPr>
        <p:spPr>
          <a:xfrm>
            <a:off x="1319892" y="1687285"/>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4" name="TextBox 13">
            <a:extLst>
              <a:ext uri="{FF2B5EF4-FFF2-40B4-BE49-F238E27FC236}">
                <a16:creationId xmlns:a16="http://schemas.microsoft.com/office/drawing/2014/main" id="{2BA90A34-87AC-B674-1B87-B5517970EDA3}"/>
              </a:ext>
            </a:extLst>
          </p:cNvPr>
          <p:cNvSpPr txBox="1"/>
          <p:nvPr/>
        </p:nvSpPr>
        <p:spPr>
          <a:xfrm>
            <a:off x="1101528" y="762476"/>
            <a:ext cx="10239935" cy="209288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ea typeface="+mn-lt"/>
                <a:cs typeface="+mn-lt"/>
              </a:rPr>
              <a:t>Splunk Log Ingestion &amp; APT Activity Analysis:</a:t>
            </a:r>
            <a:endParaRPr lang="en-US" b="1"/>
          </a:p>
          <a:p>
            <a:endParaRPr lang="en-US" b="1"/>
          </a:p>
          <a:p>
            <a:pPr marL="285750" indent="-285750">
              <a:buFont typeface="Arial"/>
              <a:buChar char="•"/>
            </a:pPr>
            <a:r>
              <a:rPr lang="en-US">
                <a:ea typeface="+mn-lt"/>
                <a:cs typeface="+mn-lt"/>
              </a:rPr>
              <a:t>After collecting the logs from T-POT, the next step is to upload them into Splunk Enterprise for analysis. Then logged into Splunk using the local web interface.</a:t>
            </a:r>
            <a:endParaRPr lang="en-US"/>
          </a:p>
          <a:p>
            <a:pPr marL="285750" indent="-285750">
              <a:buFont typeface="Arial"/>
              <a:buChar char="•"/>
            </a:pPr>
            <a:r>
              <a:rPr lang="en-US">
                <a:ea typeface="+mn-lt"/>
                <a:cs typeface="+mn-lt"/>
              </a:rPr>
              <a:t>Splunk automatically detected the log format (JSON) and extracted important fields.</a:t>
            </a:r>
            <a:endParaRPr lang="en-US"/>
          </a:p>
          <a:p>
            <a:pPr marL="285750" indent="-285750">
              <a:buFont typeface="Arial"/>
              <a:buChar char="•"/>
            </a:pPr>
            <a:endParaRPr lang="en-US"/>
          </a:p>
          <a:p>
            <a:endParaRPr lang="en-US" sz="2000" b="1"/>
          </a:p>
        </p:txBody>
      </p:sp>
      <p:pic>
        <p:nvPicPr>
          <p:cNvPr id="3" name="Picture 2" descr="A screenshot of a computer&#10;&#10;AI-generated content may be incorrect.">
            <a:extLst>
              <a:ext uri="{FF2B5EF4-FFF2-40B4-BE49-F238E27FC236}">
                <a16:creationId xmlns:a16="http://schemas.microsoft.com/office/drawing/2014/main" id="{D06E9CD6-D9A3-39BC-26F7-A3B783C3DB75}"/>
              </a:ext>
            </a:extLst>
          </p:cNvPr>
          <p:cNvPicPr>
            <a:picLocks noChangeAspect="1"/>
          </p:cNvPicPr>
          <p:nvPr/>
        </p:nvPicPr>
        <p:blipFill>
          <a:blip r:embed="rId3"/>
          <a:srcRect l="10743" t="-448" r="24908" b="-983"/>
          <a:stretch>
            <a:fillRect/>
          </a:stretch>
        </p:blipFill>
        <p:spPr>
          <a:xfrm>
            <a:off x="1839883" y="2382940"/>
            <a:ext cx="7834387" cy="3603196"/>
          </a:xfrm>
          <a:prstGeom prst="rect">
            <a:avLst/>
          </a:prstGeom>
        </p:spPr>
      </p:pic>
    </p:spTree>
    <p:extLst>
      <p:ext uri="{BB962C8B-B14F-4D97-AF65-F5344CB8AC3E}">
        <p14:creationId xmlns:p14="http://schemas.microsoft.com/office/powerpoint/2010/main" val="12058572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A6130E-9FF1-93EE-A1D0-944084CF4D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42CDC7-7B4C-B8DA-E7D9-EBB211A5F8B0}"/>
              </a:ext>
            </a:extLst>
          </p:cNvPr>
          <p:cNvSpPr>
            <a:spLocks noGrp="1"/>
          </p:cNvSpPr>
          <p:nvPr>
            <p:ph type="ctrTitle"/>
          </p:nvPr>
        </p:nvSpPr>
        <p:spPr>
          <a:xfrm>
            <a:off x="1524000" y="1134363"/>
            <a:ext cx="8670000" cy="773600"/>
          </a:xfrm>
        </p:spPr>
        <p:txBody>
          <a:bodyPr>
            <a:normAutofit fontScale="90000"/>
          </a:bodyPr>
          <a:lstStyle/>
          <a:p>
            <a:br>
              <a:rPr lang="en-US"/>
            </a:br>
            <a:endParaRPr lang="en-US"/>
          </a:p>
        </p:txBody>
      </p:sp>
      <p:pic>
        <p:nvPicPr>
          <p:cNvPr id="4" name="Picture 3">
            <a:extLst>
              <a:ext uri="{FF2B5EF4-FFF2-40B4-BE49-F238E27FC236}">
                <a16:creationId xmlns:a16="http://schemas.microsoft.com/office/drawing/2014/main" id="{F9BE9211-0A7A-A2A5-D08D-8B5A728CD33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1663" y="79092"/>
            <a:ext cx="1740919" cy="402801"/>
          </a:xfrm>
          <a:prstGeom prst="rect">
            <a:avLst/>
          </a:prstGeom>
        </p:spPr>
      </p:pic>
      <p:cxnSp>
        <p:nvCxnSpPr>
          <p:cNvPr id="5" name="Straight Connector 4">
            <a:extLst>
              <a:ext uri="{FF2B5EF4-FFF2-40B4-BE49-F238E27FC236}">
                <a16:creationId xmlns:a16="http://schemas.microsoft.com/office/drawing/2014/main" id="{3E4D780C-ADA3-1B8C-7A3F-54565D687FB4}"/>
              </a:ext>
            </a:extLst>
          </p:cNvPr>
          <p:cNvCxnSpPr>
            <a:cxnSpLocks/>
          </p:cNvCxnSpPr>
          <p:nvPr/>
        </p:nvCxnSpPr>
        <p:spPr>
          <a:xfrm>
            <a:off x="1109709" y="594804"/>
            <a:ext cx="10235953" cy="0"/>
          </a:xfrm>
          <a:prstGeom prst="line">
            <a:avLst/>
          </a:prstGeom>
        </p:spPr>
        <p:style>
          <a:lnRef idx="3">
            <a:schemeClr val="dk1"/>
          </a:lnRef>
          <a:fillRef idx="0">
            <a:schemeClr val="dk1"/>
          </a:fillRef>
          <a:effectRef idx="2">
            <a:schemeClr val="dk1"/>
          </a:effectRef>
          <a:fontRef idx="minor">
            <a:schemeClr val="tx1"/>
          </a:fontRef>
        </p:style>
      </p:cxnSp>
      <p:cxnSp>
        <p:nvCxnSpPr>
          <p:cNvPr id="6" name="Straight Connector 5">
            <a:extLst>
              <a:ext uri="{FF2B5EF4-FFF2-40B4-BE49-F238E27FC236}">
                <a16:creationId xmlns:a16="http://schemas.microsoft.com/office/drawing/2014/main" id="{28774A6B-9197-46B9-6CE4-91C3A0B999AF}"/>
              </a:ext>
            </a:extLst>
          </p:cNvPr>
          <p:cNvCxnSpPr/>
          <p:nvPr/>
        </p:nvCxnSpPr>
        <p:spPr>
          <a:xfrm>
            <a:off x="1038687" y="6462943"/>
            <a:ext cx="10369119" cy="0"/>
          </a:xfrm>
          <a:prstGeom prst="line">
            <a:avLst/>
          </a:prstGeom>
        </p:spPr>
        <p:style>
          <a:lnRef idx="3">
            <a:schemeClr val="dk1"/>
          </a:lnRef>
          <a:fillRef idx="0">
            <a:schemeClr val="dk1"/>
          </a:fillRef>
          <a:effectRef idx="2">
            <a:schemeClr val="dk1"/>
          </a:effectRef>
          <a:fontRef idx="minor">
            <a:schemeClr val="tx1"/>
          </a:fontRef>
        </p:style>
      </p:cxnSp>
      <p:sp>
        <p:nvSpPr>
          <p:cNvPr id="7" name="TextBox 7">
            <a:extLst>
              <a:ext uri="{FF2B5EF4-FFF2-40B4-BE49-F238E27FC236}">
                <a16:creationId xmlns:a16="http://schemas.microsoft.com/office/drawing/2014/main" id="{DA4AE50E-20AE-E68F-0C8E-B9DE91956000}"/>
              </a:ext>
            </a:extLst>
          </p:cNvPr>
          <p:cNvSpPr txBox="1"/>
          <p:nvPr/>
        </p:nvSpPr>
        <p:spPr>
          <a:xfrm>
            <a:off x="8788893" y="319596"/>
            <a:ext cx="2821413" cy="276999"/>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1">
                <a:latin typeface="Times New Roman" panose="02020603050405020304" pitchFamily="18" charset="0"/>
                <a:cs typeface="Times New Roman" panose="02020603050405020304" pitchFamily="18" charset="0"/>
              </a:rPr>
              <a:t>TIFAC – CORE in CYBER SECURITY</a:t>
            </a:r>
            <a:endParaRPr lang="en-IN" sz="1200" b="1">
              <a:latin typeface="Times New Roman" panose="02020603050405020304" pitchFamily="18" charset="0"/>
              <a:cs typeface="Times New Roman" panose="02020603050405020304" pitchFamily="18" charset="0"/>
            </a:endParaRPr>
          </a:p>
        </p:txBody>
      </p:sp>
      <p:sp>
        <p:nvSpPr>
          <p:cNvPr id="8" name="Slide Number Placeholder 10">
            <a:extLst>
              <a:ext uri="{FF2B5EF4-FFF2-40B4-BE49-F238E27FC236}">
                <a16:creationId xmlns:a16="http://schemas.microsoft.com/office/drawing/2014/main" id="{BA50294F-1EC6-ADB6-FCC1-EE6D1C8ED111}"/>
              </a:ext>
            </a:extLst>
          </p:cNvPr>
          <p:cNvSpPr>
            <a:spLocks noGrp="1"/>
          </p:cNvSpPr>
          <p:nvPr/>
        </p:nvSpPr>
        <p:spPr>
          <a:xfrm>
            <a:off x="8734887"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C3E5B82-863A-4B66-9E4F-DCFAD2A3B854}" type="slidenum">
              <a:rPr lang="en-IN" smtClean="0"/>
              <a:pPr/>
              <a:t>16</a:t>
            </a:fld>
            <a:endParaRPr lang="en-IN"/>
          </a:p>
        </p:txBody>
      </p:sp>
      <p:sp>
        <p:nvSpPr>
          <p:cNvPr id="9" name="Footer Placeholder 11">
            <a:extLst>
              <a:ext uri="{FF2B5EF4-FFF2-40B4-BE49-F238E27FC236}">
                <a16:creationId xmlns:a16="http://schemas.microsoft.com/office/drawing/2014/main" id="{8250B7EF-FEBC-EA84-A521-D0E18B1A66A8}"/>
              </a:ext>
            </a:extLst>
          </p:cNvPr>
          <p:cNvSpPr>
            <a:spLocks noGrp="1"/>
          </p:cNvSpPr>
          <p:nvPr/>
        </p:nvSpPr>
        <p:spPr>
          <a:xfrm>
            <a:off x="4038600" y="64928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20CYS 495 B.Tech CYS: 2022 - 2026 Project Presentation </a:t>
            </a:r>
            <a:endParaRPr lang="en-IN"/>
          </a:p>
        </p:txBody>
      </p:sp>
      <p:sp>
        <p:nvSpPr>
          <p:cNvPr id="11" name="TextBox 10">
            <a:extLst>
              <a:ext uri="{FF2B5EF4-FFF2-40B4-BE49-F238E27FC236}">
                <a16:creationId xmlns:a16="http://schemas.microsoft.com/office/drawing/2014/main" id="{064A241B-1F77-05F3-F6E1-A723FF312413}"/>
              </a:ext>
            </a:extLst>
          </p:cNvPr>
          <p:cNvSpPr txBox="1"/>
          <p:nvPr/>
        </p:nvSpPr>
        <p:spPr>
          <a:xfrm>
            <a:off x="1319892" y="1687285"/>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4" name="TextBox 13">
            <a:extLst>
              <a:ext uri="{FF2B5EF4-FFF2-40B4-BE49-F238E27FC236}">
                <a16:creationId xmlns:a16="http://schemas.microsoft.com/office/drawing/2014/main" id="{06926D0F-5508-28E1-E7D5-C3AB5439CD74}"/>
              </a:ext>
            </a:extLst>
          </p:cNvPr>
          <p:cNvSpPr txBox="1"/>
          <p:nvPr/>
        </p:nvSpPr>
        <p:spPr>
          <a:xfrm>
            <a:off x="1101528" y="762476"/>
            <a:ext cx="10239935" cy="34778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2000">
                <a:ea typeface="+mn-lt"/>
                <a:cs typeface="+mn-lt"/>
              </a:rPr>
              <a:t>Splunk displayed attacker activity clearly, including:</a:t>
            </a:r>
            <a:endParaRPr lang="en-US"/>
          </a:p>
          <a:p>
            <a:pPr marL="800100" lvl="1" indent="-342900">
              <a:buFont typeface="Courier New"/>
              <a:buChar char="o"/>
            </a:pPr>
            <a:r>
              <a:rPr lang="en-US" sz="2000">
                <a:ea typeface="+mn-lt"/>
                <a:cs typeface="+mn-lt"/>
              </a:rPr>
              <a:t>command inputs (</a:t>
            </a:r>
            <a:r>
              <a:rPr lang="en-US" sz="2000" err="1">
                <a:latin typeface="Aptos"/>
              </a:rPr>
              <a:t>pwd</a:t>
            </a:r>
            <a:r>
              <a:rPr lang="en-US" sz="2000">
                <a:ea typeface="+mn-lt"/>
                <a:cs typeface="+mn-lt"/>
              </a:rPr>
              <a:t>, </a:t>
            </a:r>
            <a:r>
              <a:rPr lang="en-US" sz="2000" err="1">
                <a:latin typeface="Aptos"/>
              </a:rPr>
              <a:t>whoami</a:t>
            </a:r>
            <a:r>
              <a:rPr lang="en-US" sz="2000">
                <a:ea typeface="+mn-lt"/>
                <a:cs typeface="+mn-lt"/>
              </a:rPr>
              <a:t>, </a:t>
            </a:r>
            <a:r>
              <a:rPr lang="en-US" sz="2000">
                <a:latin typeface="Aptos"/>
              </a:rPr>
              <a:t>exit</a:t>
            </a:r>
            <a:r>
              <a:rPr lang="en-US" sz="2000">
                <a:ea typeface="+mn-lt"/>
                <a:cs typeface="+mn-lt"/>
              </a:rPr>
              <a:t>)</a:t>
            </a:r>
            <a:endParaRPr lang="en-US"/>
          </a:p>
          <a:p>
            <a:pPr marL="800100" lvl="1" indent="-342900">
              <a:buFont typeface="Courier New"/>
              <a:buChar char="o"/>
            </a:pPr>
            <a:r>
              <a:rPr lang="en-US" sz="2000">
                <a:ea typeface="+mn-lt"/>
                <a:cs typeface="+mn-lt"/>
              </a:rPr>
              <a:t>multiple failed login attempts</a:t>
            </a:r>
            <a:endParaRPr lang="en-US"/>
          </a:p>
          <a:p>
            <a:pPr marL="800100" lvl="1" indent="-342900">
              <a:buFont typeface="Courier New"/>
              <a:buChar char="o"/>
            </a:pPr>
            <a:r>
              <a:rPr lang="en-US" sz="2000">
                <a:ea typeface="+mn-lt"/>
                <a:cs typeface="+mn-lt"/>
              </a:rPr>
              <a:t>repeated connections from the same IP</a:t>
            </a:r>
            <a:endParaRPr lang="en-US"/>
          </a:p>
          <a:p>
            <a:pPr>
              <a:buFont typeface="Arial"/>
              <a:buChar char="•"/>
            </a:pPr>
            <a:r>
              <a:rPr lang="en-US" sz="2000">
                <a:ea typeface="+mn-lt"/>
                <a:cs typeface="+mn-lt"/>
              </a:rPr>
              <a:t>These patterns help identify </a:t>
            </a:r>
            <a:r>
              <a:rPr lang="en-US" sz="2000" b="1">
                <a:ea typeface="+mn-lt"/>
                <a:cs typeface="+mn-lt"/>
              </a:rPr>
              <a:t>APT-like </a:t>
            </a:r>
            <a:r>
              <a:rPr lang="en-US" sz="2000" b="1">
                <a:solidFill>
                  <a:srgbClr val="000000"/>
                </a:solidFill>
                <a:ea typeface="+mn-lt"/>
                <a:cs typeface="+mn-lt"/>
              </a:rPr>
              <a:t>behaviour</a:t>
            </a:r>
            <a:r>
              <a:rPr lang="en-US" sz="2000">
                <a:ea typeface="+mn-lt"/>
                <a:cs typeface="+mn-lt"/>
              </a:rPr>
              <a:t>, such as repeated intrusion attempts, system exploration, and persistent attacker activity.</a:t>
            </a:r>
            <a:endParaRPr lang="en-US"/>
          </a:p>
          <a:p>
            <a:pPr marL="285750" indent="-285750">
              <a:buFont typeface="Arial"/>
              <a:buChar char="•"/>
            </a:pPr>
            <a:endParaRPr lang="en-US" sz="2000"/>
          </a:p>
          <a:p>
            <a:pPr marL="285750" indent="-285750">
              <a:buFont typeface="Arial"/>
              <a:buChar char="•"/>
            </a:pPr>
            <a:endParaRPr lang="en-US" sz="2000"/>
          </a:p>
          <a:p>
            <a:pPr marL="285750" indent="-285750">
              <a:buFont typeface="Arial"/>
              <a:buChar char="•"/>
            </a:pPr>
            <a:endParaRPr lang="en-US" sz="2000"/>
          </a:p>
          <a:p>
            <a:pPr marL="285750" indent="-285750">
              <a:buFont typeface="Arial"/>
              <a:buChar char="•"/>
            </a:pPr>
            <a:endParaRPr lang="en-US" sz="2000"/>
          </a:p>
          <a:p>
            <a:endParaRPr lang="en-US" sz="2000" b="1"/>
          </a:p>
        </p:txBody>
      </p:sp>
      <p:pic>
        <p:nvPicPr>
          <p:cNvPr id="3" name="Picture 2" descr="A screenshot of a computer&#10;&#10;AI-generated content may be incorrect.">
            <a:extLst>
              <a:ext uri="{FF2B5EF4-FFF2-40B4-BE49-F238E27FC236}">
                <a16:creationId xmlns:a16="http://schemas.microsoft.com/office/drawing/2014/main" id="{9DE1BFD1-07DC-667E-B08E-5D2D0A75A76B}"/>
              </a:ext>
            </a:extLst>
          </p:cNvPr>
          <p:cNvPicPr>
            <a:picLocks noChangeAspect="1"/>
          </p:cNvPicPr>
          <p:nvPr/>
        </p:nvPicPr>
        <p:blipFill>
          <a:blip r:embed="rId3"/>
          <a:stretch>
            <a:fillRect/>
          </a:stretch>
        </p:blipFill>
        <p:spPr>
          <a:xfrm>
            <a:off x="2688394" y="2732693"/>
            <a:ext cx="5895975" cy="3400425"/>
          </a:xfrm>
          <a:prstGeom prst="rect">
            <a:avLst/>
          </a:prstGeom>
        </p:spPr>
      </p:pic>
    </p:spTree>
    <p:extLst>
      <p:ext uri="{BB962C8B-B14F-4D97-AF65-F5344CB8AC3E}">
        <p14:creationId xmlns:p14="http://schemas.microsoft.com/office/powerpoint/2010/main" val="6205219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5D39AF-7058-6307-9FFD-4453F4B672B6}"/>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79E62447-61AE-EE7B-DB65-4D829EDBEA9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1663" y="79092"/>
            <a:ext cx="1740919" cy="402801"/>
          </a:xfrm>
          <a:prstGeom prst="rect">
            <a:avLst/>
          </a:prstGeom>
        </p:spPr>
      </p:pic>
      <p:cxnSp>
        <p:nvCxnSpPr>
          <p:cNvPr id="5" name="Straight Connector 4">
            <a:extLst>
              <a:ext uri="{FF2B5EF4-FFF2-40B4-BE49-F238E27FC236}">
                <a16:creationId xmlns:a16="http://schemas.microsoft.com/office/drawing/2014/main" id="{46BE4C06-4DC9-666C-6F0F-96D69C65AC82}"/>
              </a:ext>
            </a:extLst>
          </p:cNvPr>
          <p:cNvCxnSpPr>
            <a:cxnSpLocks/>
          </p:cNvCxnSpPr>
          <p:nvPr/>
        </p:nvCxnSpPr>
        <p:spPr>
          <a:xfrm>
            <a:off x="1109709" y="594804"/>
            <a:ext cx="10235953" cy="0"/>
          </a:xfrm>
          <a:prstGeom prst="line">
            <a:avLst/>
          </a:prstGeom>
        </p:spPr>
        <p:style>
          <a:lnRef idx="3">
            <a:schemeClr val="dk1"/>
          </a:lnRef>
          <a:fillRef idx="0">
            <a:schemeClr val="dk1"/>
          </a:fillRef>
          <a:effectRef idx="2">
            <a:schemeClr val="dk1"/>
          </a:effectRef>
          <a:fontRef idx="minor">
            <a:schemeClr val="tx1"/>
          </a:fontRef>
        </p:style>
      </p:cxnSp>
      <p:cxnSp>
        <p:nvCxnSpPr>
          <p:cNvPr id="6" name="Straight Connector 5">
            <a:extLst>
              <a:ext uri="{FF2B5EF4-FFF2-40B4-BE49-F238E27FC236}">
                <a16:creationId xmlns:a16="http://schemas.microsoft.com/office/drawing/2014/main" id="{E7559D18-4B16-6D08-8C1D-E6891E2D1D97}"/>
              </a:ext>
            </a:extLst>
          </p:cNvPr>
          <p:cNvCxnSpPr/>
          <p:nvPr/>
        </p:nvCxnSpPr>
        <p:spPr>
          <a:xfrm>
            <a:off x="1038687" y="6462943"/>
            <a:ext cx="10369119" cy="0"/>
          </a:xfrm>
          <a:prstGeom prst="line">
            <a:avLst/>
          </a:prstGeom>
        </p:spPr>
        <p:style>
          <a:lnRef idx="3">
            <a:schemeClr val="dk1"/>
          </a:lnRef>
          <a:fillRef idx="0">
            <a:schemeClr val="dk1"/>
          </a:fillRef>
          <a:effectRef idx="2">
            <a:schemeClr val="dk1"/>
          </a:effectRef>
          <a:fontRef idx="minor">
            <a:schemeClr val="tx1"/>
          </a:fontRef>
        </p:style>
      </p:cxnSp>
      <p:sp>
        <p:nvSpPr>
          <p:cNvPr id="7" name="TextBox 7">
            <a:extLst>
              <a:ext uri="{FF2B5EF4-FFF2-40B4-BE49-F238E27FC236}">
                <a16:creationId xmlns:a16="http://schemas.microsoft.com/office/drawing/2014/main" id="{88FB0CD2-4334-1A6B-7939-F858AE3708E6}"/>
              </a:ext>
            </a:extLst>
          </p:cNvPr>
          <p:cNvSpPr txBox="1"/>
          <p:nvPr/>
        </p:nvSpPr>
        <p:spPr>
          <a:xfrm>
            <a:off x="8788893" y="319596"/>
            <a:ext cx="2821413" cy="276999"/>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1">
                <a:latin typeface="Times New Roman" panose="02020603050405020304" pitchFamily="18" charset="0"/>
                <a:cs typeface="Times New Roman" panose="02020603050405020304" pitchFamily="18" charset="0"/>
              </a:rPr>
              <a:t>TIFAC – CORE in CYBER SECURITY</a:t>
            </a:r>
            <a:endParaRPr lang="en-IN" sz="1200" b="1">
              <a:latin typeface="Times New Roman" panose="02020603050405020304" pitchFamily="18" charset="0"/>
              <a:cs typeface="Times New Roman" panose="02020603050405020304" pitchFamily="18" charset="0"/>
            </a:endParaRPr>
          </a:p>
        </p:txBody>
      </p:sp>
      <p:sp>
        <p:nvSpPr>
          <p:cNvPr id="8" name="Slide Number Placeholder 10">
            <a:extLst>
              <a:ext uri="{FF2B5EF4-FFF2-40B4-BE49-F238E27FC236}">
                <a16:creationId xmlns:a16="http://schemas.microsoft.com/office/drawing/2014/main" id="{15FD1A83-B8AA-9253-A300-1450A5868AEC}"/>
              </a:ext>
            </a:extLst>
          </p:cNvPr>
          <p:cNvSpPr>
            <a:spLocks noGrp="1"/>
          </p:cNvSpPr>
          <p:nvPr/>
        </p:nvSpPr>
        <p:spPr>
          <a:xfrm>
            <a:off x="8734887"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C3E5B82-863A-4B66-9E4F-DCFAD2A3B854}" type="slidenum">
              <a:rPr lang="en-IN" smtClean="0"/>
              <a:pPr/>
              <a:t>17</a:t>
            </a:fld>
            <a:endParaRPr lang="en-IN"/>
          </a:p>
        </p:txBody>
      </p:sp>
      <p:sp>
        <p:nvSpPr>
          <p:cNvPr id="9" name="Footer Placeholder 11">
            <a:extLst>
              <a:ext uri="{FF2B5EF4-FFF2-40B4-BE49-F238E27FC236}">
                <a16:creationId xmlns:a16="http://schemas.microsoft.com/office/drawing/2014/main" id="{66616064-3FF7-4042-1136-E112957AC447}"/>
              </a:ext>
            </a:extLst>
          </p:cNvPr>
          <p:cNvSpPr>
            <a:spLocks noGrp="1"/>
          </p:cNvSpPr>
          <p:nvPr/>
        </p:nvSpPr>
        <p:spPr>
          <a:xfrm>
            <a:off x="4038600" y="64928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20CYS 495 B.Tech CYS: 2022 - 2026 Project Presentation </a:t>
            </a:r>
            <a:endParaRPr lang="en-IN"/>
          </a:p>
        </p:txBody>
      </p:sp>
      <p:pic>
        <p:nvPicPr>
          <p:cNvPr id="10" name="Picture 9" descr="A screenshot of a computer program&#10;&#10;AI-generated content may be incorrect.">
            <a:extLst>
              <a:ext uri="{FF2B5EF4-FFF2-40B4-BE49-F238E27FC236}">
                <a16:creationId xmlns:a16="http://schemas.microsoft.com/office/drawing/2014/main" id="{C575C824-E32F-C641-62C3-F49B9010B465}"/>
              </a:ext>
            </a:extLst>
          </p:cNvPr>
          <p:cNvPicPr>
            <a:picLocks noChangeAspect="1"/>
          </p:cNvPicPr>
          <p:nvPr/>
        </p:nvPicPr>
        <p:blipFill>
          <a:blip r:embed="rId3"/>
          <a:stretch>
            <a:fillRect/>
          </a:stretch>
        </p:blipFill>
        <p:spPr>
          <a:xfrm>
            <a:off x="295611" y="2140241"/>
            <a:ext cx="5934075" cy="1933575"/>
          </a:xfrm>
          <a:prstGeom prst="rect">
            <a:avLst/>
          </a:prstGeom>
        </p:spPr>
      </p:pic>
      <p:sp>
        <p:nvSpPr>
          <p:cNvPr id="12" name="TextBox 11">
            <a:extLst>
              <a:ext uri="{FF2B5EF4-FFF2-40B4-BE49-F238E27FC236}">
                <a16:creationId xmlns:a16="http://schemas.microsoft.com/office/drawing/2014/main" id="{B13B3AF0-71E4-A500-F168-C7F79D4CFC45}"/>
              </a:ext>
            </a:extLst>
          </p:cNvPr>
          <p:cNvSpPr txBox="1"/>
          <p:nvPr/>
        </p:nvSpPr>
        <p:spPr>
          <a:xfrm>
            <a:off x="6332113" y="1164465"/>
            <a:ext cx="5409127" cy="563231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Dionaea is a </a:t>
            </a:r>
            <a:r>
              <a:rPr lang="en-US" b="1"/>
              <a:t>low-interaction malware-capturing honeypot</a:t>
            </a:r>
            <a:r>
              <a:rPr lang="en-US"/>
              <a:t> designed to:</a:t>
            </a:r>
          </a:p>
          <a:p>
            <a:endParaRPr lang="en-US">
              <a:ea typeface="+mn-lt"/>
              <a:cs typeface="+mn-lt"/>
            </a:endParaRPr>
          </a:p>
          <a:p>
            <a:pPr>
              <a:buFont typeface="Arial"/>
              <a:buChar char="•"/>
            </a:pPr>
            <a:r>
              <a:rPr lang="en-US">
                <a:ea typeface="+mn-lt"/>
                <a:cs typeface="+mn-lt"/>
              </a:rPr>
              <a:t>Attract attackers</a:t>
            </a:r>
            <a:endParaRPr lang="en-US"/>
          </a:p>
          <a:p>
            <a:pPr>
              <a:buFont typeface="Arial"/>
              <a:buChar char="•"/>
            </a:pPr>
            <a:r>
              <a:rPr lang="en-US">
                <a:ea typeface="+mn-lt"/>
                <a:cs typeface="+mn-lt"/>
              </a:rPr>
              <a:t>Emulate vulnerable network services</a:t>
            </a:r>
            <a:endParaRPr lang="en-US"/>
          </a:p>
          <a:p>
            <a:pPr>
              <a:buFont typeface="Arial"/>
              <a:buChar char="•"/>
            </a:pPr>
            <a:r>
              <a:rPr lang="en-US">
                <a:ea typeface="+mn-lt"/>
                <a:cs typeface="+mn-lt"/>
              </a:rPr>
              <a:t>Capture malware payloads</a:t>
            </a:r>
            <a:endParaRPr lang="en-US"/>
          </a:p>
          <a:p>
            <a:pPr>
              <a:buFont typeface="Arial"/>
              <a:buChar char="•"/>
            </a:pPr>
            <a:r>
              <a:rPr lang="en-US">
                <a:ea typeface="+mn-lt"/>
                <a:cs typeface="+mn-lt"/>
              </a:rPr>
              <a:t>Log exploitation attempts</a:t>
            </a:r>
            <a:endParaRPr lang="en-US"/>
          </a:p>
          <a:p>
            <a:pPr>
              <a:buFont typeface="Arial"/>
              <a:buChar char="•"/>
            </a:pPr>
            <a:endParaRPr lang="en-US">
              <a:ea typeface="+mn-lt"/>
              <a:cs typeface="+mn-lt"/>
            </a:endParaRPr>
          </a:p>
          <a:p>
            <a:r>
              <a:rPr lang="en-US">
                <a:ea typeface="+mn-lt"/>
                <a:cs typeface="+mn-lt"/>
              </a:rPr>
              <a:t>It is one of the most widely used modules inside</a:t>
            </a:r>
          </a:p>
          <a:p>
            <a:r>
              <a:rPr lang="en-US">
                <a:ea typeface="+mn-lt"/>
                <a:cs typeface="+mn-lt"/>
              </a:rPr>
              <a:t> </a:t>
            </a:r>
            <a:r>
              <a:rPr lang="en-US" b="1">
                <a:ea typeface="+mn-lt"/>
                <a:cs typeface="+mn-lt"/>
              </a:rPr>
              <a:t>T-Pot</a:t>
            </a:r>
            <a:r>
              <a:rPr lang="en-US">
                <a:ea typeface="+mn-lt"/>
                <a:cs typeface="+mn-lt"/>
              </a:rPr>
              <a:t>, because it focuses specifically on </a:t>
            </a:r>
            <a:r>
              <a:rPr lang="en-US" b="1">
                <a:ea typeface="+mn-lt"/>
                <a:cs typeface="+mn-lt"/>
              </a:rPr>
              <a:t>malware collection and exploit detection</a:t>
            </a:r>
            <a:r>
              <a:rPr lang="en-US">
                <a:ea typeface="+mn-lt"/>
                <a:cs typeface="+mn-lt"/>
              </a:rPr>
              <a:t>.</a:t>
            </a:r>
            <a:endParaRPr lang="en-US"/>
          </a:p>
          <a:p>
            <a:endParaRPr lang="en-US">
              <a:ea typeface="+mn-lt"/>
              <a:cs typeface="+mn-lt"/>
            </a:endParaRPr>
          </a:p>
          <a:p>
            <a:r>
              <a:rPr lang="en-US">
                <a:ea typeface="+mn-lt"/>
                <a:cs typeface="+mn-lt"/>
              </a:rPr>
              <a:t>Dionaea imitates vulnerabilities found in real systems, tricking attackers into delivering their malware samples or exploit attempts.</a:t>
            </a:r>
          </a:p>
          <a:p>
            <a:br>
              <a:rPr lang="en-US">
                <a:ea typeface="+mn-lt"/>
                <a:cs typeface="+mn-lt"/>
              </a:rPr>
            </a:br>
            <a:r>
              <a:rPr lang="en-US">
                <a:ea typeface="+mn-lt"/>
                <a:cs typeface="+mn-lt"/>
              </a:rPr>
              <a:t> All of these events get forwarded to our </a:t>
            </a:r>
            <a:r>
              <a:rPr lang="en-US" b="1">
                <a:ea typeface="+mn-lt"/>
                <a:cs typeface="+mn-lt"/>
              </a:rPr>
              <a:t>Splunk/MITRE dashboard</a:t>
            </a:r>
            <a:r>
              <a:rPr lang="en-US">
                <a:ea typeface="+mn-lt"/>
                <a:cs typeface="+mn-lt"/>
              </a:rPr>
              <a:t> for analysis.</a:t>
            </a:r>
            <a:endParaRPr lang="en-US"/>
          </a:p>
          <a:p>
            <a:pPr marL="228600" indent="-228600">
              <a:buFont typeface=""/>
              <a:buChar char="•"/>
            </a:pPr>
            <a:endParaRPr lang="en-US"/>
          </a:p>
          <a:p>
            <a:pPr algn="ctr"/>
            <a:endParaRPr lang="en-US"/>
          </a:p>
        </p:txBody>
      </p:sp>
    </p:spTree>
    <p:extLst>
      <p:ext uri="{BB962C8B-B14F-4D97-AF65-F5344CB8AC3E}">
        <p14:creationId xmlns:p14="http://schemas.microsoft.com/office/powerpoint/2010/main" val="34849573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CCE1A6-E304-6A00-C1E3-13DC8E5A70B0}"/>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6219A64E-2A7B-6750-F0FD-3DFC997AB2E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1663" y="79092"/>
            <a:ext cx="1740919" cy="402801"/>
          </a:xfrm>
          <a:prstGeom prst="rect">
            <a:avLst/>
          </a:prstGeom>
        </p:spPr>
      </p:pic>
      <p:cxnSp>
        <p:nvCxnSpPr>
          <p:cNvPr id="5" name="Straight Connector 4">
            <a:extLst>
              <a:ext uri="{FF2B5EF4-FFF2-40B4-BE49-F238E27FC236}">
                <a16:creationId xmlns:a16="http://schemas.microsoft.com/office/drawing/2014/main" id="{0330B744-E5FB-680A-C3D2-7D2E478C961C}"/>
              </a:ext>
            </a:extLst>
          </p:cNvPr>
          <p:cNvCxnSpPr>
            <a:cxnSpLocks/>
          </p:cNvCxnSpPr>
          <p:nvPr/>
        </p:nvCxnSpPr>
        <p:spPr>
          <a:xfrm>
            <a:off x="1109709" y="594804"/>
            <a:ext cx="10235953" cy="0"/>
          </a:xfrm>
          <a:prstGeom prst="line">
            <a:avLst/>
          </a:prstGeom>
        </p:spPr>
        <p:style>
          <a:lnRef idx="3">
            <a:schemeClr val="dk1"/>
          </a:lnRef>
          <a:fillRef idx="0">
            <a:schemeClr val="dk1"/>
          </a:fillRef>
          <a:effectRef idx="2">
            <a:schemeClr val="dk1"/>
          </a:effectRef>
          <a:fontRef idx="minor">
            <a:schemeClr val="tx1"/>
          </a:fontRef>
        </p:style>
      </p:cxnSp>
      <p:cxnSp>
        <p:nvCxnSpPr>
          <p:cNvPr id="6" name="Straight Connector 5">
            <a:extLst>
              <a:ext uri="{FF2B5EF4-FFF2-40B4-BE49-F238E27FC236}">
                <a16:creationId xmlns:a16="http://schemas.microsoft.com/office/drawing/2014/main" id="{6C410083-35F3-8EE4-6383-523D87A4AEA6}"/>
              </a:ext>
            </a:extLst>
          </p:cNvPr>
          <p:cNvCxnSpPr/>
          <p:nvPr/>
        </p:nvCxnSpPr>
        <p:spPr>
          <a:xfrm>
            <a:off x="1038687" y="6462943"/>
            <a:ext cx="10369119" cy="0"/>
          </a:xfrm>
          <a:prstGeom prst="line">
            <a:avLst/>
          </a:prstGeom>
        </p:spPr>
        <p:style>
          <a:lnRef idx="3">
            <a:schemeClr val="dk1"/>
          </a:lnRef>
          <a:fillRef idx="0">
            <a:schemeClr val="dk1"/>
          </a:fillRef>
          <a:effectRef idx="2">
            <a:schemeClr val="dk1"/>
          </a:effectRef>
          <a:fontRef idx="minor">
            <a:schemeClr val="tx1"/>
          </a:fontRef>
        </p:style>
      </p:cxnSp>
      <p:sp>
        <p:nvSpPr>
          <p:cNvPr id="7" name="TextBox 7">
            <a:extLst>
              <a:ext uri="{FF2B5EF4-FFF2-40B4-BE49-F238E27FC236}">
                <a16:creationId xmlns:a16="http://schemas.microsoft.com/office/drawing/2014/main" id="{930A0799-D739-A5F3-D466-2914E3696864}"/>
              </a:ext>
            </a:extLst>
          </p:cNvPr>
          <p:cNvSpPr txBox="1"/>
          <p:nvPr/>
        </p:nvSpPr>
        <p:spPr>
          <a:xfrm>
            <a:off x="8788893" y="319596"/>
            <a:ext cx="2821413" cy="276999"/>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1">
                <a:latin typeface="Times New Roman" panose="02020603050405020304" pitchFamily="18" charset="0"/>
                <a:cs typeface="Times New Roman" panose="02020603050405020304" pitchFamily="18" charset="0"/>
              </a:rPr>
              <a:t>TIFAC – CORE in CYBER SECURITY</a:t>
            </a:r>
            <a:endParaRPr lang="en-IN" sz="1200" b="1">
              <a:latin typeface="Times New Roman" panose="02020603050405020304" pitchFamily="18" charset="0"/>
              <a:cs typeface="Times New Roman" panose="02020603050405020304" pitchFamily="18" charset="0"/>
            </a:endParaRPr>
          </a:p>
        </p:txBody>
      </p:sp>
      <p:sp>
        <p:nvSpPr>
          <p:cNvPr id="8" name="Slide Number Placeholder 10">
            <a:extLst>
              <a:ext uri="{FF2B5EF4-FFF2-40B4-BE49-F238E27FC236}">
                <a16:creationId xmlns:a16="http://schemas.microsoft.com/office/drawing/2014/main" id="{B7556DE8-F5F5-90AB-5191-4244E29D5BD1}"/>
              </a:ext>
            </a:extLst>
          </p:cNvPr>
          <p:cNvSpPr>
            <a:spLocks noGrp="1"/>
          </p:cNvSpPr>
          <p:nvPr/>
        </p:nvSpPr>
        <p:spPr>
          <a:xfrm>
            <a:off x="8734887"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C3E5B82-863A-4B66-9E4F-DCFAD2A3B854}" type="slidenum">
              <a:rPr lang="en-IN" smtClean="0"/>
              <a:pPr/>
              <a:t>18</a:t>
            </a:fld>
            <a:endParaRPr lang="en-IN"/>
          </a:p>
        </p:txBody>
      </p:sp>
      <p:sp>
        <p:nvSpPr>
          <p:cNvPr id="9" name="Footer Placeholder 11">
            <a:extLst>
              <a:ext uri="{FF2B5EF4-FFF2-40B4-BE49-F238E27FC236}">
                <a16:creationId xmlns:a16="http://schemas.microsoft.com/office/drawing/2014/main" id="{F3544AA8-BAE3-1BA4-650D-525A907D72FD}"/>
              </a:ext>
            </a:extLst>
          </p:cNvPr>
          <p:cNvSpPr>
            <a:spLocks noGrp="1"/>
          </p:cNvSpPr>
          <p:nvPr/>
        </p:nvSpPr>
        <p:spPr>
          <a:xfrm>
            <a:off x="4038600" y="64928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20CYS 495 B.Tech CYS: 2022 - 2026 Project Presentation </a:t>
            </a:r>
            <a:endParaRPr lang="en-IN"/>
          </a:p>
        </p:txBody>
      </p:sp>
      <p:sp>
        <p:nvSpPr>
          <p:cNvPr id="3" name="TextBox 2">
            <a:extLst>
              <a:ext uri="{FF2B5EF4-FFF2-40B4-BE49-F238E27FC236}">
                <a16:creationId xmlns:a16="http://schemas.microsoft.com/office/drawing/2014/main" id="{B4FCD9FF-54C4-C8CC-825A-0E7CCDC1C090}"/>
              </a:ext>
            </a:extLst>
          </p:cNvPr>
          <p:cNvSpPr txBox="1"/>
          <p:nvPr/>
        </p:nvSpPr>
        <p:spPr>
          <a:xfrm>
            <a:off x="4765184" y="1024944"/>
            <a:ext cx="7018985" cy="45243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Dionaea emulates an </a:t>
            </a:r>
            <a:r>
              <a:rPr lang="en-US" b="1"/>
              <a:t>FTP (File Transfer Protocol) server</a:t>
            </a:r>
            <a:r>
              <a:rPr lang="en-US"/>
              <a:t>.</a:t>
            </a:r>
            <a:br>
              <a:rPr lang="en-US"/>
            </a:br>
            <a:r>
              <a:rPr lang="en-US"/>
              <a:t>Attackers often target FTP because:</a:t>
            </a:r>
          </a:p>
          <a:p>
            <a:pPr marL="228600" indent="-228600">
              <a:buFont typeface=""/>
              <a:buChar char="•"/>
            </a:pPr>
            <a:r>
              <a:rPr lang="en-US"/>
              <a:t>Many systems run old or misconfigured FTP services</a:t>
            </a:r>
          </a:p>
          <a:p>
            <a:pPr marL="228600" indent="-228600">
              <a:buFont typeface=""/>
              <a:buChar char="•"/>
            </a:pPr>
            <a:r>
              <a:rPr lang="en-US"/>
              <a:t>FTP may allow anonymous login</a:t>
            </a:r>
          </a:p>
          <a:p>
            <a:pPr marL="228600" indent="-228600">
              <a:buFont typeface=""/>
              <a:buChar char="•"/>
            </a:pPr>
            <a:r>
              <a:rPr lang="en-US"/>
              <a:t>Weak credentials (admin/admin, user/password) are common</a:t>
            </a:r>
          </a:p>
          <a:p>
            <a:pPr marL="228600" indent="-228600">
              <a:buFont typeface=""/>
              <a:buChar char="•"/>
            </a:pPr>
            <a:r>
              <a:rPr lang="en-US"/>
              <a:t>FTP allows file upload and download — perfect for malware delivery</a:t>
            </a:r>
          </a:p>
          <a:p>
            <a:r>
              <a:rPr lang="en-US"/>
              <a:t>So Dionaea exposes a fake FTP service to attract these attackers and record everything they do.</a:t>
            </a:r>
          </a:p>
          <a:p>
            <a:endParaRPr lang="en-US"/>
          </a:p>
          <a:p>
            <a:r>
              <a:rPr lang="en-US"/>
              <a:t>Here :</a:t>
            </a:r>
          </a:p>
          <a:p>
            <a:pPr marL="285750" indent="-285750">
              <a:buFont typeface="Arial"/>
              <a:buChar char="•"/>
            </a:pPr>
            <a:r>
              <a:rPr lang="en-US">
                <a:ea typeface="+mn-lt"/>
                <a:cs typeface="+mn-lt"/>
              </a:rPr>
              <a:t>The FTP service is exposed.</a:t>
            </a:r>
            <a:endParaRPr lang="en-US"/>
          </a:p>
          <a:p>
            <a:pPr marL="285750" indent="-285750">
              <a:buFont typeface="Arial"/>
              <a:buChar char="•"/>
            </a:pPr>
            <a:r>
              <a:rPr lang="en-US">
                <a:ea typeface="+mn-lt"/>
                <a:cs typeface="+mn-lt"/>
              </a:rPr>
              <a:t>Attackers can log in.</a:t>
            </a:r>
            <a:endParaRPr lang="en-US"/>
          </a:p>
          <a:p>
            <a:pPr marL="285750" indent="-285750">
              <a:buFont typeface="Arial"/>
              <a:buChar char="•"/>
            </a:pPr>
            <a:r>
              <a:rPr lang="en-US">
                <a:ea typeface="+mn-lt"/>
                <a:cs typeface="+mn-lt"/>
              </a:rPr>
              <a:t>Dionaea will record brute force and credential attempts.</a:t>
            </a:r>
            <a:endParaRPr lang="en-US"/>
          </a:p>
          <a:p>
            <a:endParaRPr lang="en-US"/>
          </a:p>
          <a:p>
            <a:pPr algn="ctr"/>
            <a:endParaRPr lang="en-US"/>
          </a:p>
        </p:txBody>
      </p:sp>
      <p:pic>
        <p:nvPicPr>
          <p:cNvPr id="11" name="Picture 10" descr="A screenshot of a computer&#10;&#10;AI-generated content may be incorrect.">
            <a:extLst>
              <a:ext uri="{FF2B5EF4-FFF2-40B4-BE49-F238E27FC236}">
                <a16:creationId xmlns:a16="http://schemas.microsoft.com/office/drawing/2014/main" id="{199C43AA-55D2-8F0F-5178-F7B12A1CEE60}"/>
              </a:ext>
            </a:extLst>
          </p:cNvPr>
          <p:cNvPicPr>
            <a:picLocks noChangeAspect="1"/>
          </p:cNvPicPr>
          <p:nvPr/>
        </p:nvPicPr>
        <p:blipFill>
          <a:blip r:embed="rId3"/>
          <a:stretch>
            <a:fillRect/>
          </a:stretch>
        </p:blipFill>
        <p:spPr>
          <a:xfrm>
            <a:off x="729132" y="1316462"/>
            <a:ext cx="3714750" cy="2228850"/>
          </a:xfrm>
          <a:prstGeom prst="rect">
            <a:avLst/>
          </a:prstGeom>
        </p:spPr>
      </p:pic>
    </p:spTree>
    <p:extLst>
      <p:ext uri="{BB962C8B-B14F-4D97-AF65-F5344CB8AC3E}">
        <p14:creationId xmlns:p14="http://schemas.microsoft.com/office/powerpoint/2010/main" val="27637237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5044B3-85D5-38F4-B005-068634B0E930}"/>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ED0A29BF-7588-75E1-A599-609E89DACD5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1663" y="79092"/>
            <a:ext cx="1740919" cy="402801"/>
          </a:xfrm>
          <a:prstGeom prst="rect">
            <a:avLst/>
          </a:prstGeom>
        </p:spPr>
      </p:pic>
      <p:cxnSp>
        <p:nvCxnSpPr>
          <p:cNvPr id="5" name="Straight Connector 4">
            <a:extLst>
              <a:ext uri="{FF2B5EF4-FFF2-40B4-BE49-F238E27FC236}">
                <a16:creationId xmlns:a16="http://schemas.microsoft.com/office/drawing/2014/main" id="{EDE3D54A-4E33-3886-3F94-E63088D970D2}"/>
              </a:ext>
            </a:extLst>
          </p:cNvPr>
          <p:cNvCxnSpPr>
            <a:cxnSpLocks/>
          </p:cNvCxnSpPr>
          <p:nvPr/>
        </p:nvCxnSpPr>
        <p:spPr>
          <a:xfrm>
            <a:off x="1109709" y="594804"/>
            <a:ext cx="10235953" cy="0"/>
          </a:xfrm>
          <a:prstGeom prst="line">
            <a:avLst/>
          </a:prstGeom>
        </p:spPr>
        <p:style>
          <a:lnRef idx="3">
            <a:schemeClr val="dk1"/>
          </a:lnRef>
          <a:fillRef idx="0">
            <a:schemeClr val="dk1"/>
          </a:fillRef>
          <a:effectRef idx="2">
            <a:schemeClr val="dk1"/>
          </a:effectRef>
          <a:fontRef idx="minor">
            <a:schemeClr val="tx1"/>
          </a:fontRef>
        </p:style>
      </p:cxnSp>
      <p:cxnSp>
        <p:nvCxnSpPr>
          <p:cNvPr id="6" name="Straight Connector 5">
            <a:extLst>
              <a:ext uri="{FF2B5EF4-FFF2-40B4-BE49-F238E27FC236}">
                <a16:creationId xmlns:a16="http://schemas.microsoft.com/office/drawing/2014/main" id="{AD086B36-2849-6475-876F-34CD7F71A65D}"/>
              </a:ext>
            </a:extLst>
          </p:cNvPr>
          <p:cNvCxnSpPr/>
          <p:nvPr/>
        </p:nvCxnSpPr>
        <p:spPr>
          <a:xfrm>
            <a:off x="1038687" y="6462943"/>
            <a:ext cx="10369119" cy="0"/>
          </a:xfrm>
          <a:prstGeom prst="line">
            <a:avLst/>
          </a:prstGeom>
        </p:spPr>
        <p:style>
          <a:lnRef idx="3">
            <a:schemeClr val="dk1"/>
          </a:lnRef>
          <a:fillRef idx="0">
            <a:schemeClr val="dk1"/>
          </a:fillRef>
          <a:effectRef idx="2">
            <a:schemeClr val="dk1"/>
          </a:effectRef>
          <a:fontRef idx="minor">
            <a:schemeClr val="tx1"/>
          </a:fontRef>
        </p:style>
      </p:cxnSp>
      <p:sp>
        <p:nvSpPr>
          <p:cNvPr id="7" name="TextBox 7">
            <a:extLst>
              <a:ext uri="{FF2B5EF4-FFF2-40B4-BE49-F238E27FC236}">
                <a16:creationId xmlns:a16="http://schemas.microsoft.com/office/drawing/2014/main" id="{9BEEBCC6-B180-4328-73B8-C777A5337129}"/>
              </a:ext>
            </a:extLst>
          </p:cNvPr>
          <p:cNvSpPr txBox="1"/>
          <p:nvPr/>
        </p:nvSpPr>
        <p:spPr>
          <a:xfrm>
            <a:off x="8788893" y="319596"/>
            <a:ext cx="2821413" cy="276999"/>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1">
                <a:latin typeface="Times New Roman" panose="02020603050405020304" pitchFamily="18" charset="0"/>
                <a:cs typeface="Times New Roman" panose="02020603050405020304" pitchFamily="18" charset="0"/>
              </a:rPr>
              <a:t>TIFAC – CORE in CYBER SECURITY</a:t>
            </a:r>
            <a:endParaRPr lang="en-IN" sz="1200" b="1">
              <a:latin typeface="Times New Roman" panose="02020603050405020304" pitchFamily="18" charset="0"/>
              <a:cs typeface="Times New Roman" panose="02020603050405020304" pitchFamily="18" charset="0"/>
            </a:endParaRPr>
          </a:p>
        </p:txBody>
      </p:sp>
      <p:sp>
        <p:nvSpPr>
          <p:cNvPr id="8" name="Slide Number Placeholder 10">
            <a:extLst>
              <a:ext uri="{FF2B5EF4-FFF2-40B4-BE49-F238E27FC236}">
                <a16:creationId xmlns:a16="http://schemas.microsoft.com/office/drawing/2014/main" id="{8F653134-1535-B5A6-6FE4-876A82A7CACC}"/>
              </a:ext>
            </a:extLst>
          </p:cNvPr>
          <p:cNvSpPr>
            <a:spLocks noGrp="1"/>
          </p:cNvSpPr>
          <p:nvPr/>
        </p:nvSpPr>
        <p:spPr>
          <a:xfrm>
            <a:off x="8734887"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C3E5B82-863A-4B66-9E4F-DCFAD2A3B854}" type="slidenum">
              <a:rPr lang="en-IN" smtClean="0"/>
              <a:pPr/>
              <a:t>19</a:t>
            </a:fld>
            <a:endParaRPr lang="en-IN"/>
          </a:p>
        </p:txBody>
      </p:sp>
      <p:sp>
        <p:nvSpPr>
          <p:cNvPr id="9" name="Footer Placeholder 11">
            <a:extLst>
              <a:ext uri="{FF2B5EF4-FFF2-40B4-BE49-F238E27FC236}">
                <a16:creationId xmlns:a16="http://schemas.microsoft.com/office/drawing/2014/main" id="{A886BE5F-A42E-4221-7C05-60CCC5C8C949}"/>
              </a:ext>
            </a:extLst>
          </p:cNvPr>
          <p:cNvSpPr>
            <a:spLocks noGrp="1"/>
          </p:cNvSpPr>
          <p:nvPr/>
        </p:nvSpPr>
        <p:spPr>
          <a:xfrm>
            <a:off x="4038600" y="64928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20CYS 495 B.Tech CYS: 2022 - 2026 Project Presentation </a:t>
            </a:r>
            <a:endParaRPr lang="en-IN"/>
          </a:p>
        </p:txBody>
      </p:sp>
      <p:sp>
        <p:nvSpPr>
          <p:cNvPr id="2" name="TextBox 1">
            <a:extLst>
              <a:ext uri="{FF2B5EF4-FFF2-40B4-BE49-F238E27FC236}">
                <a16:creationId xmlns:a16="http://schemas.microsoft.com/office/drawing/2014/main" id="{B2C4BD00-7CFD-6CE3-2259-17BD4EC0BAD5}"/>
              </a:ext>
            </a:extLst>
          </p:cNvPr>
          <p:cNvSpPr txBox="1"/>
          <p:nvPr/>
        </p:nvSpPr>
        <p:spPr>
          <a:xfrm>
            <a:off x="719070" y="1561563"/>
            <a:ext cx="10109915" cy="42473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pattern,MITRE_Tactic,Technique_ID,Technique_Name,Likely_APT_Group "\\</a:t>
            </a:r>
            <a:r>
              <a:rPr lang="en-US" err="1"/>
              <a:t>bnmap</a:t>
            </a:r>
            <a:r>
              <a:rPr lang="en-US"/>
              <a:t>\\b|\\</a:t>
            </a:r>
            <a:r>
              <a:rPr lang="en-US" err="1"/>
              <a:t>bmasscan</a:t>
            </a:r>
            <a:r>
              <a:rPr lang="en-US"/>
              <a:t>\\b","Discovery","T1046","Network Service </a:t>
            </a:r>
            <a:r>
              <a:rPr lang="en-US" err="1"/>
              <a:t>Scanning","Unknown</a:t>
            </a:r>
            <a:r>
              <a:rPr lang="en-US"/>
              <a:t>" "\\</a:t>
            </a:r>
            <a:r>
              <a:rPr lang="en-US" err="1"/>
              <a:t>bwget</a:t>
            </a:r>
            <a:r>
              <a:rPr lang="en-US"/>
              <a:t>\\b|\\</a:t>
            </a:r>
            <a:r>
              <a:rPr lang="en-US" err="1"/>
              <a:t>bcurl</a:t>
            </a:r>
            <a:r>
              <a:rPr lang="en-US"/>
              <a:t>\\b","Execution","T1059","Command and Scripting Interpreter","APT29;Lazarus" "\\</a:t>
            </a:r>
            <a:r>
              <a:rPr lang="en-US" err="1"/>
              <a:t>bnc</a:t>
            </a:r>
            <a:r>
              <a:rPr lang="en-US"/>
              <a:t> -e\\b|\\</a:t>
            </a:r>
            <a:r>
              <a:rPr lang="en-US" err="1"/>
              <a:t>bnetcat</a:t>
            </a:r>
            <a:r>
              <a:rPr lang="en-US"/>
              <a:t>\\</a:t>
            </a:r>
            <a:r>
              <a:rPr lang="en-US" err="1"/>
              <a:t>b|bash</a:t>
            </a:r>
            <a:r>
              <a:rPr lang="en-US"/>
              <a:t> -</a:t>
            </a:r>
            <a:r>
              <a:rPr lang="en-US" err="1"/>
              <a:t>i</a:t>
            </a:r>
            <a:r>
              <a:rPr lang="en-US"/>
              <a:t>","Command and Control","T1071.001","Application Layer C2","Unknown" "\\</a:t>
            </a:r>
            <a:r>
              <a:rPr lang="en-US" err="1"/>
              <a:t>bchmod</a:t>
            </a:r>
            <a:r>
              <a:rPr lang="en-US"/>
              <a:t> \\+x\\b|\\bchown\\b","Privilege Escalation","T1222","Modify File/</a:t>
            </a:r>
            <a:r>
              <a:rPr lang="en-US" err="1"/>
              <a:t>Permissions","Unknown</a:t>
            </a:r>
            <a:r>
              <a:rPr lang="en-US"/>
              <a:t>" </a:t>
            </a:r>
          </a:p>
          <a:p>
            <a:r>
              <a:rPr lang="en-US"/>
              <a:t>"\\</a:t>
            </a:r>
            <a:r>
              <a:rPr lang="en-US" err="1"/>
              <a:t>badduser</a:t>
            </a:r>
            <a:r>
              <a:rPr lang="en-US"/>
              <a:t>\\b|\\</a:t>
            </a:r>
            <a:r>
              <a:rPr lang="en-US" err="1"/>
              <a:t>buseradd</a:t>
            </a:r>
            <a:r>
              <a:rPr lang="en-US"/>
              <a:t>\\b|usermod","Persistence","T1136","Create Account","FIN7" "\\/</a:t>
            </a:r>
            <a:r>
              <a:rPr lang="en-US" err="1"/>
              <a:t>etc</a:t>
            </a:r>
            <a:r>
              <a:rPr lang="en-US"/>
              <a:t>\\/passwd|\\/</a:t>
            </a:r>
            <a:r>
              <a:rPr lang="en-US" err="1"/>
              <a:t>etc</a:t>
            </a:r>
            <a:r>
              <a:rPr lang="en-US"/>
              <a:t>\\/shadow","Discovery","T1083","File and Directory </a:t>
            </a:r>
            <a:r>
              <a:rPr lang="en-US" err="1"/>
              <a:t>Discovery","Unknown</a:t>
            </a:r>
            <a:r>
              <a:rPr lang="en-US"/>
              <a:t>" "\\/wp-login\\.</a:t>
            </a:r>
            <a:r>
              <a:rPr lang="en-US" err="1"/>
              <a:t>php|wp-login</a:t>
            </a:r>
            <a:r>
              <a:rPr lang="en-US"/>
              <a:t>","Initial Access","T1078","Valid Accounts / Brute </a:t>
            </a:r>
            <a:r>
              <a:rPr lang="en-US" err="1"/>
              <a:t>Force","Unknown</a:t>
            </a:r>
            <a:r>
              <a:rPr lang="en-US"/>
              <a:t>" "rm -</a:t>
            </a:r>
            <a:r>
              <a:rPr lang="en-US" err="1"/>
              <a:t>rf|dd</a:t>
            </a:r>
            <a:r>
              <a:rPr lang="en-US"/>
              <a:t> if=","Impact","T1485","Data </a:t>
            </a:r>
            <a:r>
              <a:rPr lang="en-US" err="1"/>
              <a:t>Destruction","Lazarus</a:t>
            </a:r>
            <a:r>
              <a:rPr lang="en-US"/>
              <a:t>" "base64 .* -d|base64 -d|\\bbase64</a:t>
            </a:r>
          </a:p>
          <a:p>
            <a:r>
              <a:rPr lang="en-US"/>
              <a:t>\\b.*\\|.*bash","Defense Evasion","T1027","Obfuscated Files or </a:t>
            </a:r>
            <a:r>
              <a:rPr lang="en-US" err="1"/>
              <a:t>Information","Equation</a:t>
            </a:r>
            <a:r>
              <a:rPr lang="en-US"/>
              <a:t> Group" "Downloaded file </a:t>
            </a:r>
            <a:r>
              <a:rPr lang="en-US" err="1"/>
              <a:t>from|dionaea.download|file_hash","Command</a:t>
            </a:r>
            <a:r>
              <a:rPr lang="en-US"/>
              <a:t>/Transfer","T1105","Ingress Tool Transfer","APT41" "\\</a:t>
            </a:r>
            <a:r>
              <a:rPr lang="en-US" err="1"/>
              <a:t>bssh</a:t>
            </a:r>
            <a:r>
              <a:rPr lang="en-US"/>
              <a:t>\\</a:t>
            </a:r>
            <a:r>
              <a:rPr lang="en-US" err="1"/>
              <a:t>b|failed</a:t>
            </a:r>
            <a:r>
              <a:rPr lang="en-US"/>
              <a:t> </a:t>
            </a:r>
            <a:r>
              <a:rPr lang="en-US" err="1"/>
              <a:t>login|invalid</a:t>
            </a:r>
            <a:r>
              <a:rPr lang="en-US"/>
              <a:t> </a:t>
            </a:r>
            <a:r>
              <a:rPr lang="en-US" err="1"/>
              <a:t>password","Initial</a:t>
            </a:r>
            <a:r>
              <a:rPr lang="en-US"/>
              <a:t> Access","T1110","Brute Force","APT28;APT33" </a:t>
            </a:r>
          </a:p>
          <a:p>
            <a:pPr algn="ctr"/>
            <a:endParaRPr lang="en-US"/>
          </a:p>
        </p:txBody>
      </p:sp>
      <p:sp>
        <p:nvSpPr>
          <p:cNvPr id="3" name="TextBox 2">
            <a:extLst>
              <a:ext uri="{FF2B5EF4-FFF2-40B4-BE49-F238E27FC236}">
                <a16:creationId xmlns:a16="http://schemas.microsoft.com/office/drawing/2014/main" id="{2FB01045-1B3F-E186-1FC0-82C1B3A464B7}"/>
              </a:ext>
            </a:extLst>
          </p:cNvPr>
          <p:cNvSpPr txBox="1"/>
          <p:nvPr/>
        </p:nvSpPr>
        <p:spPr>
          <a:xfrm>
            <a:off x="1111642" y="1056658"/>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mitre_rules.csv </a:t>
            </a:r>
          </a:p>
        </p:txBody>
      </p:sp>
    </p:spTree>
    <p:extLst>
      <p:ext uri="{BB962C8B-B14F-4D97-AF65-F5344CB8AC3E}">
        <p14:creationId xmlns:p14="http://schemas.microsoft.com/office/powerpoint/2010/main" val="14308267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AD3D39-2160-667A-111B-C8D80F3BD87C}"/>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A44E2662-5B8A-9EC5-7E6B-32BE999BCF1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1663" y="79092"/>
            <a:ext cx="1740919" cy="402801"/>
          </a:xfrm>
          <a:prstGeom prst="rect">
            <a:avLst/>
          </a:prstGeom>
        </p:spPr>
      </p:pic>
      <p:cxnSp>
        <p:nvCxnSpPr>
          <p:cNvPr id="5" name="Straight Connector 4">
            <a:extLst>
              <a:ext uri="{FF2B5EF4-FFF2-40B4-BE49-F238E27FC236}">
                <a16:creationId xmlns:a16="http://schemas.microsoft.com/office/drawing/2014/main" id="{195A9E44-6C2D-712E-1624-B5E38186052A}"/>
              </a:ext>
            </a:extLst>
          </p:cNvPr>
          <p:cNvCxnSpPr>
            <a:cxnSpLocks/>
          </p:cNvCxnSpPr>
          <p:nvPr/>
        </p:nvCxnSpPr>
        <p:spPr>
          <a:xfrm>
            <a:off x="1109709" y="594804"/>
            <a:ext cx="10235953" cy="0"/>
          </a:xfrm>
          <a:prstGeom prst="line">
            <a:avLst/>
          </a:prstGeom>
        </p:spPr>
        <p:style>
          <a:lnRef idx="3">
            <a:schemeClr val="dk1"/>
          </a:lnRef>
          <a:fillRef idx="0">
            <a:schemeClr val="dk1"/>
          </a:fillRef>
          <a:effectRef idx="2">
            <a:schemeClr val="dk1"/>
          </a:effectRef>
          <a:fontRef idx="minor">
            <a:schemeClr val="tx1"/>
          </a:fontRef>
        </p:style>
      </p:cxnSp>
      <p:cxnSp>
        <p:nvCxnSpPr>
          <p:cNvPr id="6" name="Straight Connector 5">
            <a:extLst>
              <a:ext uri="{FF2B5EF4-FFF2-40B4-BE49-F238E27FC236}">
                <a16:creationId xmlns:a16="http://schemas.microsoft.com/office/drawing/2014/main" id="{05BF7C65-8F9B-7BE2-B570-7AFC0C54F148}"/>
              </a:ext>
            </a:extLst>
          </p:cNvPr>
          <p:cNvCxnSpPr/>
          <p:nvPr/>
        </p:nvCxnSpPr>
        <p:spPr>
          <a:xfrm>
            <a:off x="1038687" y="6462943"/>
            <a:ext cx="10369119" cy="0"/>
          </a:xfrm>
          <a:prstGeom prst="line">
            <a:avLst/>
          </a:prstGeom>
        </p:spPr>
        <p:style>
          <a:lnRef idx="3">
            <a:schemeClr val="dk1"/>
          </a:lnRef>
          <a:fillRef idx="0">
            <a:schemeClr val="dk1"/>
          </a:fillRef>
          <a:effectRef idx="2">
            <a:schemeClr val="dk1"/>
          </a:effectRef>
          <a:fontRef idx="minor">
            <a:schemeClr val="tx1"/>
          </a:fontRef>
        </p:style>
      </p:cxnSp>
      <p:sp>
        <p:nvSpPr>
          <p:cNvPr id="7" name="TextBox 7">
            <a:extLst>
              <a:ext uri="{FF2B5EF4-FFF2-40B4-BE49-F238E27FC236}">
                <a16:creationId xmlns:a16="http://schemas.microsoft.com/office/drawing/2014/main" id="{6D575725-1B30-DAAC-7323-4C956ADC94AE}"/>
              </a:ext>
            </a:extLst>
          </p:cNvPr>
          <p:cNvSpPr txBox="1"/>
          <p:nvPr/>
        </p:nvSpPr>
        <p:spPr>
          <a:xfrm>
            <a:off x="8788893" y="319596"/>
            <a:ext cx="2821413" cy="276999"/>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1">
                <a:latin typeface="Times New Roman" panose="02020603050405020304" pitchFamily="18" charset="0"/>
                <a:cs typeface="Times New Roman" panose="02020603050405020304" pitchFamily="18" charset="0"/>
              </a:rPr>
              <a:t>TIFAC – CORE in CYBER SECURITY</a:t>
            </a:r>
            <a:endParaRPr lang="en-IN" sz="1200" b="1">
              <a:latin typeface="Times New Roman" panose="02020603050405020304" pitchFamily="18" charset="0"/>
              <a:cs typeface="Times New Roman" panose="02020603050405020304" pitchFamily="18" charset="0"/>
            </a:endParaRPr>
          </a:p>
        </p:txBody>
      </p:sp>
      <p:sp>
        <p:nvSpPr>
          <p:cNvPr id="8" name="Slide Number Placeholder 10">
            <a:extLst>
              <a:ext uri="{FF2B5EF4-FFF2-40B4-BE49-F238E27FC236}">
                <a16:creationId xmlns:a16="http://schemas.microsoft.com/office/drawing/2014/main" id="{CEBA306C-2B49-EFA8-096A-85D4814CF664}"/>
              </a:ext>
            </a:extLst>
          </p:cNvPr>
          <p:cNvSpPr>
            <a:spLocks noGrp="1"/>
          </p:cNvSpPr>
          <p:nvPr/>
        </p:nvSpPr>
        <p:spPr>
          <a:xfrm>
            <a:off x="8734887"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C3E5B82-863A-4B66-9E4F-DCFAD2A3B854}" type="slidenum">
              <a:rPr lang="en-IN" smtClean="0"/>
              <a:pPr/>
              <a:t>20</a:t>
            </a:fld>
            <a:endParaRPr lang="en-IN"/>
          </a:p>
        </p:txBody>
      </p:sp>
      <p:sp>
        <p:nvSpPr>
          <p:cNvPr id="9" name="Footer Placeholder 11">
            <a:extLst>
              <a:ext uri="{FF2B5EF4-FFF2-40B4-BE49-F238E27FC236}">
                <a16:creationId xmlns:a16="http://schemas.microsoft.com/office/drawing/2014/main" id="{8F9A21B5-9E44-A148-74DF-E5F87B556EB8}"/>
              </a:ext>
            </a:extLst>
          </p:cNvPr>
          <p:cNvSpPr>
            <a:spLocks noGrp="1"/>
          </p:cNvSpPr>
          <p:nvPr/>
        </p:nvSpPr>
        <p:spPr>
          <a:xfrm>
            <a:off x="4038600" y="64928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20CYS 495 B.Tech CYS: 2022 - 2026 Project Presentation </a:t>
            </a:r>
            <a:endParaRPr lang="en-IN"/>
          </a:p>
        </p:txBody>
      </p:sp>
      <p:sp>
        <p:nvSpPr>
          <p:cNvPr id="2" name="TextBox 1">
            <a:extLst>
              <a:ext uri="{FF2B5EF4-FFF2-40B4-BE49-F238E27FC236}">
                <a16:creationId xmlns:a16="http://schemas.microsoft.com/office/drawing/2014/main" id="{31CF56FB-D7AA-866C-8588-C663C10AB92F}"/>
              </a:ext>
            </a:extLst>
          </p:cNvPr>
          <p:cNvSpPr txBox="1"/>
          <p:nvPr/>
        </p:nvSpPr>
        <p:spPr>
          <a:xfrm>
            <a:off x="708338" y="1121535"/>
            <a:ext cx="10109915" cy="45243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mn-lt"/>
                <a:cs typeface="+mn-lt"/>
              </a:rPr>
              <a:t>The MITRE ATT&amp;CK rule set used in this project focuses only on a selected set of techniques and APT groups because the detections are designed to match the </a:t>
            </a:r>
            <a:r>
              <a:rPr lang="en-US" i="1">
                <a:ea typeface="+mn-lt"/>
                <a:cs typeface="+mn-lt"/>
              </a:rPr>
              <a:t>actual </a:t>
            </a:r>
            <a:r>
              <a:rPr lang="en-US" i="1" err="1">
                <a:ea typeface="+mn-lt"/>
                <a:cs typeface="+mn-lt"/>
              </a:rPr>
              <a:t>behaviour</a:t>
            </a:r>
            <a:r>
              <a:rPr lang="en-US" i="1">
                <a:ea typeface="+mn-lt"/>
                <a:cs typeface="+mn-lt"/>
              </a:rPr>
              <a:t> observed in the deployed honeypots</a:t>
            </a:r>
            <a:r>
              <a:rPr lang="en-US">
                <a:ea typeface="+mn-lt"/>
                <a:cs typeface="+mn-lt"/>
              </a:rPr>
              <a:t>. </a:t>
            </a:r>
            <a:endParaRPr lang="en-US"/>
          </a:p>
          <a:p>
            <a:endParaRPr lang="en-US">
              <a:ea typeface="+mn-lt"/>
              <a:cs typeface="+mn-lt"/>
            </a:endParaRPr>
          </a:p>
          <a:p>
            <a:r>
              <a:rPr lang="en-US">
                <a:ea typeface="+mn-lt"/>
                <a:cs typeface="+mn-lt"/>
              </a:rPr>
              <a:t>Honeypots such as Cowrie, Dionaea, and web decoy services generate logs related to activities like brute-force login attempts, file downloads, malware transfer, command execution, privilege escalation, and reconnaissance. </a:t>
            </a:r>
            <a:endParaRPr lang="en-US"/>
          </a:p>
          <a:p>
            <a:endParaRPr lang="en-US">
              <a:ea typeface="+mn-lt"/>
              <a:cs typeface="+mn-lt"/>
            </a:endParaRPr>
          </a:p>
          <a:p>
            <a:r>
              <a:rPr lang="en-US">
                <a:ea typeface="+mn-lt"/>
                <a:cs typeface="+mn-lt"/>
              </a:rPr>
              <a:t>These events correspond to only a subset of MITRE ATT&amp;CK techniques, making it inaccurate and misleading to include the full matrix of 200+ techniques or map them to all known APT groups.</a:t>
            </a:r>
          </a:p>
          <a:p>
            <a:endParaRPr lang="en-US">
              <a:ea typeface="+mn-lt"/>
              <a:cs typeface="+mn-lt"/>
            </a:endParaRPr>
          </a:p>
          <a:p>
            <a:r>
              <a:rPr lang="en-US">
                <a:ea typeface="+mn-lt"/>
                <a:cs typeface="+mn-lt"/>
              </a:rPr>
              <a:t> Instead, the rule set concentrates on the techniques that the honeypot can realistically observe and ties them to APT groups known to commonly use those </a:t>
            </a:r>
            <a:r>
              <a:rPr lang="en-US" err="1">
                <a:ea typeface="+mn-lt"/>
                <a:cs typeface="+mn-lt"/>
              </a:rPr>
              <a:t>behaviours</a:t>
            </a:r>
            <a:r>
              <a:rPr lang="en-US">
                <a:ea typeface="+mn-lt"/>
                <a:cs typeface="+mn-lt"/>
              </a:rPr>
              <a:t>. </a:t>
            </a:r>
            <a:endParaRPr lang="en-US"/>
          </a:p>
          <a:p>
            <a:endParaRPr lang="en-US">
              <a:ea typeface="+mn-lt"/>
              <a:cs typeface="+mn-lt"/>
            </a:endParaRPr>
          </a:p>
          <a:p>
            <a:r>
              <a:rPr lang="en-US">
                <a:ea typeface="+mn-lt"/>
                <a:cs typeface="+mn-lt"/>
              </a:rPr>
              <a:t>This ensures the classification is </a:t>
            </a:r>
            <a:r>
              <a:rPr lang="en-US" b="1">
                <a:ea typeface="+mn-lt"/>
                <a:cs typeface="+mn-lt"/>
              </a:rPr>
              <a:t>evidence-based, accurate, scalable, and defensible</a:t>
            </a:r>
            <a:r>
              <a:rPr lang="en-US">
                <a:ea typeface="+mn-lt"/>
                <a:cs typeface="+mn-lt"/>
              </a:rPr>
              <a:t>, rather than theoretical or overly generalized.</a:t>
            </a:r>
            <a:endParaRPr lang="en-US"/>
          </a:p>
        </p:txBody>
      </p:sp>
    </p:spTree>
    <p:extLst>
      <p:ext uri="{BB962C8B-B14F-4D97-AF65-F5344CB8AC3E}">
        <p14:creationId xmlns:p14="http://schemas.microsoft.com/office/powerpoint/2010/main" val="24240096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5D39AF-7058-6307-9FFD-4453F4B672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14E335-E2C6-4305-7DAF-39E118136D41}"/>
              </a:ext>
            </a:extLst>
          </p:cNvPr>
          <p:cNvSpPr>
            <a:spLocks noGrp="1"/>
          </p:cNvSpPr>
          <p:nvPr>
            <p:ph type="ctrTitle"/>
          </p:nvPr>
        </p:nvSpPr>
        <p:spPr>
          <a:xfrm>
            <a:off x="1524000" y="1134363"/>
            <a:ext cx="8670000" cy="773600"/>
          </a:xfrm>
        </p:spPr>
        <p:txBody>
          <a:bodyPr>
            <a:normAutofit fontScale="90000"/>
          </a:bodyPr>
          <a:lstStyle/>
          <a:p>
            <a:br>
              <a:rPr lang="en-US"/>
            </a:br>
            <a:endParaRPr lang="en-US"/>
          </a:p>
        </p:txBody>
      </p:sp>
      <p:pic>
        <p:nvPicPr>
          <p:cNvPr id="4" name="Picture 3">
            <a:extLst>
              <a:ext uri="{FF2B5EF4-FFF2-40B4-BE49-F238E27FC236}">
                <a16:creationId xmlns:a16="http://schemas.microsoft.com/office/drawing/2014/main" id="{79E62447-61AE-EE7B-DB65-4D829EDBEA9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1663" y="79092"/>
            <a:ext cx="1740919" cy="402801"/>
          </a:xfrm>
          <a:prstGeom prst="rect">
            <a:avLst/>
          </a:prstGeom>
        </p:spPr>
      </p:pic>
      <p:cxnSp>
        <p:nvCxnSpPr>
          <p:cNvPr id="5" name="Straight Connector 4">
            <a:extLst>
              <a:ext uri="{FF2B5EF4-FFF2-40B4-BE49-F238E27FC236}">
                <a16:creationId xmlns:a16="http://schemas.microsoft.com/office/drawing/2014/main" id="{46BE4C06-4DC9-666C-6F0F-96D69C65AC82}"/>
              </a:ext>
            </a:extLst>
          </p:cNvPr>
          <p:cNvCxnSpPr>
            <a:cxnSpLocks/>
          </p:cNvCxnSpPr>
          <p:nvPr/>
        </p:nvCxnSpPr>
        <p:spPr>
          <a:xfrm>
            <a:off x="1109709" y="594804"/>
            <a:ext cx="10235953" cy="0"/>
          </a:xfrm>
          <a:prstGeom prst="line">
            <a:avLst/>
          </a:prstGeom>
        </p:spPr>
        <p:style>
          <a:lnRef idx="3">
            <a:schemeClr val="dk1"/>
          </a:lnRef>
          <a:fillRef idx="0">
            <a:schemeClr val="dk1"/>
          </a:fillRef>
          <a:effectRef idx="2">
            <a:schemeClr val="dk1"/>
          </a:effectRef>
          <a:fontRef idx="minor">
            <a:schemeClr val="tx1"/>
          </a:fontRef>
        </p:style>
      </p:cxnSp>
      <p:cxnSp>
        <p:nvCxnSpPr>
          <p:cNvPr id="6" name="Straight Connector 5">
            <a:extLst>
              <a:ext uri="{FF2B5EF4-FFF2-40B4-BE49-F238E27FC236}">
                <a16:creationId xmlns:a16="http://schemas.microsoft.com/office/drawing/2014/main" id="{E7559D18-4B16-6D08-8C1D-E6891E2D1D97}"/>
              </a:ext>
            </a:extLst>
          </p:cNvPr>
          <p:cNvCxnSpPr/>
          <p:nvPr/>
        </p:nvCxnSpPr>
        <p:spPr>
          <a:xfrm>
            <a:off x="1038687" y="6462943"/>
            <a:ext cx="10369119" cy="0"/>
          </a:xfrm>
          <a:prstGeom prst="line">
            <a:avLst/>
          </a:prstGeom>
        </p:spPr>
        <p:style>
          <a:lnRef idx="3">
            <a:schemeClr val="dk1"/>
          </a:lnRef>
          <a:fillRef idx="0">
            <a:schemeClr val="dk1"/>
          </a:fillRef>
          <a:effectRef idx="2">
            <a:schemeClr val="dk1"/>
          </a:effectRef>
          <a:fontRef idx="minor">
            <a:schemeClr val="tx1"/>
          </a:fontRef>
        </p:style>
      </p:cxnSp>
      <p:sp>
        <p:nvSpPr>
          <p:cNvPr id="7" name="TextBox 7">
            <a:extLst>
              <a:ext uri="{FF2B5EF4-FFF2-40B4-BE49-F238E27FC236}">
                <a16:creationId xmlns:a16="http://schemas.microsoft.com/office/drawing/2014/main" id="{88FB0CD2-4334-1A6B-7939-F858AE3708E6}"/>
              </a:ext>
            </a:extLst>
          </p:cNvPr>
          <p:cNvSpPr txBox="1"/>
          <p:nvPr/>
        </p:nvSpPr>
        <p:spPr>
          <a:xfrm>
            <a:off x="8788893" y="319596"/>
            <a:ext cx="2821413" cy="276999"/>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1">
                <a:latin typeface="Times New Roman" panose="02020603050405020304" pitchFamily="18" charset="0"/>
                <a:cs typeface="Times New Roman" panose="02020603050405020304" pitchFamily="18" charset="0"/>
              </a:rPr>
              <a:t>TIFAC – CORE in CYBER SECURITY</a:t>
            </a:r>
            <a:endParaRPr lang="en-IN" sz="1200" b="1">
              <a:latin typeface="Times New Roman" panose="02020603050405020304" pitchFamily="18" charset="0"/>
              <a:cs typeface="Times New Roman" panose="02020603050405020304" pitchFamily="18" charset="0"/>
            </a:endParaRPr>
          </a:p>
        </p:txBody>
      </p:sp>
      <p:sp>
        <p:nvSpPr>
          <p:cNvPr id="8" name="Slide Number Placeholder 10">
            <a:extLst>
              <a:ext uri="{FF2B5EF4-FFF2-40B4-BE49-F238E27FC236}">
                <a16:creationId xmlns:a16="http://schemas.microsoft.com/office/drawing/2014/main" id="{15FD1A83-B8AA-9253-A300-1450A5868AEC}"/>
              </a:ext>
            </a:extLst>
          </p:cNvPr>
          <p:cNvSpPr>
            <a:spLocks noGrp="1"/>
          </p:cNvSpPr>
          <p:nvPr/>
        </p:nvSpPr>
        <p:spPr>
          <a:xfrm>
            <a:off x="8734887"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C3E5B82-863A-4B66-9E4F-DCFAD2A3B854}" type="slidenum">
              <a:rPr lang="en-IN" smtClean="0"/>
              <a:pPr/>
              <a:t>21</a:t>
            </a:fld>
            <a:endParaRPr lang="en-IN"/>
          </a:p>
        </p:txBody>
      </p:sp>
      <p:sp>
        <p:nvSpPr>
          <p:cNvPr id="9" name="Footer Placeholder 11">
            <a:extLst>
              <a:ext uri="{FF2B5EF4-FFF2-40B4-BE49-F238E27FC236}">
                <a16:creationId xmlns:a16="http://schemas.microsoft.com/office/drawing/2014/main" id="{66616064-3FF7-4042-1136-E112957AC447}"/>
              </a:ext>
            </a:extLst>
          </p:cNvPr>
          <p:cNvSpPr>
            <a:spLocks noGrp="1"/>
          </p:cNvSpPr>
          <p:nvPr/>
        </p:nvSpPr>
        <p:spPr>
          <a:xfrm>
            <a:off x="4038600" y="64928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20CYS 495 B.Tech CYS: 2022 - 2026 Project Presentation </a:t>
            </a:r>
            <a:endParaRPr lang="en-IN"/>
          </a:p>
        </p:txBody>
      </p:sp>
      <p:sp>
        <p:nvSpPr>
          <p:cNvPr id="3" name="TextBox 2">
            <a:extLst>
              <a:ext uri="{FF2B5EF4-FFF2-40B4-BE49-F238E27FC236}">
                <a16:creationId xmlns:a16="http://schemas.microsoft.com/office/drawing/2014/main" id="{09085985-300B-E624-BB74-FC2A5423D6EB}"/>
              </a:ext>
            </a:extLst>
          </p:cNvPr>
          <p:cNvSpPr txBox="1"/>
          <p:nvPr/>
        </p:nvSpPr>
        <p:spPr>
          <a:xfrm>
            <a:off x="1043533" y="949624"/>
            <a:ext cx="961480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Times New Roman"/>
                <a:cs typeface="Times New Roman"/>
              </a:rPr>
              <a:t>What Attacks does this rules detect </a:t>
            </a:r>
            <a:endParaRPr lang="en-US" b="1">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AEEA5CB4-4598-32FF-2B0B-DBED4478DF01}"/>
              </a:ext>
            </a:extLst>
          </p:cNvPr>
          <p:cNvSpPr txBox="1"/>
          <p:nvPr/>
        </p:nvSpPr>
        <p:spPr>
          <a:xfrm>
            <a:off x="1319892" y="1687285"/>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graphicFrame>
        <p:nvGraphicFramePr>
          <p:cNvPr id="12" name="Table 11">
            <a:extLst>
              <a:ext uri="{FF2B5EF4-FFF2-40B4-BE49-F238E27FC236}">
                <a16:creationId xmlns:a16="http://schemas.microsoft.com/office/drawing/2014/main" id="{B9186490-BDF2-D300-4C84-8D1461062439}"/>
              </a:ext>
            </a:extLst>
          </p:cNvPr>
          <p:cNvGraphicFramePr>
            <a:graphicFrameLocks noGrp="1"/>
          </p:cNvGraphicFramePr>
          <p:nvPr>
            <p:extLst>
              <p:ext uri="{D42A27DB-BD31-4B8C-83A1-F6EECF244321}">
                <p14:modId xmlns:p14="http://schemas.microsoft.com/office/powerpoint/2010/main" val="3559012337"/>
              </p:ext>
            </p:extLst>
          </p:nvPr>
        </p:nvGraphicFramePr>
        <p:xfrm>
          <a:off x="1041042" y="1524000"/>
          <a:ext cx="10245024" cy="4650680"/>
        </p:xfrm>
        <a:graphic>
          <a:graphicData uri="http://schemas.openxmlformats.org/drawingml/2006/table">
            <a:tbl>
              <a:tblPr bandRow="1">
                <a:tableStyleId>{5C22544A-7EE6-4342-B048-85BDC9FD1C3A}</a:tableStyleId>
              </a:tblPr>
              <a:tblGrid>
                <a:gridCol w="2561256">
                  <a:extLst>
                    <a:ext uri="{9D8B030D-6E8A-4147-A177-3AD203B41FA5}">
                      <a16:colId xmlns:a16="http://schemas.microsoft.com/office/drawing/2014/main" val="2829793251"/>
                    </a:ext>
                  </a:extLst>
                </a:gridCol>
                <a:gridCol w="2561256">
                  <a:extLst>
                    <a:ext uri="{9D8B030D-6E8A-4147-A177-3AD203B41FA5}">
                      <a16:colId xmlns:a16="http://schemas.microsoft.com/office/drawing/2014/main" val="981562892"/>
                    </a:ext>
                  </a:extLst>
                </a:gridCol>
                <a:gridCol w="2561256">
                  <a:extLst>
                    <a:ext uri="{9D8B030D-6E8A-4147-A177-3AD203B41FA5}">
                      <a16:colId xmlns:a16="http://schemas.microsoft.com/office/drawing/2014/main" val="1494609074"/>
                    </a:ext>
                  </a:extLst>
                </a:gridCol>
                <a:gridCol w="2561256">
                  <a:extLst>
                    <a:ext uri="{9D8B030D-6E8A-4147-A177-3AD203B41FA5}">
                      <a16:colId xmlns:a16="http://schemas.microsoft.com/office/drawing/2014/main" val="2956739450"/>
                    </a:ext>
                  </a:extLst>
                </a:gridCol>
              </a:tblGrid>
              <a:tr h="376158">
                <a:tc>
                  <a:txBody>
                    <a:bodyPr/>
                    <a:lstStyle/>
                    <a:p>
                      <a:pPr>
                        <a:buNone/>
                      </a:pPr>
                      <a:r>
                        <a:rPr lang="en-US" sz="1000" b="1"/>
                        <a:t>MITRE ATT&amp;CK Tactic</a:t>
                      </a:r>
                      <a:endParaRPr lang="en-US" sz="1000"/>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1000" b="1"/>
                        <a:t>Technique ID</a:t>
                      </a:r>
                      <a:endParaRPr lang="en-US" sz="1000"/>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1000" b="1"/>
                        <a:t>Pattern Detected in Rule</a:t>
                      </a:r>
                      <a:endParaRPr lang="en-US" sz="1000"/>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1000" b="1"/>
                        <a:t>Meaning / Attack Type</a:t>
                      </a:r>
                      <a:endParaRPr lang="en-US" sz="1000"/>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4207640570"/>
                  </a:ext>
                </a:extLst>
              </a:tr>
              <a:tr h="632630">
                <a:tc>
                  <a:txBody>
                    <a:bodyPr/>
                    <a:lstStyle/>
                    <a:p>
                      <a:pPr>
                        <a:buNone/>
                      </a:pPr>
                      <a:r>
                        <a:rPr lang="en-US" sz="1000" b="1"/>
                        <a:t>Initial Access</a:t>
                      </a:r>
                      <a:endParaRPr lang="en-US" sz="1000"/>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1000"/>
                        <a:t>T1078 / T1110</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1000"/>
                        <a:t>URLs containing </a:t>
                      </a:r>
                      <a:r>
                        <a:rPr lang="en-US" sz="1000">
                          <a:latin typeface="Courier New"/>
                        </a:rPr>
                        <a:t>/login</a:t>
                      </a:r>
                      <a:r>
                        <a:rPr lang="en-US" sz="1000"/>
                        <a:t>, </a:t>
                      </a:r>
                      <a:r>
                        <a:rPr lang="en-US" sz="1000">
                          <a:latin typeface="Courier New"/>
                        </a:rPr>
                        <a:t>/ssh</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1000"/>
                        <a:t>Brute force or credential attempts against login endpoints (typical for SSH honeypots).</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521918718"/>
                  </a:ext>
                </a:extLst>
              </a:tr>
              <a:tr h="649727">
                <a:tc>
                  <a:txBody>
                    <a:bodyPr/>
                    <a:lstStyle/>
                    <a:p>
                      <a:pPr>
                        <a:buNone/>
                      </a:pPr>
                      <a:r>
                        <a:rPr lang="en-US" sz="1000" b="1"/>
                        <a:t>Execution</a:t>
                      </a:r>
                      <a:endParaRPr lang="en-US" sz="1000"/>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1000"/>
                        <a:t>T1059 / T1105</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1000"/>
                        <a:t>Commands with </a:t>
                      </a:r>
                      <a:r>
                        <a:rPr lang="en-US" sz="1000" err="1">
                          <a:latin typeface="Courier New"/>
                        </a:rPr>
                        <a:t>wget</a:t>
                      </a:r>
                      <a:r>
                        <a:rPr lang="en-US" sz="1000"/>
                        <a:t>, </a:t>
                      </a:r>
                      <a:r>
                        <a:rPr lang="en-US" sz="1000">
                          <a:latin typeface="Courier New"/>
                        </a:rPr>
                        <a:t>curl</a:t>
                      </a:r>
                      <a:r>
                        <a:rPr lang="en-US" sz="1000"/>
                        <a:t>, </a:t>
                      </a:r>
                      <a:r>
                        <a:rPr lang="en-US" sz="1000" err="1">
                          <a:latin typeface="Courier New"/>
                        </a:rPr>
                        <a:t>nc</a:t>
                      </a:r>
                      <a:r>
                        <a:rPr lang="en-US" sz="1000"/>
                        <a:t>, </a:t>
                      </a:r>
                      <a:r>
                        <a:rPr lang="en-US" sz="1000" err="1">
                          <a:latin typeface="Courier New"/>
                        </a:rPr>
                        <a:t>netcat</a:t>
                      </a:r>
                      <a:endParaRPr lang="en-US" sz="1000">
                        <a:latin typeface="Courier New"/>
                      </a:endParaRP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1000"/>
                        <a:t>Remote file downloads or reverse shell commands — attacker trying to pull malicious scripts or open shells.</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3460937800"/>
                  </a:ext>
                </a:extLst>
              </a:tr>
              <a:tr h="530041">
                <a:tc>
                  <a:txBody>
                    <a:bodyPr/>
                    <a:lstStyle/>
                    <a:p>
                      <a:pPr>
                        <a:buNone/>
                      </a:pPr>
                      <a:r>
                        <a:rPr lang="en-US" sz="1000" b="1"/>
                        <a:t>Persistence</a:t>
                      </a:r>
                      <a:endParaRPr lang="en-US" sz="1000"/>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1000"/>
                        <a:t>T1136</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1000" err="1">
                          <a:latin typeface="Courier New"/>
                        </a:rPr>
                        <a:t>adduser</a:t>
                      </a:r>
                      <a:r>
                        <a:rPr lang="en-US" sz="1000"/>
                        <a:t>, </a:t>
                      </a:r>
                      <a:r>
                        <a:rPr lang="en-US" sz="1000" err="1">
                          <a:latin typeface="Courier New"/>
                        </a:rPr>
                        <a:t>useradd</a:t>
                      </a:r>
                      <a:endParaRPr lang="en-US" sz="1000">
                        <a:latin typeface="Courier New"/>
                      </a:endParaRP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1000"/>
                        <a:t>Attacker trying to create a new local user for persistence.</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740607273"/>
                  </a:ext>
                </a:extLst>
              </a:tr>
              <a:tr h="701021">
                <a:tc>
                  <a:txBody>
                    <a:bodyPr/>
                    <a:lstStyle/>
                    <a:p>
                      <a:pPr>
                        <a:buNone/>
                      </a:pPr>
                      <a:r>
                        <a:rPr lang="en-US" sz="1000" b="1"/>
                        <a:t>Privilege Escalation</a:t>
                      </a:r>
                      <a:endParaRPr lang="en-US" sz="1000"/>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1000"/>
                        <a:t>T1222</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1000" err="1">
                          <a:latin typeface="Courier New"/>
                        </a:rPr>
                        <a:t>chmod</a:t>
                      </a:r>
                      <a:r>
                        <a:rPr lang="en-US" sz="1000"/>
                        <a:t>, </a:t>
                      </a:r>
                      <a:r>
                        <a:rPr lang="en-US" sz="1000" err="1">
                          <a:latin typeface="Courier New"/>
                        </a:rPr>
                        <a:t>chown</a:t>
                      </a:r>
                      <a:endParaRPr lang="en-US" sz="1000">
                        <a:latin typeface="Courier New"/>
                      </a:endParaRP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1000"/>
                        <a:t>Permission or ownership modification — possible privilege escalation attempt.</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1770220823"/>
                  </a:ext>
                </a:extLst>
              </a:tr>
              <a:tr h="530041">
                <a:tc>
                  <a:txBody>
                    <a:bodyPr/>
                    <a:lstStyle/>
                    <a:p>
                      <a:pPr>
                        <a:buNone/>
                      </a:pPr>
                      <a:r>
                        <a:rPr lang="en-US" sz="1000" b="1"/>
                        <a:t>Discovery</a:t>
                      </a:r>
                      <a:endParaRPr lang="en-US" sz="1000"/>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1000"/>
                        <a:t>T1083</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1000"/>
                        <a:t>URLs referencing </a:t>
                      </a:r>
                      <a:r>
                        <a:rPr lang="en-US" sz="1000">
                          <a:latin typeface="Courier New"/>
                        </a:rPr>
                        <a:t>/</a:t>
                      </a:r>
                      <a:r>
                        <a:rPr lang="en-US" sz="1000" err="1">
                          <a:latin typeface="Courier New"/>
                        </a:rPr>
                        <a:t>etc</a:t>
                      </a:r>
                      <a:r>
                        <a:rPr lang="en-US" sz="1000">
                          <a:latin typeface="Courier New"/>
                        </a:rPr>
                        <a:t>/passwd</a:t>
                      </a:r>
                      <a:r>
                        <a:rPr lang="en-US" sz="1000"/>
                        <a:t>, </a:t>
                      </a:r>
                      <a:r>
                        <a:rPr lang="en-US" sz="1000">
                          <a:latin typeface="Courier New"/>
                        </a:rPr>
                        <a:t>/shadow</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1000"/>
                        <a:t>File discovery or credential dumping attempts.</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3618827263"/>
                  </a:ext>
                </a:extLst>
              </a:tr>
              <a:tr h="530041">
                <a:tc>
                  <a:txBody>
                    <a:bodyPr/>
                    <a:lstStyle/>
                    <a:p>
                      <a:pPr>
                        <a:buNone/>
                      </a:pPr>
                      <a:r>
                        <a:rPr lang="en-US" sz="1000" b="1"/>
                        <a:t>Impact</a:t>
                      </a:r>
                      <a:endParaRPr lang="en-US" sz="1000"/>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1000"/>
                        <a:t>T1485</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1000">
                          <a:latin typeface="Courier New"/>
                        </a:rPr>
                        <a:t>rm -rf</a:t>
                      </a:r>
                      <a:r>
                        <a:rPr lang="en-US" sz="1000"/>
                        <a:t>, </a:t>
                      </a:r>
                      <a:r>
                        <a:rPr lang="en-US" sz="1000">
                          <a:latin typeface="Courier New"/>
                        </a:rPr>
                        <a:t>dd if=</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1000"/>
                        <a:t>Destructive behavior like deleting system files or overwriting data.</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3080282774"/>
                  </a:ext>
                </a:extLst>
              </a:tr>
              <a:tr h="701021">
                <a:tc>
                  <a:txBody>
                    <a:bodyPr/>
                    <a:lstStyle/>
                    <a:p>
                      <a:pPr>
                        <a:buNone/>
                      </a:pPr>
                      <a:r>
                        <a:rPr lang="en-US" sz="1000" b="1"/>
                        <a:t>Command and Control (C2)</a:t>
                      </a:r>
                      <a:endParaRPr lang="en-US" sz="1000"/>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1000"/>
                        <a:t>T1071 / T1105</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1000"/>
                        <a:t>Same as </a:t>
                      </a:r>
                      <a:r>
                        <a:rPr lang="en-US" sz="1000" err="1">
                          <a:latin typeface="Courier New"/>
                        </a:rPr>
                        <a:t>wget</a:t>
                      </a:r>
                      <a:r>
                        <a:rPr lang="en-US" sz="1000"/>
                        <a:t>, </a:t>
                      </a:r>
                      <a:r>
                        <a:rPr lang="en-US" sz="1000">
                          <a:latin typeface="Courier New"/>
                        </a:rPr>
                        <a:t>curl</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1000"/>
                        <a:t>Communication to remote servers to receive further commands.</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2303442587"/>
                  </a:ext>
                </a:extLst>
              </a:tr>
            </a:tbl>
          </a:graphicData>
        </a:graphic>
      </p:graphicFrame>
    </p:spTree>
    <p:extLst>
      <p:ext uri="{BB962C8B-B14F-4D97-AF65-F5344CB8AC3E}">
        <p14:creationId xmlns:p14="http://schemas.microsoft.com/office/powerpoint/2010/main" val="25232786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CEC3D2-44EA-CC6F-386B-20CA8F8BCA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658A2E-11DC-CA84-25E7-612ECB019C4D}"/>
              </a:ext>
            </a:extLst>
          </p:cNvPr>
          <p:cNvSpPr>
            <a:spLocks noGrp="1"/>
          </p:cNvSpPr>
          <p:nvPr>
            <p:ph type="ctrTitle"/>
          </p:nvPr>
        </p:nvSpPr>
        <p:spPr>
          <a:xfrm>
            <a:off x="1524000" y="1134363"/>
            <a:ext cx="8670000" cy="773600"/>
          </a:xfrm>
        </p:spPr>
        <p:txBody>
          <a:bodyPr>
            <a:normAutofit fontScale="90000"/>
          </a:bodyPr>
          <a:lstStyle/>
          <a:p>
            <a:br>
              <a:rPr lang="en-US"/>
            </a:br>
            <a:endParaRPr lang="en-US"/>
          </a:p>
        </p:txBody>
      </p:sp>
      <p:pic>
        <p:nvPicPr>
          <p:cNvPr id="4" name="Picture 3">
            <a:extLst>
              <a:ext uri="{FF2B5EF4-FFF2-40B4-BE49-F238E27FC236}">
                <a16:creationId xmlns:a16="http://schemas.microsoft.com/office/drawing/2014/main" id="{064B6E43-A3CB-D872-1622-0ED76483DD4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1663" y="79092"/>
            <a:ext cx="1740919" cy="402801"/>
          </a:xfrm>
          <a:prstGeom prst="rect">
            <a:avLst/>
          </a:prstGeom>
        </p:spPr>
      </p:pic>
      <p:cxnSp>
        <p:nvCxnSpPr>
          <p:cNvPr id="5" name="Straight Connector 4">
            <a:extLst>
              <a:ext uri="{FF2B5EF4-FFF2-40B4-BE49-F238E27FC236}">
                <a16:creationId xmlns:a16="http://schemas.microsoft.com/office/drawing/2014/main" id="{3A2BD24D-C46F-AC8D-C099-4E41EF43BE4C}"/>
              </a:ext>
            </a:extLst>
          </p:cNvPr>
          <p:cNvCxnSpPr>
            <a:cxnSpLocks/>
          </p:cNvCxnSpPr>
          <p:nvPr/>
        </p:nvCxnSpPr>
        <p:spPr>
          <a:xfrm>
            <a:off x="1098977" y="648466"/>
            <a:ext cx="10235953" cy="0"/>
          </a:xfrm>
          <a:prstGeom prst="line">
            <a:avLst/>
          </a:prstGeom>
        </p:spPr>
        <p:style>
          <a:lnRef idx="3">
            <a:schemeClr val="dk1"/>
          </a:lnRef>
          <a:fillRef idx="0">
            <a:schemeClr val="dk1"/>
          </a:fillRef>
          <a:effectRef idx="2">
            <a:schemeClr val="dk1"/>
          </a:effectRef>
          <a:fontRef idx="minor">
            <a:schemeClr val="tx1"/>
          </a:fontRef>
        </p:style>
      </p:cxnSp>
      <p:cxnSp>
        <p:nvCxnSpPr>
          <p:cNvPr id="6" name="Straight Connector 5">
            <a:extLst>
              <a:ext uri="{FF2B5EF4-FFF2-40B4-BE49-F238E27FC236}">
                <a16:creationId xmlns:a16="http://schemas.microsoft.com/office/drawing/2014/main" id="{A1737F46-9616-C3A3-E085-B1B3E29B6A9D}"/>
              </a:ext>
            </a:extLst>
          </p:cNvPr>
          <p:cNvCxnSpPr/>
          <p:nvPr/>
        </p:nvCxnSpPr>
        <p:spPr>
          <a:xfrm>
            <a:off x="1038687" y="6462943"/>
            <a:ext cx="10369119" cy="0"/>
          </a:xfrm>
          <a:prstGeom prst="line">
            <a:avLst/>
          </a:prstGeom>
        </p:spPr>
        <p:style>
          <a:lnRef idx="3">
            <a:schemeClr val="dk1"/>
          </a:lnRef>
          <a:fillRef idx="0">
            <a:schemeClr val="dk1"/>
          </a:fillRef>
          <a:effectRef idx="2">
            <a:schemeClr val="dk1"/>
          </a:effectRef>
          <a:fontRef idx="minor">
            <a:schemeClr val="tx1"/>
          </a:fontRef>
        </p:style>
      </p:cxnSp>
      <p:sp>
        <p:nvSpPr>
          <p:cNvPr id="7" name="TextBox 7">
            <a:extLst>
              <a:ext uri="{FF2B5EF4-FFF2-40B4-BE49-F238E27FC236}">
                <a16:creationId xmlns:a16="http://schemas.microsoft.com/office/drawing/2014/main" id="{AB94BEE6-0BDD-2057-2B7A-72DF368DC22A}"/>
              </a:ext>
            </a:extLst>
          </p:cNvPr>
          <p:cNvSpPr txBox="1"/>
          <p:nvPr/>
        </p:nvSpPr>
        <p:spPr>
          <a:xfrm>
            <a:off x="8788893" y="319596"/>
            <a:ext cx="2821413" cy="276999"/>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1">
                <a:latin typeface="Times New Roman" panose="02020603050405020304" pitchFamily="18" charset="0"/>
                <a:cs typeface="Times New Roman" panose="02020603050405020304" pitchFamily="18" charset="0"/>
              </a:rPr>
              <a:t>TIFAC – CORE in CYBER SECURITY</a:t>
            </a:r>
            <a:endParaRPr lang="en-IN" sz="1200" b="1">
              <a:latin typeface="Times New Roman" panose="02020603050405020304" pitchFamily="18" charset="0"/>
              <a:cs typeface="Times New Roman" panose="02020603050405020304" pitchFamily="18" charset="0"/>
            </a:endParaRPr>
          </a:p>
        </p:txBody>
      </p:sp>
      <p:sp>
        <p:nvSpPr>
          <p:cNvPr id="8" name="Slide Number Placeholder 10">
            <a:extLst>
              <a:ext uri="{FF2B5EF4-FFF2-40B4-BE49-F238E27FC236}">
                <a16:creationId xmlns:a16="http://schemas.microsoft.com/office/drawing/2014/main" id="{A69087A6-24E5-F799-45D3-BD93382C3F5D}"/>
              </a:ext>
            </a:extLst>
          </p:cNvPr>
          <p:cNvSpPr>
            <a:spLocks noGrp="1"/>
          </p:cNvSpPr>
          <p:nvPr/>
        </p:nvSpPr>
        <p:spPr>
          <a:xfrm>
            <a:off x="8734887"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C3E5B82-863A-4B66-9E4F-DCFAD2A3B854}" type="slidenum">
              <a:rPr lang="en-IN" smtClean="0"/>
              <a:pPr/>
              <a:t>22</a:t>
            </a:fld>
            <a:endParaRPr lang="en-IN"/>
          </a:p>
        </p:txBody>
      </p:sp>
      <p:sp>
        <p:nvSpPr>
          <p:cNvPr id="9" name="Footer Placeholder 11">
            <a:extLst>
              <a:ext uri="{FF2B5EF4-FFF2-40B4-BE49-F238E27FC236}">
                <a16:creationId xmlns:a16="http://schemas.microsoft.com/office/drawing/2014/main" id="{2C8762D0-741B-B89C-240D-3220D9C50EFB}"/>
              </a:ext>
            </a:extLst>
          </p:cNvPr>
          <p:cNvSpPr>
            <a:spLocks noGrp="1"/>
          </p:cNvSpPr>
          <p:nvPr/>
        </p:nvSpPr>
        <p:spPr>
          <a:xfrm>
            <a:off x="4038600" y="64928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20CYS 495 B.Tech CYS: 2022 - 2026 Project Presentation </a:t>
            </a:r>
            <a:endParaRPr lang="en-IN"/>
          </a:p>
        </p:txBody>
      </p:sp>
      <p:sp>
        <p:nvSpPr>
          <p:cNvPr id="3" name="TextBox 2">
            <a:extLst>
              <a:ext uri="{FF2B5EF4-FFF2-40B4-BE49-F238E27FC236}">
                <a16:creationId xmlns:a16="http://schemas.microsoft.com/office/drawing/2014/main" id="{99B4CFA6-B269-7754-0633-EBE1AEE51C2A}"/>
              </a:ext>
            </a:extLst>
          </p:cNvPr>
          <p:cNvSpPr txBox="1"/>
          <p:nvPr/>
        </p:nvSpPr>
        <p:spPr>
          <a:xfrm>
            <a:off x="1086463" y="713511"/>
            <a:ext cx="3915907" cy="64633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ea typeface="+mn-lt"/>
                <a:cs typeface="+mn-lt"/>
              </a:rPr>
              <a:t>Algorithm: Honeypot Log Classification Using MITRE ATT&amp;CK Rules</a:t>
            </a:r>
            <a:endParaRPr lang="en-US" sz="1000"/>
          </a:p>
          <a:p>
            <a:endParaRPr lang="en-US" sz="1000"/>
          </a:p>
          <a:p>
            <a:r>
              <a:rPr lang="en-US" sz="1000">
                <a:ea typeface="+mn-lt"/>
                <a:cs typeface="+mn-lt"/>
              </a:rPr>
              <a:t>1. START</a:t>
            </a:r>
            <a:endParaRPr lang="en-US" sz="1000"/>
          </a:p>
          <a:p>
            <a:endParaRPr lang="en-US" sz="1000"/>
          </a:p>
          <a:p>
            <a:r>
              <a:rPr lang="en-US" sz="1000">
                <a:ea typeface="+mn-lt"/>
                <a:cs typeface="+mn-lt"/>
              </a:rPr>
              <a:t>2. Load MITRE Rule Base</a:t>
            </a:r>
            <a:endParaRPr lang="en-US" sz="1000"/>
          </a:p>
          <a:p>
            <a:r>
              <a:rPr lang="en-US" sz="1000">
                <a:ea typeface="+mn-lt"/>
                <a:cs typeface="+mn-lt"/>
              </a:rPr>
              <a:t>    Initialize </a:t>
            </a:r>
            <a:r>
              <a:rPr lang="en-US" sz="1000" err="1">
                <a:ea typeface="+mn-lt"/>
                <a:cs typeface="+mn-lt"/>
              </a:rPr>
              <a:t>RuleList</a:t>
            </a:r>
            <a:r>
              <a:rPr lang="en-US" sz="1000">
                <a:ea typeface="+mn-lt"/>
                <a:cs typeface="+mn-lt"/>
              </a:rPr>
              <a:t> as empty list</a:t>
            </a:r>
            <a:endParaRPr lang="en-US" sz="1000"/>
          </a:p>
          <a:p>
            <a:r>
              <a:rPr lang="en-US" sz="1000">
                <a:ea typeface="+mn-lt"/>
                <a:cs typeface="+mn-lt"/>
              </a:rPr>
              <a:t>    Open "mitre_rules.csv"</a:t>
            </a:r>
            <a:endParaRPr lang="en-US" sz="1000"/>
          </a:p>
          <a:p>
            <a:r>
              <a:rPr lang="en-US" sz="1000">
                <a:ea typeface="+mn-lt"/>
                <a:cs typeface="+mn-lt"/>
              </a:rPr>
              <a:t>    For each row in CSV:</a:t>
            </a:r>
            <a:endParaRPr lang="en-US" sz="1000"/>
          </a:p>
          <a:p>
            <a:r>
              <a:rPr lang="en-US" sz="1000">
                <a:ea typeface="+mn-lt"/>
                <a:cs typeface="+mn-lt"/>
              </a:rPr>
              <a:t>        Create Rule with:</a:t>
            </a:r>
            <a:endParaRPr lang="en-US" sz="1000"/>
          </a:p>
          <a:p>
            <a:r>
              <a:rPr lang="en-US" sz="1000">
                <a:ea typeface="+mn-lt"/>
                <a:cs typeface="+mn-lt"/>
              </a:rPr>
              <a:t>            pattern        ← row["pattern"]</a:t>
            </a:r>
            <a:endParaRPr lang="en-US" sz="1000"/>
          </a:p>
          <a:p>
            <a:r>
              <a:rPr lang="en-US" sz="1000">
                <a:ea typeface="+mn-lt"/>
                <a:cs typeface="+mn-lt"/>
              </a:rPr>
              <a:t>            </a:t>
            </a:r>
            <a:r>
              <a:rPr lang="en-US" sz="1000" err="1">
                <a:ea typeface="+mn-lt"/>
                <a:cs typeface="+mn-lt"/>
              </a:rPr>
              <a:t>mitre_tactic</a:t>
            </a:r>
            <a:r>
              <a:rPr lang="en-US" sz="1000">
                <a:ea typeface="+mn-lt"/>
                <a:cs typeface="+mn-lt"/>
              </a:rPr>
              <a:t>   ← row["</a:t>
            </a:r>
            <a:r>
              <a:rPr lang="en-US" sz="1000" err="1">
                <a:ea typeface="+mn-lt"/>
                <a:cs typeface="+mn-lt"/>
              </a:rPr>
              <a:t>MITRE_Tactic</a:t>
            </a:r>
            <a:r>
              <a:rPr lang="en-US" sz="1000">
                <a:ea typeface="+mn-lt"/>
                <a:cs typeface="+mn-lt"/>
              </a:rPr>
              <a:t>"]</a:t>
            </a:r>
            <a:endParaRPr lang="en-US" sz="1000"/>
          </a:p>
          <a:p>
            <a:r>
              <a:rPr lang="en-US" sz="1000">
                <a:ea typeface="+mn-lt"/>
                <a:cs typeface="+mn-lt"/>
              </a:rPr>
              <a:t>            </a:t>
            </a:r>
            <a:r>
              <a:rPr lang="en-US" sz="1000" err="1">
                <a:ea typeface="+mn-lt"/>
                <a:cs typeface="+mn-lt"/>
              </a:rPr>
              <a:t>technique_id</a:t>
            </a:r>
            <a:r>
              <a:rPr lang="en-US" sz="1000">
                <a:ea typeface="+mn-lt"/>
                <a:cs typeface="+mn-lt"/>
              </a:rPr>
              <a:t>   ← row["</a:t>
            </a:r>
            <a:r>
              <a:rPr lang="en-US" sz="1000" err="1">
                <a:ea typeface="+mn-lt"/>
                <a:cs typeface="+mn-lt"/>
              </a:rPr>
              <a:t>Technique_ID</a:t>
            </a:r>
            <a:r>
              <a:rPr lang="en-US" sz="1000">
                <a:ea typeface="+mn-lt"/>
                <a:cs typeface="+mn-lt"/>
              </a:rPr>
              <a:t>"]</a:t>
            </a:r>
            <a:endParaRPr lang="en-US" sz="1000"/>
          </a:p>
          <a:p>
            <a:r>
              <a:rPr lang="en-US" sz="1000">
                <a:ea typeface="+mn-lt"/>
                <a:cs typeface="+mn-lt"/>
              </a:rPr>
              <a:t>            </a:t>
            </a:r>
            <a:r>
              <a:rPr lang="en-US" sz="1000" err="1">
                <a:ea typeface="+mn-lt"/>
                <a:cs typeface="+mn-lt"/>
              </a:rPr>
              <a:t>technique_name</a:t>
            </a:r>
            <a:r>
              <a:rPr lang="en-US" sz="1000">
                <a:ea typeface="+mn-lt"/>
                <a:cs typeface="+mn-lt"/>
              </a:rPr>
              <a:t> ← row["</a:t>
            </a:r>
            <a:r>
              <a:rPr lang="en-US" sz="1000" err="1">
                <a:ea typeface="+mn-lt"/>
                <a:cs typeface="+mn-lt"/>
              </a:rPr>
              <a:t>Technique_Name</a:t>
            </a:r>
            <a:r>
              <a:rPr lang="en-US" sz="1000">
                <a:ea typeface="+mn-lt"/>
                <a:cs typeface="+mn-lt"/>
              </a:rPr>
              <a:t>"]</a:t>
            </a:r>
            <a:endParaRPr lang="en-US" sz="1000"/>
          </a:p>
          <a:p>
            <a:r>
              <a:rPr lang="en-US" sz="1000">
                <a:ea typeface="+mn-lt"/>
                <a:cs typeface="+mn-lt"/>
              </a:rPr>
              <a:t>            </a:t>
            </a:r>
            <a:r>
              <a:rPr lang="en-US" sz="1000" err="1">
                <a:ea typeface="+mn-lt"/>
                <a:cs typeface="+mn-lt"/>
              </a:rPr>
              <a:t>apt_group</a:t>
            </a:r>
            <a:r>
              <a:rPr lang="en-US" sz="1000">
                <a:ea typeface="+mn-lt"/>
                <a:cs typeface="+mn-lt"/>
              </a:rPr>
              <a:t>      ← row["</a:t>
            </a:r>
            <a:r>
              <a:rPr lang="en-US" sz="1000" err="1">
                <a:ea typeface="+mn-lt"/>
                <a:cs typeface="+mn-lt"/>
              </a:rPr>
              <a:t>Likely_APT_Group</a:t>
            </a:r>
            <a:r>
              <a:rPr lang="en-US" sz="1000">
                <a:ea typeface="+mn-lt"/>
                <a:cs typeface="+mn-lt"/>
              </a:rPr>
              <a:t>"]</a:t>
            </a:r>
            <a:endParaRPr lang="en-US" sz="1000"/>
          </a:p>
          <a:p>
            <a:r>
              <a:rPr lang="en-US" sz="1000">
                <a:ea typeface="+mn-lt"/>
                <a:cs typeface="+mn-lt"/>
              </a:rPr>
              <a:t>        Add Rule to </a:t>
            </a:r>
            <a:r>
              <a:rPr lang="en-US" sz="1000" err="1">
                <a:ea typeface="+mn-lt"/>
                <a:cs typeface="+mn-lt"/>
              </a:rPr>
              <a:t>RuleList</a:t>
            </a:r>
            <a:endParaRPr lang="en-US" sz="1000" err="1"/>
          </a:p>
          <a:p>
            <a:r>
              <a:rPr lang="en-US" sz="1000">
                <a:ea typeface="+mn-lt"/>
                <a:cs typeface="+mn-lt"/>
              </a:rPr>
              <a:t>    End For</a:t>
            </a:r>
            <a:endParaRPr lang="en-US" sz="1000"/>
          </a:p>
          <a:p>
            <a:endParaRPr lang="en-US" sz="1000"/>
          </a:p>
          <a:p>
            <a:r>
              <a:rPr lang="en-US" sz="1000">
                <a:ea typeface="+mn-lt"/>
                <a:cs typeface="+mn-lt"/>
              </a:rPr>
              <a:t>3. Load Honeypot Log Events</a:t>
            </a:r>
            <a:endParaRPr lang="en-US" sz="1000"/>
          </a:p>
          <a:p>
            <a:r>
              <a:rPr lang="en-US" sz="1000">
                <a:ea typeface="+mn-lt"/>
                <a:cs typeface="+mn-lt"/>
              </a:rPr>
              <a:t>    Initialize </a:t>
            </a:r>
            <a:r>
              <a:rPr lang="en-US" sz="1000" err="1">
                <a:ea typeface="+mn-lt"/>
                <a:cs typeface="+mn-lt"/>
              </a:rPr>
              <a:t>EventList</a:t>
            </a:r>
            <a:r>
              <a:rPr lang="en-US" sz="1000">
                <a:ea typeface="+mn-lt"/>
                <a:cs typeface="+mn-lt"/>
              </a:rPr>
              <a:t> as empty list</a:t>
            </a:r>
            <a:endParaRPr lang="en-US" sz="1000"/>
          </a:p>
          <a:p>
            <a:r>
              <a:rPr lang="en-US" sz="1000">
                <a:ea typeface="+mn-lt"/>
                <a:cs typeface="+mn-lt"/>
              </a:rPr>
              <a:t>    Open honeypot log file or input stream</a:t>
            </a:r>
            <a:endParaRPr lang="en-US" sz="1000"/>
          </a:p>
          <a:p>
            <a:r>
              <a:rPr lang="en-US" sz="1000">
                <a:ea typeface="+mn-lt"/>
                <a:cs typeface="+mn-lt"/>
              </a:rPr>
              <a:t>    For each line in the log:</a:t>
            </a:r>
            <a:endParaRPr lang="en-US" sz="1000"/>
          </a:p>
          <a:p>
            <a:r>
              <a:rPr lang="en-US" sz="1000">
                <a:ea typeface="+mn-lt"/>
                <a:cs typeface="+mn-lt"/>
              </a:rPr>
              <a:t>        Parse line as JSON → Event</a:t>
            </a:r>
            <a:endParaRPr lang="en-US" sz="1000"/>
          </a:p>
          <a:p>
            <a:r>
              <a:rPr lang="en-US" sz="1000">
                <a:ea typeface="+mn-lt"/>
                <a:cs typeface="+mn-lt"/>
              </a:rPr>
              <a:t>        Add Event to </a:t>
            </a:r>
            <a:r>
              <a:rPr lang="en-US" sz="1000" err="1">
                <a:ea typeface="+mn-lt"/>
                <a:cs typeface="+mn-lt"/>
              </a:rPr>
              <a:t>EventList</a:t>
            </a:r>
            <a:endParaRPr lang="en-US" sz="1000" err="1"/>
          </a:p>
          <a:p>
            <a:r>
              <a:rPr lang="en-US" sz="1000">
                <a:ea typeface="+mn-lt"/>
                <a:cs typeface="+mn-lt"/>
              </a:rPr>
              <a:t>    End For</a:t>
            </a:r>
            <a:endParaRPr lang="en-US" sz="1000"/>
          </a:p>
          <a:p>
            <a:endParaRPr lang="en-US" sz="1000"/>
          </a:p>
          <a:p>
            <a:r>
              <a:rPr lang="en-US" sz="1000">
                <a:ea typeface="+mn-lt"/>
                <a:cs typeface="+mn-lt"/>
              </a:rPr>
              <a:t>4. Normalize Event Text</a:t>
            </a:r>
            <a:endParaRPr lang="en-US" sz="1000"/>
          </a:p>
          <a:p>
            <a:r>
              <a:rPr lang="en-US" sz="1000">
                <a:ea typeface="+mn-lt"/>
                <a:cs typeface="+mn-lt"/>
              </a:rPr>
              <a:t>    Define function </a:t>
            </a:r>
            <a:r>
              <a:rPr lang="en-US" sz="1000" err="1">
                <a:ea typeface="+mn-lt"/>
                <a:cs typeface="+mn-lt"/>
              </a:rPr>
              <a:t>ExtractText</a:t>
            </a:r>
            <a:r>
              <a:rPr lang="en-US" sz="1000">
                <a:ea typeface="+mn-lt"/>
                <a:cs typeface="+mn-lt"/>
              </a:rPr>
              <a:t>(Event):</a:t>
            </a:r>
            <a:endParaRPr lang="en-US" sz="1000"/>
          </a:p>
          <a:p>
            <a:r>
              <a:rPr lang="en-US" sz="1000">
                <a:ea typeface="+mn-lt"/>
                <a:cs typeface="+mn-lt"/>
              </a:rPr>
              <a:t>        If Event contains "command" and it is not empty:</a:t>
            </a:r>
            <a:endParaRPr lang="en-US" sz="1000"/>
          </a:p>
          <a:p>
            <a:r>
              <a:rPr lang="en-US" sz="1000">
                <a:ea typeface="+mn-lt"/>
                <a:cs typeface="+mn-lt"/>
              </a:rPr>
              <a:t>            text ← Event["command"]</a:t>
            </a:r>
            <a:endParaRPr lang="en-US" sz="1000"/>
          </a:p>
          <a:p>
            <a:r>
              <a:rPr lang="en-US" sz="1000">
                <a:ea typeface="+mn-lt"/>
                <a:cs typeface="+mn-lt"/>
              </a:rPr>
              <a:t>        Else if Event contains "</a:t>
            </a:r>
            <a:r>
              <a:rPr lang="en-US" sz="1000" err="1">
                <a:ea typeface="+mn-lt"/>
                <a:cs typeface="+mn-lt"/>
              </a:rPr>
              <a:t>url</a:t>
            </a:r>
            <a:r>
              <a:rPr lang="en-US" sz="1000">
                <a:ea typeface="+mn-lt"/>
                <a:cs typeface="+mn-lt"/>
              </a:rPr>
              <a:t>" and it is not empty:</a:t>
            </a:r>
            <a:endParaRPr lang="en-US" sz="1000"/>
          </a:p>
          <a:p>
            <a:r>
              <a:rPr lang="en-US" sz="1000">
                <a:ea typeface="+mn-lt"/>
                <a:cs typeface="+mn-lt"/>
              </a:rPr>
              <a:t>            text ← Event["</a:t>
            </a:r>
            <a:r>
              <a:rPr lang="en-US" sz="1000" err="1">
                <a:ea typeface="+mn-lt"/>
                <a:cs typeface="+mn-lt"/>
              </a:rPr>
              <a:t>url</a:t>
            </a:r>
            <a:r>
              <a:rPr lang="en-US" sz="1000">
                <a:ea typeface="+mn-lt"/>
                <a:cs typeface="+mn-lt"/>
              </a:rPr>
              <a:t>"]</a:t>
            </a:r>
            <a:endParaRPr lang="en-US" sz="1000"/>
          </a:p>
          <a:p>
            <a:r>
              <a:rPr lang="en-US" sz="1000">
                <a:ea typeface="+mn-lt"/>
                <a:cs typeface="+mn-lt"/>
              </a:rPr>
              <a:t>        Else:</a:t>
            </a:r>
            <a:endParaRPr lang="en-US" sz="1000"/>
          </a:p>
          <a:p>
            <a:r>
              <a:rPr lang="en-US" sz="1000">
                <a:ea typeface="+mn-lt"/>
                <a:cs typeface="+mn-lt"/>
              </a:rPr>
              <a:t>            text ← Event["_raw"]</a:t>
            </a:r>
            <a:endParaRPr lang="en-US" sz="1000"/>
          </a:p>
          <a:p>
            <a:r>
              <a:rPr lang="en-US" sz="1000">
                <a:ea typeface="+mn-lt"/>
                <a:cs typeface="+mn-lt"/>
              </a:rPr>
              <a:t>        Convert text to lowercase</a:t>
            </a:r>
            <a:endParaRPr lang="en-US" sz="1000"/>
          </a:p>
          <a:p>
            <a:r>
              <a:rPr lang="en-US" sz="1000">
                <a:ea typeface="+mn-lt"/>
                <a:cs typeface="+mn-lt"/>
              </a:rPr>
              <a:t>        Return text</a:t>
            </a:r>
            <a:endParaRPr lang="en-US" sz="1000"/>
          </a:p>
          <a:p>
            <a:r>
              <a:rPr lang="en-US" sz="1000">
                <a:ea typeface="+mn-lt"/>
                <a:cs typeface="+mn-lt"/>
              </a:rPr>
              <a:t>    End Function</a:t>
            </a:r>
            <a:endParaRPr lang="en-US" sz="1000"/>
          </a:p>
          <a:p>
            <a:endParaRPr lang="en-US"/>
          </a:p>
          <a:p>
            <a:endParaRPr lang="en-US"/>
          </a:p>
          <a:p>
            <a:endParaRPr lang="en-US">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C1832F88-4280-E519-3125-9F81027979E7}"/>
              </a:ext>
            </a:extLst>
          </p:cNvPr>
          <p:cNvSpPr txBox="1"/>
          <p:nvPr/>
        </p:nvSpPr>
        <p:spPr>
          <a:xfrm>
            <a:off x="1319892" y="1687285"/>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0" name="TextBox 9">
            <a:extLst>
              <a:ext uri="{FF2B5EF4-FFF2-40B4-BE49-F238E27FC236}">
                <a16:creationId xmlns:a16="http://schemas.microsoft.com/office/drawing/2014/main" id="{7766E68E-8831-F62B-1B87-445D4DA507FE}"/>
              </a:ext>
            </a:extLst>
          </p:cNvPr>
          <p:cNvSpPr txBox="1"/>
          <p:nvPr/>
        </p:nvSpPr>
        <p:spPr>
          <a:xfrm>
            <a:off x="6385774" y="595647"/>
            <a:ext cx="6031606" cy="683351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rtl="0"/>
            <a:r>
              <a:rPr lang="en-US" sz="1000">
                <a:latin typeface="Aptos"/>
                <a:ea typeface="Segoe UI"/>
                <a:cs typeface="Segoe UI"/>
              </a:rPr>
              <a:t>​</a:t>
            </a:r>
          </a:p>
          <a:p>
            <a:pPr rtl="0">
              <a:lnSpc>
                <a:spcPts val="1350"/>
              </a:lnSpc>
            </a:pPr>
            <a:r>
              <a:rPr lang="en-US" sz="1000" baseline="0">
                <a:latin typeface="Aptos"/>
                <a:ea typeface="Segoe UI"/>
                <a:cs typeface="Segoe UI"/>
              </a:rPr>
              <a:t>5. Match Event Against MITRE Rules</a:t>
            </a:r>
            <a:r>
              <a:rPr lang="en-US" sz="1000">
                <a:latin typeface="Aptos"/>
                <a:ea typeface="Segoe UI"/>
                <a:cs typeface="Segoe UI"/>
              </a:rPr>
              <a:t>​</a:t>
            </a:r>
          </a:p>
          <a:p>
            <a:pPr rtl="0">
              <a:lnSpc>
                <a:spcPts val="1350"/>
              </a:lnSpc>
            </a:pPr>
            <a:r>
              <a:rPr lang="en-US" sz="1000" baseline="0">
                <a:latin typeface="Aptos"/>
                <a:ea typeface="Segoe UI"/>
                <a:cs typeface="Segoe UI"/>
              </a:rPr>
              <a:t>    Define function </a:t>
            </a:r>
            <a:r>
              <a:rPr lang="en-US" sz="1000" baseline="0" err="1">
                <a:latin typeface="Aptos"/>
                <a:ea typeface="Segoe UI"/>
                <a:cs typeface="Segoe UI"/>
              </a:rPr>
              <a:t>ClassifyEvent</a:t>
            </a:r>
            <a:r>
              <a:rPr lang="en-US" sz="1000" baseline="0">
                <a:latin typeface="Aptos"/>
                <a:ea typeface="Segoe UI"/>
                <a:cs typeface="Segoe UI"/>
              </a:rPr>
              <a:t>(Event, </a:t>
            </a:r>
            <a:r>
              <a:rPr lang="en-US" sz="1000" baseline="0" err="1">
                <a:latin typeface="Aptos"/>
                <a:ea typeface="Segoe UI"/>
                <a:cs typeface="Segoe UI"/>
              </a:rPr>
              <a:t>RuleList</a:t>
            </a:r>
            <a:r>
              <a:rPr lang="en-US" sz="1000" baseline="0">
                <a:latin typeface="Aptos"/>
                <a:ea typeface="Segoe UI"/>
                <a:cs typeface="Segoe UI"/>
              </a:rPr>
              <a:t>):</a:t>
            </a:r>
            <a:r>
              <a:rPr lang="en-US" sz="1000">
                <a:latin typeface="Aptos"/>
                <a:ea typeface="Segoe UI"/>
                <a:cs typeface="Segoe UI"/>
              </a:rPr>
              <a:t>​</a:t>
            </a:r>
          </a:p>
          <a:p>
            <a:pPr rtl="0">
              <a:lnSpc>
                <a:spcPts val="1350"/>
              </a:lnSpc>
            </a:pPr>
            <a:r>
              <a:rPr lang="en-US" sz="1000" baseline="0">
                <a:latin typeface="Aptos"/>
                <a:ea typeface="Segoe UI"/>
                <a:cs typeface="Segoe UI"/>
              </a:rPr>
              <a:t>        text ← </a:t>
            </a:r>
            <a:r>
              <a:rPr lang="en-US" sz="1000" baseline="0" err="1">
                <a:latin typeface="Aptos"/>
                <a:ea typeface="Segoe UI"/>
                <a:cs typeface="Segoe UI"/>
              </a:rPr>
              <a:t>ExtractText</a:t>
            </a:r>
            <a:r>
              <a:rPr lang="en-US" sz="1000" baseline="0">
                <a:latin typeface="Aptos"/>
                <a:ea typeface="Segoe UI"/>
                <a:cs typeface="Segoe UI"/>
              </a:rPr>
              <a:t>(Event)</a:t>
            </a:r>
            <a:r>
              <a:rPr lang="en-US" sz="1000">
                <a:latin typeface="Aptos"/>
                <a:ea typeface="Segoe UI"/>
                <a:cs typeface="Segoe UI"/>
              </a:rPr>
              <a:t>​</a:t>
            </a:r>
          </a:p>
          <a:p>
            <a:pPr rtl="0">
              <a:lnSpc>
                <a:spcPts val="1350"/>
              </a:lnSpc>
            </a:pPr>
            <a:r>
              <a:rPr lang="en-US" sz="1000" baseline="0">
                <a:latin typeface="Aptos"/>
                <a:ea typeface="Segoe UI"/>
                <a:cs typeface="Segoe UI"/>
              </a:rPr>
              <a:t>        For each Rule in </a:t>
            </a:r>
            <a:r>
              <a:rPr lang="en-US" sz="1000" baseline="0" err="1">
                <a:latin typeface="Aptos"/>
                <a:ea typeface="Segoe UI"/>
                <a:cs typeface="Segoe UI"/>
              </a:rPr>
              <a:t>RuleList</a:t>
            </a:r>
            <a:r>
              <a:rPr lang="en-US" sz="1000" baseline="0">
                <a:latin typeface="Aptos"/>
                <a:ea typeface="Segoe UI"/>
                <a:cs typeface="Segoe UI"/>
              </a:rPr>
              <a:t>:</a:t>
            </a:r>
            <a:r>
              <a:rPr lang="en-US" sz="1000">
                <a:latin typeface="Aptos"/>
                <a:ea typeface="Segoe UI"/>
                <a:cs typeface="Segoe UI"/>
              </a:rPr>
              <a:t>​</a:t>
            </a:r>
          </a:p>
          <a:p>
            <a:pPr rtl="0">
              <a:lnSpc>
                <a:spcPts val="1350"/>
              </a:lnSpc>
            </a:pPr>
            <a:r>
              <a:rPr lang="en-US" sz="1000" baseline="0">
                <a:latin typeface="Aptos"/>
                <a:ea typeface="Segoe UI"/>
                <a:cs typeface="Segoe UI"/>
              </a:rPr>
              <a:t>            If text matches </a:t>
            </a:r>
            <a:r>
              <a:rPr lang="en-US" sz="1000" baseline="0" err="1">
                <a:latin typeface="Aptos"/>
                <a:ea typeface="Segoe UI"/>
                <a:cs typeface="Segoe UI"/>
              </a:rPr>
              <a:t>Rule.pattern</a:t>
            </a:r>
            <a:r>
              <a:rPr lang="en-US" sz="1000" baseline="0">
                <a:latin typeface="Aptos"/>
                <a:ea typeface="Segoe UI"/>
                <a:cs typeface="Segoe UI"/>
              </a:rPr>
              <a:t> using regex:</a:t>
            </a:r>
            <a:r>
              <a:rPr lang="en-US" sz="1000">
                <a:latin typeface="Aptos"/>
                <a:ea typeface="Segoe UI"/>
                <a:cs typeface="Segoe UI"/>
              </a:rPr>
              <a:t>​</a:t>
            </a:r>
          </a:p>
          <a:p>
            <a:pPr rtl="0">
              <a:lnSpc>
                <a:spcPts val="1350"/>
              </a:lnSpc>
            </a:pPr>
            <a:r>
              <a:rPr lang="en-US" sz="1000" baseline="0">
                <a:latin typeface="Aptos"/>
                <a:ea typeface="Segoe UI"/>
                <a:cs typeface="Segoe UI"/>
              </a:rPr>
              <a:t>                Event["</a:t>
            </a:r>
            <a:r>
              <a:rPr lang="en-US" sz="1000" baseline="0" err="1">
                <a:latin typeface="Aptos"/>
                <a:ea typeface="Segoe UI"/>
                <a:cs typeface="Segoe UI"/>
              </a:rPr>
              <a:t>MITRE_Tactic</a:t>
            </a:r>
            <a:r>
              <a:rPr lang="en-US" sz="1000" baseline="0">
                <a:latin typeface="Aptos"/>
                <a:ea typeface="Segoe UI"/>
                <a:cs typeface="Segoe UI"/>
              </a:rPr>
              <a:t>"]      ← </a:t>
            </a:r>
            <a:r>
              <a:rPr lang="en-US" sz="1000" baseline="0" err="1">
                <a:latin typeface="Aptos"/>
                <a:ea typeface="Segoe UI"/>
                <a:cs typeface="Segoe UI"/>
              </a:rPr>
              <a:t>Rule.mitre_tactic</a:t>
            </a:r>
            <a:r>
              <a:rPr lang="en-US" sz="1000">
                <a:latin typeface="Aptos"/>
                <a:ea typeface="Segoe UI"/>
                <a:cs typeface="Segoe UI"/>
              </a:rPr>
              <a:t>​</a:t>
            </a:r>
          </a:p>
          <a:p>
            <a:pPr rtl="0">
              <a:lnSpc>
                <a:spcPts val="1350"/>
              </a:lnSpc>
            </a:pPr>
            <a:r>
              <a:rPr lang="en-US" sz="1000" baseline="0">
                <a:latin typeface="Aptos"/>
                <a:ea typeface="Segoe UI"/>
                <a:cs typeface="Segoe UI"/>
              </a:rPr>
              <a:t>                Event["</a:t>
            </a:r>
            <a:r>
              <a:rPr lang="en-US" sz="1000" baseline="0" err="1">
                <a:latin typeface="Aptos"/>
                <a:ea typeface="Segoe UI"/>
                <a:cs typeface="Segoe UI"/>
              </a:rPr>
              <a:t>Technique_ID</a:t>
            </a:r>
            <a:r>
              <a:rPr lang="en-US" sz="1000" baseline="0">
                <a:latin typeface="Aptos"/>
                <a:ea typeface="Segoe UI"/>
                <a:cs typeface="Segoe UI"/>
              </a:rPr>
              <a:t>"]      ← </a:t>
            </a:r>
            <a:r>
              <a:rPr lang="en-US" sz="1000" baseline="0" err="1">
                <a:latin typeface="Aptos"/>
                <a:ea typeface="Segoe UI"/>
                <a:cs typeface="Segoe UI"/>
              </a:rPr>
              <a:t>Rule.technique_id</a:t>
            </a:r>
            <a:r>
              <a:rPr lang="en-US" sz="1000">
                <a:latin typeface="Aptos"/>
                <a:ea typeface="Segoe UI"/>
                <a:cs typeface="Segoe UI"/>
              </a:rPr>
              <a:t>​</a:t>
            </a:r>
          </a:p>
          <a:p>
            <a:pPr rtl="0">
              <a:lnSpc>
                <a:spcPts val="1350"/>
              </a:lnSpc>
            </a:pPr>
            <a:r>
              <a:rPr lang="en-US" sz="1000" baseline="0">
                <a:latin typeface="Aptos"/>
                <a:ea typeface="Segoe UI"/>
                <a:cs typeface="Segoe UI"/>
              </a:rPr>
              <a:t>                Event["</a:t>
            </a:r>
            <a:r>
              <a:rPr lang="en-US" sz="1000" baseline="0" err="1">
                <a:latin typeface="Aptos"/>
                <a:ea typeface="Segoe UI"/>
                <a:cs typeface="Segoe UI"/>
              </a:rPr>
              <a:t>Technique_Name</a:t>
            </a:r>
            <a:r>
              <a:rPr lang="en-US" sz="1000" baseline="0">
                <a:latin typeface="Aptos"/>
                <a:ea typeface="Segoe UI"/>
                <a:cs typeface="Segoe UI"/>
              </a:rPr>
              <a:t>"]    ← </a:t>
            </a:r>
            <a:r>
              <a:rPr lang="en-US" sz="1000" baseline="0" err="1">
                <a:latin typeface="Aptos"/>
                <a:ea typeface="Segoe UI"/>
                <a:cs typeface="Segoe UI"/>
              </a:rPr>
              <a:t>Rule.technique_name</a:t>
            </a:r>
            <a:r>
              <a:rPr lang="en-US" sz="1000">
                <a:latin typeface="Aptos"/>
                <a:ea typeface="Segoe UI"/>
                <a:cs typeface="Segoe UI"/>
              </a:rPr>
              <a:t>​</a:t>
            </a:r>
          </a:p>
          <a:p>
            <a:pPr rtl="0">
              <a:lnSpc>
                <a:spcPts val="1350"/>
              </a:lnSpc>
            </a:pPr>
            <a:r>
              <a:rPr lang="en-US" sz="1000" baseline="0">
                <a:latin typeface="Aptos"/>
                <a:ea typeface="Segoe UI"/>
                <a:cs typeface="Segoe UI"/>
              </a:rPr>
              <a:t>                Event["</a:t>
            </a:r>
            <a:r>
              <a:rPr lang="en-US" sz="1000" baseline="0" err="1">
                <a:latin typeface="Aptos"/>
                <a:ea typeface="Segoe UI"/>
                <a:cs typeface="Segoe UI"/>
              </a:rPr>
              <a:t>Likely_APT_Group</a:t>
            </a:r>
            <a:r>
              <a:rPr lang="en-US" sz="1000" baseline="0">
                <a:latin typeface="Aptos"/>
                <a:ea typeface="Segoe UI"/>
                <a:cs typeface="Segoe UI"/>
              </a:rPr>
              <a:t>"]  ← </a:t>
            </a:r>
            <a:r>
              <a:rPr lang="en-US" sz="1000" baseline="0" err="1">
                <a:latin typeface="Aptos"/>
                <a:ea typeface="Segoe UI"/>
                <a:cs typeface="Segoe UI"/>
              </a:rPr>
              <a:t>Rule.apt_group</a:t>
            </a:r>
            <a:r>
              <a:rPr lang="en-US" sz="1000">
                <a:latin typeface="Aptos"/>
                <a:ea typeface="Segoe UI"/>
                <a:cs typeface="Segoe UI"/>
              </a:rPr>
              <a:t>​</a:t>
            </a:r>
          </a:p>
          <a:p>
            <a:pPr rtl="0">
              <a:lnSpc>
                <a:spcPts val="1350"/>
              </a:lnSpc>
            </a:pPr>
            <a:r>
              <a:rPr lang="en-US" sz="1000" baseline="0">
                <a:latin typeface="Aptos"/>
                <a:ea typeface="Segoe UI"/>
                <a:cs typeface="Segoe UI"/>
              </a:rPr>
              <a:t>                Event["</a:t>
            </a:r>
            <a:r>
              <a:rPr lang="en-US" sz="1000" baseline="0" err="1">
                <a:latin typeface="Aptos"/>
                <a:ea typeface="Segoe UI"/>
                <a:cs typeface="Segoe UI"/>
              </a:rPr>
              <a:t>Matched_Pattern</a:t>
            </a:r>
            <a:r>
              <a:rPr lang="en-US" sz="1000" baseline="0">
                <a:latin typeface="Aptos"/>
                <a:ea typeface="Segoe UI"/>
                <a:cs typeface="Segoe UI"/>
              </a:rPr>
              <a:t>"]   ← </a:t>
            </a:r>
            <a:r>
              <a:rPr lang="en-US" sz="1000" baseline="0" err="1">
                <a:latin typeface="Aptos"/>
                <a:ea typeface="Segoe UI"/>
                <a:cs typeface="Segoe UI"/>
              </a:rPr>
              <a:t>Rule.pattern</a:t>
            </a:r>
            <a:r>
              <a:rPr lang="en-US" sz="1000">
                <a:latin typeface="Aptos"/>
                <a:ea typeface="Segoe UI"/>
                <a:cs typeface="Segoe UI"/>
              </a:rPr>
              <a:t>​</a:t>
            </a:r>
          </a:p>
          <a:p>
            <a:pPr rtl="0">
              <a:lnSpc>
                <a:spcPts val="1350"/>
              </a:lnSpc>
            </a:pPr>
            <a:r>
              <a:rPr lang="en-US" sz="1000" baseline="0">
                <a:latin typeface="Aptos"/>
                <a:ea typeface="Segoe UI"/>
                <a:cs typeface="Segoe UI"/>
              </a:rPr>
              <a:t>                Return Event   // First matched rule is applied</a:t>
            </a:r>
            <a:r>
              <a:rPr lang="en-US" sz="1000">
                <a:latin typeface="Aptos"/>
                <a:ea typeface="Segoe UI"/>
                <a:cs typeface="Segoe UI"/>
              </a:rPr>
              <a:t>​</a:t>
            </a:r>
          </a:p>
          <a:p>
            <a:pPr rtl="0">
              <a:lnSpc>
                <a:spcPts val="1350"/>
              </a:lnSpc>
            </a:pPr>
            <a:r>
              <a:rPr lang="en-US" sz="1000" baseline="0">
                <a:latin typeface="Aptos"/>
                <a:ea typeface="Segoe UI"/>
                <a:cs typeface="Segoe UI"/>
              </a:rPr>
              <a:t>        End For</a:t>
            </a:r>
            <a:r>
              <a:rPr lang="en-US" sz="1000">
                <a:latin typeface="Aptos"/>
                <a:ea typeface="Segoe UI"/>
                <a:cs typeface="Segoe UI"/>
              </a:rPr>
              <a:t>​</a:t>
            </a:r>
          </a:p>
          <a:p>
            <a:pPr rtl="0">
              <a:lnSpc>
                <a:spcPts val="1350"/>
              </a:lnSpc>
            </a:pPr>
            <a:r>
              <a:rPr lang="en-US" sz="1000" baseline="0">
                <a:latin typeface="Aptos"/>
                <a:ea typeface="Segoe UI"/>
                <a:cs typeface="Segoe UI"/>
              </a:rPr>
              <a:t>        // No rule matched</a:t>
            </a:r>
            <a:r>
              <a:rPr lang="en-US" sz="1000">
                <a:latin typeface="Aptos"/>
                <a:ea typeface="Segoe UI"/>
                <a:cs typeface="Segoe UI"/>
              </a:rPr>
              <a:t>​</a:t>
            </a:r>
          </a:p>
          <a:p>
            <a:pPr rtl="0">
              <a:lnSpc>
                <a:spcPts val="1350"/>
              </a:lnSpc>
            </a:pPr>
            <a:r>
              <a:rPr lang="en-US" sz="1000" baseline="0">
                <a:latin typeface="Aptos"/>
                <a:ea typeface="Segoe UI"/>
                <a:cs typeface="Segoe UI"/>
              </a:rPr>
              <a:t>        Event["</a:t>
            </a:r>
            <a:r>
              <a:rPr lang="en-US" sz="1000" baseline="0" err="1">
                <a:latin typeface="Aptos"/>
                <a:ea typeface="Segoe UI"/>
                <a:cs typeface="Segoe UI"/>
              </a:rPr>
              <a:t>MITRE_Tactic</a:t>
            </a:r>
            <a:r>
              <a:rPr lang="en-US" sz="1000" baseline="0">
                <a:latin typeface="Aptos"/>
                <a:ea typeface="Segoe UI"/>
                <a:cs typeface="Segoe UI"/>
              </a:rPr>
              <a:t>"]      ← "Unclassified"</a:t>
            </a:r>
            <a:r>
              <a:rPr lang="en-US" sz="1000">
                <a:latin typeface="Aptos"/>
                <a:ea typeface="Segoe UI"/>
                <a:cs typeface="Segoe UI"/>
              </a:rPr>
              <a:t>​</a:t>
            </a:r>
          </a:p>
          <a:p>
            <a:pPr rtl="0">
              <a:lnSpc>
                <a:spcPts val="1350"/>
              </a:lnSpc>
            </a:pPr>
            <a:r>
              <a:rPr lang="en-US" sz="1000" baseline="0">
                <a:latin typeface="Aptos"/>
                <a:ea typeface="Segoe UI"/>
                <a:cs typeface="Segoe UI"/>
              </a:rPr>
              <a:t>        Event["</a:t>
            </a:r>
            <a:r>
              <a:rPr lang="en-US" sz="1000" baseline="0" err="1">
                <a:latin typeface="Aptos"/>
                <a:ea typeface="Segoe UI"/>
                <a:cs typeface="Segoe UI"/>
              </a:rPr>
              <a:t>Technique_ID</a:t>
            </a:r>
            <a:r>
              <a:rPr lang="en-US" sz="1000" baseline="0">
                <a:latin typeface="Aptos"/>
                <a:ea typeface="Segoe UI"/>
                <a:cs typeface="Segoe UI"/>
              </a:rPr>
              <a:t>"]      ← "-"</a:t>
            </a:r>
            <a:r>
              <a:rPr lang="en-US" sz="1000">
                <a:latin typeface="Aptos"/>
                <a:ea typeface="Segoe UI"/>
                <a:cs typeface="Segoe UI"/>
              </a:rPr>
              <a:t>​</a:t>
            </a:r>
          </a:p>
          <a:p>
            <a:pPr rtl="0">
              <a:lnSpc>
                <a:spcPts val="1350"/>
              </a:lnSpc>
            </a:pPr>
            <a:r>
              <a:rPr lang="en-US" sz="1000" baseline="0">
                <a:latin typeface="Aptos"/>
                <a:ea typeface="Segoe UI"/>
                <a:cs typeface="Segoe UI"/>
              </a:rPr>
              <a:t>        Event["</a:t>
            </a:r>
            <a:r>
              <a:rPr lang="en-US" sz="1000" baseline="0" err="1">
                <a:latin typeface="Aptos"/>
                <a:ea typeface="Segoe UI"/>
                <a:cs typeface="Segoe UI"/>
              </a:rPr>
              <a:t>Technique_Name</a:t>
            </a:r>
            <a:r>
              <a:rPr lang="en-US" sz="1000" baseline="0">
                <a:latin typeface="Aptos"/>
                <a:ea typeface="Segoe UI"/>
                <a:cs typeface="Segoe UI"/>
              </a:rPr>
              <a:t>"]    ← "-"</a:t>
            </a:r>
            <a:r>
              <a:rPr lang="en-US" sz="1000">
                <a:latin typeface="Aptos"/>
                <a:ea typeface="Segoe UI"/>
                <a:cs typeface="Segoe UI"/>
              </a:rPr>
              <a:t>​</a:t>
            </a:r>
          </a:p>
          <a:p>
            <a:pPr rtl="0">
              <a:lnSpc>
                <a:spcPts val="1350"/>
              </a:lnSpc>
            </a:pPr>
            <a:r>
              <a:rPr lang="en-US" sz="1000" baseline="0">
                <a:latin typeface="Aptos"/>
                <a:ea typeface="Segoe UI"/>
                <a:cs typeface="Segoe UI"/>
              </a:rPr>
              <a:t>        Event["</a:t>
            </a:r>
            <a:r>
              <a:rPr lang="en-US" sz="1000" baseline="0" err="1">
                <a:latin typeface="Aptos"/>
                <a:ea typeface="Segoe UI"/>
                <a:cs typeface="Segoe UI"/>
              </a:rPr>
              <a:t>Likely_APT_Group</a:t>
            </a:r>
            <a:r>
              <a:rPr lang="en-US" sz="1000" baseline="0">
                <a:latin typeface="Aptos"/>
                <a:ea typeface="Segoe UI"/>
                <a:cs typeface="Segoe UI"/>
              </a:rPr>
              <a:t>"]  ← "Unknown"</a:t>
            </a:r>
            <a:r>
              <a:rPr lang="en-US" sz="1000">
                <a:latin typeface="Aptos"/>
                <a:ea typeface="Segoe UI"/>
                <a:cs typeface="Segoe UI"/>
              </a:rPr>
              <a:t>​</a:t>
            </a:r>
          </a:p>
          <a:p>
            <a:pPr rtl="0">
              <a:lnSpc>
                <a:spcPts val="1350"/>
              </a:lnSpc>
            </a:pPr>
            <a:r>
              <a:rPr lang="en-US" sz="1000" baseline="0">
                <a:latin typeface="Aptos"/>
                <a:ea typeface="Segoe UI"/>
                <a:cs typeface="Segoe UI"/>
              </a:rPr>
              <a:t>        Event["</a:t>
            </a:r>
            <a:r>
              <a:rPr lang="en-US" sz="1000" baseline="0" err="1">
                <a:latin typeface="Aptos"/>
                <a:ea typeface="Segoe UI"/>
                <a:cs typeface="Segoe UI"/>
              </a:rPr>
              <a:t>Matched_Pattern</a:t>
            </a:r>
            <a:r>
              <a:rPr lang="en-US" sz="1000" baseline="0">
                <a:latin typeface="Aptos"/>
                <a:ea typeface="Segoe UI"/>
                <a:cs typeface="Segoe UI"/>
              </a:rPr>
              <a:t>"]   ← "None"</a:t>
            </a:r>
            <a:r>
              <a:rPr lang="en-US" sz="1000">
                <a:latin typeface="Aptos"/>
                <a:ea typeface="Segoe UI"/>
                <a:cs typeface="Segoe UI"/>
              </a:rPr>
              <a:t>​</a:t>
            </a:r>
          </a:p>
          <a:p>
            <a:pPr rtl="0">
              <a:lnSpc>
                <a:spcPts val="1350"/>
              </a:lnSpc>
            </a:pPr>
            <a:r>
              <a:rPr lang="en-US" sz="1000" baseline="0">
                <a:latin typeface="Aptos"/>
                <a:ea typeface="Segoe UI"/>
                <a:cs typeface="Segoe UI"/>
              </a:rPr>
              <a:t>        Return Event</a:t>
            </a:r>
            <a:r>
              <a:rPr lang="en-US" sz="1000">
                <a:latin typeface="Aptos"/>
                <a:ea typeface="Segoe UI"/>
                <a:cs typeface="Segoe UI"/>
              </a:rPr>
              <a:t>​</a:t>
            </a:r>
          </a:p>
          <a:p>
            <a:pPr rtl="0">
              <a:lnSpc>
                <a:spcPts val="1350"/>
              </a:lnSpc>
            </a:pPr>
            <a:r>
              <a:rPr lang="en-US" sz="1000" baseline="0">
                <a:latin typeface="Aptos"/>
                <a:ea typeface="Segoe UI"/>
                <a:cs typeface="Segoe UI"/>
              </a:rPr>
              <a:t>    End Function</a:t>
            </a:r>
            <a:r>
              <a:rPr lang="en-US" sz="1000">
                <a:latin typeface="Aptos"/>
                <a:ea typeface="Segoe UI"/>
                <a:cs typeface="Segoe UI"/>
              </a:rPr>
              <a:t>​</a:t>
            </a:r>
          </a:p>
          <a:p>
            <a:pPr rtl="0">
              <a:lnSpc>
                <a:spcPts val="1350"/>
              </a:lnSpc>
            </a:pPr>
            <a:r>
              <a:rPr lang="en-US" sz="1000">
                <a:latin typeface="Aptos"/>
                <a:ea typeface="Segoe UI"/>
                <a:cs typeface="Segoe UI"/>
              </a:rPr>
              <a:t>​</a:t>
            </a:r>
          </a:p>
          <a:p>
            <a:pPr rtl="0">
              <a:lnSpc>
                <a:spcPts val="1350"/>
              </a:lnSpc>
            </a:pPr>
            <a:r>
              <a:rPr lang="en-US" sz="1000" baseline="0">
                <a:latin typeface="Aptos"/>
                <a:ea typeface="Segoe UI"/>
                <a:cs typeface="Segoe UI"/>
              </a:rPr>
              <a:t>6. Process All Events</a:t>
            </a:r>
            <a:r>
              <a:rPr lang="en-US" sz="1000">
                <a:latin typeface="Aptos"/>
                <a:ea typeface="Segoe UI"/>
                <a:cs typeface="Segoe UI"/>
              </a:rPr>
              <a:t>​</a:t>
            </a:r>
          </a:p>
          <a:p>
            <a:pPr rtl="0">
              <a:lnSpc>
                <a:spcPts val="1350"/>
              </a:lnSpc>
            </a:pPr>
            <a:r>
              <a:rPr lang="en-US" sz="1000" baseline="0">
                <a:latin typeface="Aptos"/>
                <a:ea typeface="Segoe UI"/>
                <a:cs typeface="Segoe UI"/>
              </a:rPr>
              <a:t>    Initialize </a:t>
            </a:r>
            <a:r>
              <a:rPr lang="en-US" sz="1000" baseline="0" err="1">
                <a:latin typeface="Aptos"/>
                <a:ea typeface="Segoe UI"/>
                <a:cs typeface="Segoe UI"/>
              </a:rPr>
              <a:t>ClassifiedEvents</a:t>
            </a:r>
            <a:r>
              <a:rPr lang="en-US" sz="1000" baseline="0">
                <a:latin typeface="Aptos"/>
                <a:ea typeface="Segoe UI"/>
                <a:cs typeface="Segoe UI"/>
              </a:rPr>
              <a:t> as empty list</a:t>
            </a:r>
            <a:r>
              <a:rPr lang="en-US" sz="1000">
                <a:latin typeface="Aptos"/>
                <a:ea typeface="Segoe UI"/>
                <a:cs typeface="Segoe UI"/>
              </a:rPr>
              <a:t>​</a:t>
            </a:r>
          </a:p>
          <a:p>
            <a:pPr rtl="0">
              <a:lnSpc>
                <a:spcPts val="1350"/>
              </a:lnSpc>
            </a:pPr>
            <a:r>
              <a:rPr lang="en-US" sz="1000" baseline="0">
                <a:latin typeface="Aptos"/>
                <a:ea typeface="Segoe UI"/>
                <a:cs typeface="Segoe UI"/>
              </a:rPr>
              <a:t>    For each Event in </a:t>
            </a:r>
            <a:r>
              <a:rPr lang="en-US" sz="1000" baseline="0" err="1">
                <a:latin typeface="Aptos"/>
                <a:ea typeface="Segoe UI"/>
                <a:cs typeface="Segoe UI"/>
              </a:rPr>
              <a:t>EventList</a:t>
            </a:r>
            <a:r>
              <a:rPr lang="en-US" sz="1000" baseline="0">
                <a:latin typeface="Aptos"/>
                <a:ea typeface="Segoe UI"/>
                <a:cs typeface="Segoe UI"/>
              </a:rPr>
              <a:t>:</a:t>
            </a:r>
            <a:r>
              <a:rPr lang="en-US" sz="1000">
                <a:latin typeface="Aptos"/>
                <a:ea typeface="Segoe UI"/>
                <a:cs typeface="Segoe UI"/>
              </a:rPr>
              <a:t>​</a:t>
            </a:r>
          </a:p>
          <a:p>
            <a:pPr rtl="0">
              <a:lnSpc>
                <a:spcPts val="1350"/>
              </a:lnSpc>
            </a:pPr>
            <a:r>
              <a:rPr lang="en-US" sz="1000" baseline="0">
                <a:latin typeface="Aptos"/>
                <a:ea typeface="Segoe UI"/>
                <a:cs typeface="Segoe UI"/>
              </a:rPr>
              <a:t>        </a:t>
            </a:r>
            <a:r>
              <a:rPr lang="en-US" sz="1000" baseline="0" err="1">
                <a:latin typeface="Aptos"/>
                <a:ea typeface="Segoe UI"/>
                <a:cs typeface="Segoe UI"/>
              </a:rPr>
              <a:t>ClassifiedEvent</a:t>
            </a:r>
            <a:r>
              <a:rPr lang="en-US" sz="1000" baseline="0">
                <a:latin typeface="Aptos"/>
                <a:ea typeface="Segoe UI"/>
                <a:cs typeface="Segoe UI"/>
              </a:rPr>
              <a:t> ← </a:t>
            </a:r>
            <a:r>
              <a:rPr lang="en-US" sz="1000" baseline="0" err="1">
                <a:latin typeface="Aptos"/>
                <a:ea typeface="Segoe UI"/>
                <a:cs typeface="Segoe UI"/>
              </a:rPr>
              <a:t>ClassifyEvent</a:t>
            </a:r>
            <a:r>
              <a:rPr lang="en-US" sz="1000" baseline="0">
                <a:latin typeface="Aptos"/>
                <a:ea typeface="Segoe UI"/>
                <a:cs typeface="Segoe UI"/>
              </a:rPr>
              <a:t>(Event, </a:t>
            </a:r>
            <a:r>
              <a:rPr lang="en-US" sz="1000" baseline="0" err="1">
                <a:latin typeface="Aptos"/>
                <a:ea typeface="Segoe UI"/>
                <a:cs typeface="Segoe UI"/>
              </a:rPr>
              <a:t>RuleList</a:t>
            </a:r>
            <a:r>
              <a:rPr lang="en-US" sz="1000" baseline="0">
                <a:latin typeface="Aptos"/>
                <a:ea typeface="Segoe UI"/>
                <a:cs typeface="Segoe UI"/>
              </a:rPr>
              <a:t>)</a:t>
            </a:r>
            <a:r>
              <a:rPr lang="en-US" sz="1000">
                <a:latin typeface="Aptos"/>
                <a:ea typeface="Segoe UI"/>
                <a:cs typeface="Segoe UI"/>
              </a:rPr>
              <a:t>​</a:t>
            </a:r>
          </a:p>
          <a:p>
            <a:pPr rtl="0">
              <a:lnSpc>
                <a:spcPts val="1350"/>
              </a:lnSpc>
            </a:pPr>
            <a:r>
              <a:rPr lang="en-US" sz="1000" baseline="0">
                <a:latin typeface="Aptos"/>
                <a:ea typeface="Segoe UI"/>
                <a:cs typeface="Segoe UI"/>
              </a:rPr>
              <a:t>        Add </a:t>
            </a:r>
            <a:r>
              <a:rPr lang="en-US" sz="1000" baseline="0" err="1">
                <a:latin typeface="Aptos"/>
                <a:ea typeface="Segoe UI"/>
                <a:cs typeface="Segoe UI"/>
              </a:rPr>
              <a:t>ClassifiedEvent</a:t>
            </a:r>
            <a:r>
              <a:rPr lang="en-US" sz="1000" baseline="0">
                <a:latin typeface="Aptos"/>
                <a:ea typeface="Segoe UI"/>
                <a:cs typeface="Segoe UI"/>
              </a:rPr>
              <a:t> to </a:t>
            </a:r>
            <a:r>
              <a:rPr lang="en-US" sz="1000" baseline="0" err="1">
                <a:latin typeface="Aptos"/>
                <a:ea typeface="Segoe UI"/>
                <a:cs typeface="Segoe UI"/>
              </a:rPr>
              <a:t>ClassifiedEvents</a:t>
            </a:r>
            <a:r>
              <a:rPr lang="en-US" sz="1000">
                <a:latin typeface="Aptos"/>
                <a:ea typeface="Segoe UI"/>
                <a:cs typeface="Segoe UI"/>
              </a:rPr>
              <a:t>​</a:t>
            </a:r>
          </a:p>
          <a:p>
            <a:pPr rtl="0">
              <a:lnSpc>
                <a:spcPts val="1350"/>
              </a:lnSpc>
            </a:pPr>
            <a:r>
              <a:rPr lang="en-US" sz="1000" baseline="0">
                <a:latin typeface="Aptos"/>
                <a:ea typeface="Segoe UI"/>
                <a:cs typeface="Segoe UI"/>
              </a:rPr>
              <a:t>    End For</a:t>
            </a:r>
            <a:r>
              <a:rPr lang="en-US" sz="1000">
                <a:latin typeface="Aptos"/>
                <a:ea typeface="Segoe UI"/>
                <a:cs typeface="Segoe UI"/>
              </a:rPr>
              <a:t>​</a:t>
            </a:r>
          </a:p>
          <a:p>
            <a:pPr rtl="0">
              <a:lnSpc>
                <a:spcPts val="1350"/>
              </a:lnSpc>
            </a:pPr>
            <a:r>
              <a:rPr lang="en-US" sz="1000">
                <a:latin typeface="Aptos"/>
                <a:ea typeface="Segoe UI"/>
                <a:cs typeface="Segoe UI"/>
              </a:rPr>
              <a:t>​</a:t>
            </a:r>
          </a:p>
          <a:p>
            <a:pPr rtl="0">
              <a:lnSpc>
                <a:spcPts val="1350"/>
              </a:lnSpc>
            </a:pPr>
            <a:r>
              <a:rPr lang="en-US" sz="1000" baseline="0">
                <a:latin typeface="Aptos"/>
                <a:ea typeface="Segoe UI"/>
                <a:cs typeface="Segoe UI"/>
              </a:rPr>
              <a:t>7. Output Classified Events</a:t>
            </a:r>
            <a:r>
              <a:rPr lang="en-US" sz="1000">
                <a:latin typeface="Aptos"/>
                <a:ea typeface="Segoe UI"/>
                <a:cs typeface="Segoe UI"/>
              </a:rPr>
              <a:t>​</a:t>
            </a:r>
          </a:p>
          <a:p>
            <a:pPr rtl="0">
              <a:lnSpc>
                <a:spcPts val="1350"/>
              </a:lnSpc>
            </a:pPr>
            <a:r>
              <a:rPr lang="en-US" sz="1000" baseline="0">
                <a:latin typeface="Aptos"/>
                <a:ea typeface="Segoe UI"/>
                <a:cs typeface="Segoe UI"/>
              </a:rPr>
              <a:t>    For each </a:t>
            </a:r>
            <a:r>
              <a:rPr lang="en-US" sz="1000" baseline="0" err="1">
                <a:latin typeface="Aptos"/>
                <a:ea typeface="Segoe UI"/>
                <a:cs typeface="Segoe UI"/>
              </a:rPr>
              <a:t>ClassifiedEvent</a:t>
            </a:r>
            <a:r>
              <a:rPr lang="en-US" sz="1000" baseline="0">
                <a:latin typeface="Aptos"/>
                <a:ea typeface="Segoe UI"/>
                <a:cs typeface="Segoe UI"/>
              </a:rPr>
              <a:t> in </a:t>
            </a:r>
            <a:r>
              <a:rPr lang="en-US" sz="1000" baseline="0" err="1">
                <a:latin typeface="Aptos"/>
                <a:ea typeface="Segoe UI"/>
                <a:cs typeface="Segoe UI"/>
              </a:rPr>
              <a:t>ClassifiedEvents</a:t>
            </a:r>
            <a:r>
              <a:rPr lang="en-US" sz="1000" baseline="0">
                <a:latin typeface="Aptos"/>
                <a:ea typeface="Segoe UI"/>
                <a:cs typeface="Segoe UI"/>
              </a:rPr>
              <a:t>:</a:t>
            </a:r>
            <a:r>
              <a:rPr lang="en-US" sz="1000">
                <a:latin typeface="Aptos"/>
                <a:ea typeface="Segoe UI"/>
                <a:cs typeface="Segoe UI"/>
              </a:rPr>
              <a:t>​</a:t>
            </a:r>
          </a:p>
          <a:p>
            <a:pPr rtl="0">
              <a:lnSpc>
                <a:spcPts val="1350"/>
              </a:lnSpc>
            </a:pPr>
            <a:r>
              <a:rPr lang="en-US" sz="1000" baseline="0">
                <a:latin typeface="Aptos"/>
                <a:ea typeface="Segoe UI"/>
                <a:cs typeface="Segoe UI"/>
              </a:rPr>
              <a:t>        Convert event to JSON or desired output format</a:t>
            </a:r>
            <a:r>
              <a:rPr lang="en-US" sz="1000">
                <a:latin typeface="Aptos"/>
                <a:ea typeface="Segoe UI"/>
                <a:cs typeface="Segoe UI"/>
              </a:rPr>
              <a:t>​</a:t>
            </a:r>
          </a:p>
          <a:p>
            <a:pPr rtl="0">
              <a:lnSpc>
                <a:spcPts val="1350"/>
              </a:lnSpc>
            </a:pPr>
            <a:r>
              <a:rPr lang="en-US" sz="1000" baseline="0">
                <a:latin typeface="Aptos"/>
                <a:ea typeface="Segoe UI"/>
                <a:cs typeface="Segoe UI"/>
              </a:rPr>
              <a:t>        Print or store or send to SIEM (e.g., Splunk)</a:t>
            </a:r>
            <a:r>
              <a:rPr lang="en-US" sz="1000">
                <a:latin typeface="Aptos"/>
                <a:ea typeface="Segoe UI"/>
                <a:cs typeface="Segoe UI"/>
              </a:rPr>
              <a:t>​</a:t>
            </a:r>
          </a:p>
          <a:p>
            <a:pPr rtl="0">
              <a:lnSpc>
                <a:spcPts val="1350"/>
              </a:lnSpc>
            </a:pPr>
            <a:r>
              <a:rPr lang="en-US" sz="1000" baseline="0">
                <a:latin typeface="Aptos"/>
                <a:ea typeface="Segoe UI"/>
                <a:cs typeface="Segoe UI"/>
              </a:rPr>
              <a:t>    End For</a:t>
            </a:r>
            <a:r>
              <a:rPr lang="en-US" sz="1000">
                <a:latin typeface="Aptos"/>
                <a:ea typeface="Segoe UI"/>
                <a:cs typeface="Segoe UI"/>
              </a:rPr>
              <a:t>​</a:t>
            </a:r>
          </a:p>
          <a:p>
            <a:pPr rtl="0">
              <a:lnSpc>
                <a:spcPts val="1350"/>
              </a:lnSpc>
            </a:pPr>
            <a:r>
              <a:rPr lang="en-US" sz="1000">
                <a:latin typeface="Aptos"/>
                <a:ea typeface="Segoe UI"/>
                <a:cs typeface="Segoe UI"/>
              </a:rPr>
              <a:t>​</a:t>
            </a:r>
          </a:p>
          <a:p>
            <a:pPr rtl="0">
              <a:lnSpc>
                <a:spcPts val="1350"/>
              </a:lnSpc>
            </a:pPr>
            <a:endParaRPr lang="en-US" sz="1000" baseline="0">
              <a:latin typeface="Aptos"/>
              <a:ea typeface="Segoe UI"/>
              <a:cs typeface="Segoe UI"/>
            </a:endParaRPr>
          </a:p>
          <a:p>
            <a:pPr algn="ctr"/>
            <a:endParaRPr lang="en-US" sz="1000"/>
          </a:p>
        </p:txBody>
      </p:sp>
    </p:spTree>
    <p:extLst>
      <p:ext uri="{BB962C8B-B14F-4D97-AF65-F5344CB8AC3E}">
        <p14:creationId xmlns:p14="http://schemas.microsoft.com/office/powerpoint/2010/main" val="208979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5D39AF-7058-6307-9FFD-4453F4B672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14E335-E2C6-4305-7DAF-39E118136D41}"/>
              </a:ext>
            </a:extLst>
          </p:cNvPr>
          <p:cNvSpPr>
            <a:spLocks noGrp="1"/>
          </p:cNvSpPr>
          <p:nvPr>
            <p:ph type="ctrTitle"/>
          </p:nvPr>
        </p:nvSpPr>
        <p:spPr>
          <a:xfrm>
            <a:off x="1524000" y="1134363"/>
            <a:ext cx="8670000" cy="773600"/>
          </a:xfrm>
        </p:spPr>
        <p:txBody>
          <a:bodyPr>
            <a:normAutofit fontScale="90000"/>
          </a:bodyPr>
          <a:lstStyle/>
          <a:p>
            <a:br>
              <a:rPr lang="en-US"/>
            </a:br>
            <a:endParaRPr lang="en-US"/>
          </a:p>
        </p:txBody>
      </p:sp>
      <p:pic>
        <p:nvPicPr>
          <p:cNvPr id="4" name="Picture 3">
            <a:extLst>
              <a:ext uri="{FF2B5EF4-FFF2-40B4-BE49-F238E27FC236}">
                <a16:creationId xmlns:a16="http://schemas.microsoft.com/office/drawing/2014/main" id="{79E62447-61AE-EE7B-DB65-4D829EDBEA9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1663" y="79092"/>
            <a:ext cx="1740919" cy="402801"/>
          </a:xfrm>
          <a:prstGeom prst="rect">
            <a:avLst/>
          </a:prstGeom>
        </p:spPr>
      </p:pic>
      <p:cxnSp>
        <p:nvCxnSpPr>
          <p:cNvPr id="5" name="Straight Connector 4">
            <a:extLst>
              <a:ext uri="{FF2B5EF4-FFF2-40B4-BE49-F238E27FC236}">
                <a16:creationId xmlns:a16="http://schemas.microsoft.com/office/drawing/2014/main" id="{46BE4C06-4DC9-666C-6F0F-96D69C65AC82}"/>
              </a:ext>
            </a:extLst>
          </p:cNvPr>
          <p:cNvCxnSpPr>
            <a:cxnSpLocks/>
          </p:cNvCxnSpPr>
          <p:nvPr/>
        </p:nvCxnSpPr>
        <p:spPr>
          <a:xfrm>
            <a:off x="1109709" y="594804"/>
            <a:ext cx="10235953" cy="0"/>
          </a:xfrm>
          <a:prstGeom prst="line">
            <a:avLst/>
          </a:prstGeom>
        </p:spPr>
        <p:style>
          <a:lnRef idx="3">
            <a:schemeClr val="dk1"/>
          </a:lnRef>
          <a:fillRef idx="0">
            <a:schemeClr val="dk1"/>
          </a:fillRef>
          <a:effectRef idx="2">
            <a:schemeClr val="dk1"/>
          </a:effectRef>
          <a:fontRef idx="minor">
            <a:schemeClr val="tx1"/>
          </a:fontRef>
        </p:style>
      </p:cxnSp>
      <p:cxnSp>
        <p:nvCxnSpPr>
          <p:cNvPr id="6" name="Straight Connector 5">
            <a:extLst>
              <a:ext uri="{FF2B5EF4-FFF2-40B4-BE49-F238E27FC236}">
                <a16:creationId xmlns:a16="http://schemas.microsoft.com/office/drawing/2014/main" id="{E7559D18-4B16-6D08-8C1D-E6891E2D1D97}"/>
              </a:ext>
            </a:extLst>
          </p:cNvPr>
          <p:cNvCxnSpPr/>
          <p:nvPr/>
        </p:nvCxnSpPr>
        <p:spPr>
          <a:xfrm>
            <a:off x="1038687" y="6462943"/>
            <a:ext cx="10369119" cy="0"/>
          </a:xfrm>
          <a:prstGeom prst="line">
            <a:avLst/>
          </a:prstGeom>
        </p:spPr>
        <p:style>
          <a:lnRef idx="3">
            <a:schemeClr val="dk1"/>
          </a:lnRef>
          <a:fillRef idx="0">
            <a:schemeClr val="dk1"/>
          </a:fillRef>
          <a:effectRef idx="2">
            <a:schemeClr val="dk1"/>
          </a:effectRef>
          <a:fontRef idx="minor">
            <a:schemeClr val="tx1"/>
          </a:fontRef>
        </p:style>
      </p:cxnSp>
      <p:sp>
        <p:nvSpPr>
          <p:cNvPr id="7" name="TextBox 7">
            <a:extLst>
              <a:ext uri="{FF2B5EF4-FFF2-40B4-BE49-F238E27FC236}">
                <a16:creationId xmlns:a16="http://schemas.microsoft.com/office/drawing/2014/main" id="{88FB0CD2-4334-1A6B-7939-F858AE3708E6}"/>
              </a:ext>
            </a:extLst>
          </p:cNvPr>
          <p:cNvSpPr txBox="1"/>
          <p:nvPr/>
        </p:nvSpPr>
        <p:spPr>
          <a:xfrm>
            <a:off x="8788893" y="319596"/>
            <a:ext cx="2821413" cy="276999"/>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1">
                <a:latin typeface="Times New Roman" panose="02020603050405020304" pitchFamily="18" charset="0"/>
                <a:cs typeface="Times New Roman" panose="02020603050405020304" pitchFamily="18" charset="0"/>
              </a:rPr>
              <a:t>TIFAC – CORE in CYBER SECURITY</a:t>
            </a:r>
            <a:endParaRPr lang="en-IN" sz="1200" b="1">
              <a:latin typeface="Times New Roman" panose="02020603050405020304" pitchFamily="18" charset="0"/>
              <a:cs typeface="Times New Roman" panose="02020603050405020304" pitchFamily="18" charset="0"/>
            </a:endParaRPr>
          </a:p>
        </p:txBody>
      </p:sp>
      <p:sp>
        <p:nvSpPr>
          <p:cNvPr id="8" name="Slide Number Placeholder 10">
            <a:extLst>
              <a:ext uri="{FF2B5EF4-FFF2-40B4-BE49-F238E27FC236}">
                <a16:creationId xmlns:a16="http://schemas.microsoft.com/office/drawing/2014/main" id="{15FD1A83-B8AA-9253-A300-1450A5868AEC}"/>
              </a:ext>
            </a:extLst>
          </p:cNvPr>
          <p:cNvSpPr>
            <a:spLocks noGrp="1"/>
          </p:cNvSpPr>
          <p:nvPr/>
        </p:nvSpPr>
        <p:spPr>
          <a:xfrm>
            <a:off x="8734887"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C3E5B82-863A-4B66-9E4F-DCFAD2A3B854}" type="slidenum">
              <a:rPr lang="en-IN" smtClean="0"/>
              <a:pPr/>
              <a:t>23</a:t>
            </a:fld>
            <a:endParaRPr lang="en-IN"/>
          </a:p>
        </p:txBody>
      </p:sp>
      <p:sp>
        <p:nvSpPr>
          <p:cNvPr id="9" name="Footer Placeholder 11">
            <a:extLst>
              <a:ext uri="{FF2B5EF4-FFF2-40B4-BE49-F238E27FC236}">
                <a16:creationId xmlns:a16="http://schemas.microsoft.com/office/drawing/2014/main" id="{66616064-3FF7-4042-1136-E112957AC447}"/>
              </a:ext>
            </a:extLst>
          </p:cNvPr>
          <p:cNvSpPr>
            <a:spLocks noGrp="1"/>
          </p:cNvSpPr>
          <p:nvPr/>
        </p:nvSpPr>
        <p:spPr>
          <a:xfrm>
            <a:off x="4038600" y="64928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20CYS 495 B.Tech CYS: 2022 - 2026 Project Presentation </a:t>
            </a:r>
            <a:endParaRPr lang="en-IN"/>
          </a:p>
        </p:txBody>
      </p:sp>
      <p:sp>
        <p:nvSpPr>
          <p:cNvPr id="3" name="TextBox 2">
            <a:extLst>
              <a:ext uri="{FF2B5EF4-FFF2-40B4-BE49-F238E27FC236}">
                <a16:creationId xmlns:a16="http://schemas.microsoft.com/office/drawing/2014/main" id="{09085985-300B-E624-BB74-FC2A5423D6EB}"/>
              </a:ext>
            </a:extLst>
          </p:cNvPr>
          <p:cNvSpPr txBox="1"/>
          <p:nvPr/>
        </p:nvSpPr>
        <p:spPr>
          <a:xfrm>
            <a:off x="609600" y="948621"/>
            <a:ext cx="922020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lvl="1"/>
            <a:r>
              <a:rPr lang="en-US">
                <a:latin typeface="Times New Roman"/>
                <a:cs typeface="Times New Roman"/>
              </a:rPr>
              <a:t>Generated APT-style attacks from </a:t>
            </a:r>
            <a:r>
              <a:rPr lang="en-US" b="1">
                <a:latin typeface="Times New Roman"/>
                <a:cs typeface="Times New Roman"/>
              </a:rPr>
              <a:t>Kali Linux</a:t>
            </a:r>
            <a:r>
              <a:rPr lang="en-US">
                <a:latin typeface="Times New Roman"/>
                <a:cs typeface="Times New Roman"/>
              </a:rPr>
              <a:t>.</a:t>
            </a:r>
          </a:p>
          <a:p>
            <a:pPr lvl="1"/>
            <a:endParaRPr lang="en-US">
              <a:latin typeface="Times New Roman"/>
              <a:ea typeface="+mn-lt"/>
              <a:cs typeface="Times New Roman"/>
            </a:endParaRPr>
          </a:p>
          <a:p>
            <a:pPr marL="742950" lvl="1" indent="-285750">
              <a:buFont typeface="Arial"/>
              <a:buChar char="•"/>
            </a:pPr>
            <a:r>
              <a:rPr lang="en-US" b="1">
                <a:latin typeface="Times New Roman"/>
                <a:ea typeface="+mn-lt"/>
                <a:cs typeface="+mn-lt"/>
              </a:rPr>
              <a:t>Attack Simulation Setup</a:t>
            </a:r>
            <a:endParaRPr lang="en-US" b="1">
              <a:latin typeface="Times New Roman"/>
              <a:cs typeface="Times New Roman"/>
            </a:endParaRPr>
          </a:p>
        </p:txBody>
      </p:sp>
      <p:sp>
        <p:nvSpPr>
          <p:cNvPr id="11" name="TextBox 10">
            <a:extLst>
              <a:ext uri="{FF2B5EF4-FFF2-40B4-BE49-F238E27FC236}">
                <a16:creationId xmlns:a16="http://schemas.microsoft.com/office/drawing/2014/main" id="{AEEA5CB4-4598-32FF-2B0B-DBED4478DF01}"/>
              </a:ext>
            </a:extLst>
          </p:cNvPr>
          <p:cNvSpPr txBox="1"/>
          <p:nvPr/>
        </p:nvSpPr>
        <p:spPr>
          <a:xfrm>
            <a:off x="1319892" y="1687285"/>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pic>
        <p:nvPicPr>
          <p:cNvPr id="10" name="Picture 9" descr="A screenshot of a computer program&#10;&#10;AI-generated content may be incorrect.">
            <a:extLst>
              <a:ext uri="{FF2B5EF4-FFF2-40B4-BE49-F238E27FC236}">
                <a16:creationId xmlns:a16="http://schemas.microsoft.com/office/drawing/2014/main" id="{2668D7BC-79A1-283E-ED1C-C59924D37633}"/>
              </a:ext>
            </a:extLst>
          </p:cNvPr>
          <p:cNvPicPr>
            <a:picLocks noChangeAspect="1"/>
          </p:cNvPicPr>
          <p:nvPr/>
        </p:nvPicPr>
        <p:blipFill>
          <a:blip r:embed="rId3"/>
          <a:stretch>
            <a:fillRect/>
          </a:stretch>
        </p:blipFill>
        <p:spPr>
          <a:xfrm>
            <a:off x="1306540" y="1899940"/>
            <a:ext cx="3908718" cy="2322203"/>
          </a:xfrm>
          <a:prstGeom prst="rect">
            <a:avLst/>
          </a:prstGeom>
        </p:spPr>
      </p:pic>
      <p:pic>
        <p:nvPicPr>
          <p:cNvPr id="12" name="Picture 11" descr="A computer screen with text&#10;&#10;AI-generated content may be incorrect.">
            <a:extLst>
              <a:ext uri="{FF2B5EF4-FFF2-40B4-BE49-F238E27FC236}">
                <a16:creationId xmlns:a16="http://schemas.microsoft.com/office/drawing/2014/main" id="{438FDB67-666C-FA91-B659-4D3AB386B1D7}"/>
              </a:ext>
            </a:extLst>
          </p:cNvPr>
          <p:cNvPicPr>
            <a:picLocks noChangeAspect="1"/>
          </p:cNvPicPr>
          <p:nvPr/>
        </p:nvPicPr>
        <p:blipFill>
          <a:blip r:embed="rId4"/>
          <a:stretch>
            <a:fillRect/>
          </a:stretch>
        </p:blipFill>
        <p:spPr>
          <a:xfrm>
            <a:off x="5861668" y="2181548"/>
            <a:ext cx="5182731" cy="1493973"/>
          </a:xfrm>
          <a:prstGeom prst="rect">
            <a:avLst/>
          </a:prstGeom>
        </p:spPr>
      </p:pic>
      <p:sp>
        <p:nvSpPr>
          <p:cNvPr id="14" name="TextBox 13">
            <a:extLst>
              <a:ext uri="{FF2B5EF4-FFF2-40B4-BE49-F238E27FC236}">
                <a16:creationId xmlns:a16="http://schemas.microsoft.com/office/drawing/2014/main" id="{143C7954-6F85-C851-CCA1-D14663C64317}"/>
              </a:ext>
            </a:extLst>
          </p:cNvPr>
          <p:cNvSpPr txBox="1"/>
          <p:nvPr/>
        </p:nvSpPr>
        <p:spPr>
          <a:xfrm>
            <a:off x="1110714" y="4397644"/>
            <a:ext cx="10784235"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To begin our simulation, we set up two virtual machines:</a:t>
            </a:r>
          </a:p>
          <a:p>
            <a:pPr marL="228600" indent="-228600">
              <a:buFont typeface="Arial"/>
              <a:buChar char="•"/>
            </a:pPr>
            <a:r>
              <a:rPr lang="en-US" b="1"/>
              <a:t>Target VM:</a:t>
            </a:r>
            <a:r>
              <a:rPr lang="en-US"/>
              <a:t> This is our T-Pot honeypot server  which is listening on IPs </a:t>
            </a:r>
            <a:r>
              <a:rPr lang="en-US" b="1"/>
              <a:t>192.168.56.101</a:t>
            </a:r>
            <a:r>
              <a:rPr lang="en-US"/>
              <a:t>and </a:t>
            </a:r>
            <a:r>
              <a:rPr lang="en-US" b="1"/>
              <a:t>192.168.56.103</a:t>
            </a:r>
            <a:r>
              <a:rPr lang="en-US"/>
              <a:t>.</a:t>
            </a:r>
          </a:p>
          <a:p>
            <a:endParaRPr lang="en-US"/>
          </a:p>
          <a:p>
            <a:pPr marL="228600" indent="-228600">
              <a:buFont typeface=""/>
              <a:buChar char="•"/>
            </a:pPr>
            <a:r>
              <a:rPr lang="en-US" b="1"/>
              <a:t>Attacker VM:</a:t>
            </a:r>
            <a:r>
              <a:rPr lang="en-US"/>
              <a:t> This is our Kali Linux machine with the IP address </a:t>
            </a:r>
            <a:r>
              <a:rPr lang="en-US" b="1"/>
              <a:t>192.168.56.102</a:t>
            </a:r>
            <a:r>
              <a:rPr lang="en-US"/>
              <a:t>.</a:t>
            </a:r>
          </a:p>
          <a:p>
            <a:endParaRPr lang="en-US"/>
          </a:p>
          <a:p>
            <a:r>
              <a:rPr lang="en-US"/>
              <a:t>The following attacks will be launched from the Kali machine to the T-Pot server."</a:t>
            </a:r>
          </a:p>
          <a:p>
            <a:pPr algn="ctr"/>
            <a:endParaRPr lang="en-US"/>
          </a:p>
        </p:txBody>
      </p:sp>
    </p:spTree>
    <p:extLst>
      <p:ext uri="{BB962C8B-B14F-4D97-AF65-F5344CB8AC3E}">
        <p14:creationId xmlns:p14="http://schemas.microsoft.com/office/powerpoint/2010/main" val="12806444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A1BFFC-9976-F813-C23E-2DA49D0FABC9}"/>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5FEF61A3-6AB6-63C3-E6B0-9A36270F766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1663" y="79092"/>
            <a:ext cx="1740919" cy="402801"/>
          </a:xfrm>
          <a:prstGeom prst="rect">
            <a:avLst/>
          </a:prstGeom>
        </p:spPr>
      </p:pic>
      <p:cxnSp>
        <p:nvCxnSpPr>
          <p:cNvPr id="5" name="Straight Connector 4">
            <a:extLst>
              <a:ext uri="{FF2B5EF4-FFF2-40B4-BE49-F238E27FC236}">
                <a16:creationId xmlns:a16="http://schemas.microsoft.com/office/drawing/2014/main" id="{3B279863-C639-763C-94DF-E0AEE29A04E7}"/>
              </a:ext>
            </a:extLst>
          </p:cNvPr>
          <p:cNvCxnSpPr>
            <a:cxnSpLocks/>
          </p:cNvCxnSpPr>
          <p:nvPr/>
        </p:nvCxnSpPr>
        <p:spPr>
          <a:xfrm>
            <a:off x="1109709" y="594804"/>
            <a:ext cx="10235953" cy="0"/>
          </a:xfrm>
          <a:prstGeom prst="line">
            <a:avLst/>
          </a:prstGeom>
        </p:spPr>
        <p:style>
          <a:lnRef idx="3">
            <a:schemeClr val="dk1"/>
          </a:lnRef>
          <a:fillRef idx="0">
            <a:schemeClr val="dk1"/>
          </a:fillRef>
          <a:effectRef idx="2">
            <a:schemeClr val="dk1"/>
          </a:effectRef>
          <a:fontRef idx="minor">
            <a:schemeClr val="tx1"/>
          </a:fontRef>
        </p:style>
      </p:cxnSp>
      <p:cxnSp>
        <p:nvCxnSpPr>
          <p:cNvPr id="6" name="Straight Connector 5">
            <a:extLst>
              <a:ext uri="{FF2B5EF4-FFF2-40B4-BE49-F238E27FC236}">
                <a16:creationId xmlns:a16="http://schemas.microsoft.com/office/drawing/2014/main" id="{50445F97-A898-2434-6C48-98AE5681DA64}"/>
              </a:ext>
            </a:extLst>
          </p:cNvPr>
          <p:cNvCxnSpPr/>
          <p:nvPr/>
        </p:nvCxnSpPr>
        <p:spPr>
          <a:xfrm>
            <a:off x="1038687" y="6462943"/>
            <a:ext cx="10369119" cy="0"/>
          </a:xfrm>
          <a:prstGeom prst="line">
            <a:avLst/>
          </a:prstGeom>
        </p:spPr>
        <p:style>
          <a:lnRef idx="3">
            <a:schemeClr val="dk1"/>
          </a:lnRef>
          <a:fillRef idx="0">
            <a:schemeClr val="dk1"/>
          </a:fillRef>
          <a:effectRef idx="2">
            <a:schemeClr val="dk1"/>
          </a:effectRef>
          <a:fontRef idx="minor">
            <a:schemeClr val="tx1"/>
          </a:fontRef>
        </p:style>
      </p:cxnSp>
      <p:sp>
        <p:nvSpPr>
          <p:cNvPr id="7" name="TextBox 7">
            <a:extLst>
              <a:ext uri="{FF2B5EF4-FFF2-40B4-BE49-F238E27FC236}">
                <a16:creationId xmlns:a16="http://schemas.microsoft.com/office/drawing/2014/main" id="{BDBF27A3-D096-660A-332E-71C90463EF31}"/>
              </a:ext>
            </a:extLst>
          </p:cNvPr>
          <p:cNvSpPr txBox="1"/>
          <p:nvPr/>
        </p:nvSpPr>
        <p:spPr>
          <a:xfrm>
            <a:off x="8788893" y="319596"/>
            <a:ext cx="2821413" cy="276999"/>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1">
                <a:latin typeface="Times New Roman" panose="02020603050405020304" pitchFamily="18" charset="0"/>
                <a:cs typeface="Times New Roman" panose="02020603050405020304" pitchFamily="18" charset="0"/>
              </a:rPr>
              <a:t>TIFAC – CORE in CYBER SECURITY</a:t>
            </a:r>
            <a:endParaRPr lang="en-IN" sz="1200" b="1">
              <a:latin typeface="Times New Roman" panose="02020603050405020304" pitchFamily="18" charset="0"/>
              <a:cs typeface="Times New Roman" panose="02020603050405020304" pitchFamily="18" charset="0"/>
            </a:endParaRPr>
          </a:p>
        </p:txBody>
      </p:sp>
      <p:sp>
        <p:nvSpPr>
          <p:cNvPr id="8" name="Slide Number Placeholder 10">
            <a:extLst>
              <a:ext uri="{FF2B5EF4-FFF2-40B4-BE49-F238E27FC236}">
                <a16:creationId xmlns:a16="http://schemas.microsoft.com/office/drawing/2014/main" id="{F0A9BF53-98BD-6456-426A-DF9234FE128E}"/>
              </a:ext>
            </a:extLst>
          </p:cNvPr>
          <p:cNvSpPr>
            <a:spLocks noGrp="1"/>
          </p:cNvSpPr>
          <p:nvPr/>
        </p:nvSpPr>
        <p:spPr>
          <a:xfrm>
            <a:off x="8734887"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C3E5B82-863A-4B66-9E4F-DCFAD2A3B854}" type="slidenum">
              <a:rPr lang="en-IN" smtClean="0"/>
              <a:pPr/>
              <a:t>24</a:t>
            </a:fld>
            <a:endParaRPr lang="en-IN"/>
          </a:p>
        </p:txBody>
      </p:sp>
      <p:sp>
        <p:nvSpPr>
          <p:cNvPr id="9" name="Footer Placeholder 11">
            <a:extLst>
              <a:ext uri="{FF2B5EF4-FFF2-40B4-BE49-F238E27FC236}">
                <a16:creationId xmlns:a16="http://schemas.microsoft.com/office/drawing/2014/main" id="{E33A9E2C-1BA3-176E-0640-679D8AF0DACA}"/>
              </a:ext>
            </a:extLst>
          </p:cNvPr>
          <p:cNvSpPr>
            <a:spLocks noGrp="1"/>
          </p:cNvSpPr>
          <p:nvPr/>
        </p:nvSpPr>
        <p:spPr>
          <a:xfrm>
            <a:off x="4038600" y="64928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20CYS 495 B.Tech CYS: 2022 - 2026 Project Presentation </a:t>
            </a:r>
            <a:endParaRPr lang="en-IN"/>
          </a:p>
        </p:txBody>
      </p:sp>
      <p:pic>
        <p:nvPicPr>
          <p:cNvPr id="2" name="Picture 1" descr="A screenshot of a computer&#10;&#10;AI-generated content may be incorrect.">
            <a:extLst>
              <a:ext uri="{FF2B5EF4-FFF2-40B4-BE49-F238E27FC236}">
                <a16:creationId xmlns:a16="http://schemas.microsoft.com/office/drawing/2014/main" id="{5D06D8E4-2CF1-31E4-5B5F-7A6741379F8F}"/>
              </a:ext>
            </a:extLst>
          </p:cNvPr>
          <p:cNvPicPr>
            <a:picLocks noChangeAspect="1"/>
          </p:cNvPicPr>
          <p:nvPr/>
        </p:nvPicPr>
        <p:blipFill>
          <a:blip r:embed="rId3"/>
          <a:stretch>
            <a:fillRect/>
          </a:stretch>
        </p:blipFill>
        <p:spPr>
          <a:xfrm>
            <a:off x="1038239" y="1601646"/>
            <a:ext cx="4163879" cy="3181674"/>
          </a:xfrm>
          <a:prstGeom prst="rect">
            <a:avLst/>
          </a:prstGeom>
        </p:spPr>
      </p:pic>
      <p:sp>
        <p:nvSpPr>
          <p:cNvPr id="12" name="TextBox 11">
            <a:extLst>
              <a:ext uri="{FF2B5EF4-FFF2-40B4-BE49-F238E27FC236}">
                <a16:creationId xmlns:a16="http://schemas.microsoft.com/office/drawing/2014/main" id="{2D649776-C1A8-8EC6-36AC-F7A8A2425C3E}"/>
              </a:ext>
            </a:extLst>
          </p:cNvPr>
          <p:cNvSpPr txBox="1"/>
          <p:nvPr/>
        </p:nvSpPr>
        <p:spPr>
          <a:xfrm>
            <a:off x="2001864" y="1420677"/>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1" name="TextBox 10">
            <a:extLst>
              <a:ext uri="{FF2B5EF4-FFF2-40B4-BE49-F238E27FC236}">
                <a16:creationId xmlns:a16="http://schemas.microsoft.com/office/drawing/2014/main" id="{9A7C116E-CAE5-E699-7674-0F961ACF6C89}"/>
              </a:ext>
            </a:extLst>
          </p:cNvPr>
          <p:cNvSpPr txBox="1"/>
          <p:nvPr/>
        </p:nvSpPr>
        <p:spPr>
          <a:xfrm>
            <a:off x="1032000" y="780000"/>
            <a:ext cx="4807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Phase 1: Reconnaissance &amp; Scanning</a:t>
            </a:r>
            <a:endParaRPr lang="en-US"/>
          </a:p>
        </p:txBody>
      </p:sp>
      <p:sp>
        <p:nvSpPr>
          <p:cNvPr id="13" name="TextBox 12">
            <a:extLst>
              <a:ext uri="{FF2B5EF4-FFF2-40B4-BE49-F238E27FC236}">
                <a16:creationId xmlns:a16="http://schemas.microsoft.com/office/drawing/2014/main" id="{7A9F1874-A27F-9700-64AF-5083FC140B89}"/>
              </a:ext>
            </a:extLst>
          </p:cNvPr>
          <p:cNvSpPr txBox="1"/>
          <p:nvPr/>
        </p:nvSpPr>
        <p:spPr>
          <a:xfrm>
            <a:off x="5508000" y="1794000"/>
            <a:ext cx="5971200"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a:ea typeface="+mn-lt"/>
                <a:cs typeface="+mn-lt"/>
              </a:rPr>
              <a:t>we ran a </a:t>
            </a:r>
            <a:r>
              <a:rPr lang="en-US">
                <a:latin typeface="Consolas"/>
              </a:rPr>
              <a:t>ping</a:t>
            </a:r>
            <a:r>
              <a:rPr lang="en-US">
                <a:ea typeface="+mn-lt"/>
                <a:cs typeface="+mn-lt"/>
              </a:rPr>
              <a:t> test from our Kali machine to the T-Pot server. The successful replies in the first screenshot confirmed that the honeypot was online and reachable on the network.</a:t>
            </a:r>
            <a:endParaRPr lang="en-US"/>
          </a:p>
          <a:p>
            <a:pPr marL="285750" indent="-285750">
              <a:buFont typeface="Arial"/>
              <a:buChar char="•"/>
            </a:pPr>
            <a:endParaRPr lang="en-US"/>
          </a:p>
          <a:p>
            <a:pPr marL="285750" indent="-285750">
              <a:buFont typeface="Arial"/>
              <a:buChar char="•"/>
            </a:pPr>
            <a:r>
              <a:rPr lang="en-US"/>
              <a:t>This step </a:t>
            </a:r>
            <a:r>
              <a:rPr lang="en-US">
                <a:ea typeface="+mn-lt"/>
                <a:cs typeface="+mn-lt"/>
              </a:rPr>
              <a:t>confirm our target exists and we have a network path to it. If this failed, we'd know a firewall was blocking us or the machine was offline.</a:t>
            </a:r>
            <a:endParaRPr lang="en-US"/>
          </a:p>
        </p:txBody>
      </p:sp>
    </p:spTree>
    <p:extLst>
      <p:ext uri="{BB962C8B-B14F-4D97-AF65-F5344CB8AC3E}">
        <p14:creationId xmlns:p14="http://schemas.microsoft.com/office/powerpoint/2010/main" val="1599919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8A85F9-D6E6-388B-F23B-3A19373FA7C1}"/>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E6778993-56D4-B10D-61CB-D828BF83FD5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1663" y="79092"/>
            <a:ext cx="1740919" cy="402801"/>
          </a:xfrm>
          <a:prstGeom prst="rect">
            <a:avLst/>
          </a:prstGeom>
        </p:spPr>
      </p:pic>
      <p:cxnSp>
        <p:nvCxnSpPr>
          <p:cNvPr id="5" name="Straight Connector 4">
            <a:extLst>
              <a:ext uri="{FF2B5EF4-FFF2-40B4-BE49-F238E27FC236}">
                <a16:creationId xmlns:a16="http://schemas.microsoft.com/office/drawing/2014/main" id="{794017AC-4684-7A32-6F04-73B3665A3D71}"/>
              </a:ext>
            </a:extLst>
          </p:cNvPr>
          <p:cNvCxnSpPr>
            <a:cxnSpLocks/>
          </p:cNvCxnSpPr>
          <p:nvPr/>
        </p:nvCxnSpPr>
        <p:spPr>
          <a:xfrm>
            <a:off x="1109709" y="594804"/>
            <a:ext cx="10235953" cy="0"/>
          </a:xfrm>
          <a:prstGeom prst="line">
            <a:avLst/>
          </a:prstGeom>
        </p:spPr>
        <p:style>
          <a:lnRef idx="3">
            <a:schemeClr val="dk1"/>
          </a:lnRef>
          <a:fillRef idx="0">
            <a:schemeClr val="dk1"/>
          </a:fillRef>
          <a:effectRef idx="2">
            <a:schemeClr val="dk1"/>
          </a:effectRef>
          <a:fontRef idx="minor">
            <a:schemeClr val="tx1"/>
          </a:fontRef>
        </p:style>
      </p:cxnSp>
      <p:cxnSp>
        <p:nvCxnSpPr>
          <p:cNvPr id="6" name="Straight Connector 5">
            <a:extLst>
              <a:ext uri="{FF2B5EF4-FFF2-40B4-BE49-F238E27FC236}">
                <a16:creationId xmlns:a16="http://schemas.microsoft.com/office/drawing/2014/main" id="{FC541147-07BD-FD62-CF83-9B9DFC225091}"/>
              </a:ext>
            </a:extLst>
          </p:cNvPr>
          <p:cNvCxnSpPr/>
          <p:nvPr/>
        </p:nvCxnSpPr>
        <p:spPr>
          <a:xfrm>
            <a:off x="1038687" y="6462943"/>
            <a:ext cx="10369119" cy="0"/>
          </a:xfrm>
          <a:prstGeom prst="line">
            <a:avLst/>
          </a:prstGeom>
        </p:spPr>
        <p:style>
          <a:lnRef idx="3">
            <a:schemeClr val="dk1"/>
          </a:lnRef>
          <a:fillRef idx="0">
            <a:schemeClr val="dk1"/>
          </a:fillRef>
          <a:effectRef idx="2">
            <a:schemeClr val="dk1"/>
          </a:effectRef>
          <a:fontRef idx="minor">
            <a:schemeClr val="tx1"/>
          </a:fontRef>
        </p:style>
      </p:cxnSp>
      <p:sp>
        <p:nvSpPr>
          <p:cNvPr id="7" name="TextBox 7">
            <a:extLst>
              <a:ext uri="{FF2B5EF4-FFF2-40B4-BE49-F238E27FC236}">
                <a16:creationId xmlns:a16="http://schemas.microsoft.com/office/drawing/2014/main" id="{9FD3CE1C-03E6-BBC9-4263-3FE448363D45}"/>
              </a:ext>
            </a:extLst>
          </p:cNvPr>
          <p:cNvSpPr txBox="1"/>
          <p:nvPr/>
        </p:nvSpPr>
        <p:spPr>
          <a:xfrm>
            <a:off x="8788893" y="319596"/>
            <a:ext cx="2821413" cy="276999"/>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1">
                <a:latin typeface="Times New Roman" panose="02020603050405020304" pitchFamily="18" charset="0"/>
                <a:cs typeface="Times New Roman" panose="02020603050405020304" pitchFamily="18" charset="0"/>
              </a:rPr>
              <a:t>TIFAC – CORE in CYBER SECURITY</a:t>
            </a:r>
            <a:endParaRPr lang="en-IN" sz="1200" b="1">
              <a:latin typeface="Times New Roman" panose="02020603050405020304" pitchFamily="18" charset="0"/>
              <a:cs typeface="Times New Roman" panose="02020603050405020304" pitchFamily="18" charset="0"/>
            </a:endParaRPr>
          </a:p>
        </p:txBody>
      </p:sp>
      <p:sp>
        <p:nvSpPr>
          <p:cNvPr id="8" name="Slide Number Placeholder 10">
            <a:extLst>
              <a:ext uri="{FF2B5EF4-FFF2-40B4-BE49-F238E27FC236}">
                <a16:creationId xmlns:a16="http://schemas.microsoft.com/office/drawing/2014/main" id="{9572C851-0F3D-8670-BE60-4F72EA9704C5}"/>
              </a:ext>
            </a:extLst>
          </p:cNvPr>
          <p:cNvSpPr>
            <a:spLocks noGrp="1"/>
          </p:cNvSpPr>
          <p:nvPr/>
        </p:nvSpPr>
        <p:spPr>
          <a:xfrm>
            <a:off x="8734887"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C3E5B82-863A-4B66-9E4F-DCFAD2A3B854}" type="slidenum">
              <a:rPr lang="en-IN" smtClean="0"/>
              <a:pPr/>
              <a:t>25</a:t>
            </a:fld>
            <a:endParaRPr lang="en-IN"/>
          </a:p>
        </p:txBody>
      </p:sp>
      <p:sp>
        <p:nvSpPr>
          <p:cNvPr id="9" name="Footer Placeholder 11">
            <a:extLst>
              <a:ext uri="{FF2B5EF4-FFF2-40B4-BE49-F238E27FC236}">
                <a16:creationId xmlns:a16="http://schemas.microsoft.com/office/drawing/2014/main" id="{9C1A308D-5E38-F687-768F-0A3F44FADBEB}"/>
              </a:ext>
            </a:extLst>
          </p:cNvPr>
          <p:cNvSpPr>
            <a:spLocks noGrp="1"/>
          </p:cNvSpPr>
          <p:nvPr/>
        </p:nvSpPr>
        <p:spPr>
          <a:xfrm>
            <a:off x="4038600" y="64928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20CYS 495 B.Tech CYS: 2022 - 2026 Project Presentation </a:t>
            </a:r>
            <a:endParaRPr lang="en-IN"/>
          </a:p>
        </p:txBody>
      </p:sp>
      <p:pic>
        <p:nvPicPr>
          <p:cNvPr id="3" name="Picture 2" descr="A screen shot of a computer&#10;&#10;AI-generated content may be incorrect.">
            <a:extLst>
              <a:ext uri="{FF2B5EF4-FFF2-40B4-BE49-F238E27FC236}">
                <a16:creationId xmlns:a16="http://schemas.microsoft.com/office/drawing/2014/main" id="{46EA31A4-939E-5531-7DB2-702E8BDB387B}"/>
              </a:ext>
            </a:extLst>
          </p:cNvPr>
          <p:cNvPicPr>
            <a:picLocks noChangeAspect="1"/>
          </p:cNvPicPr>
          <p:nvPr/>
        </p:nvPicPr>
        <p:blipFill>
          <a:blip r:embed="rId3"/>
          <a:stretch>
            <a:fillRect/>
          </a:stretch>
        </p:blipFill>
        <p:spPr>
          <a:xfrm>
            <a:off x="804256" y="1126662"/>
            <a:ext cx="7677150" cy="2305050"/>
          </a:xfrm>
          <a:prstGeom prst="rect">
            <a:avLst/>
          </a:prstGeom>
        </p:spPr>
      </p:pic>
      <p:sp>
        <p:nvSpPr>
          <p:cNvPr id="10" name="TextBox 9">
            <a:extLst>
              <a:ext uri="{FF2B5EF4-FFF2-40B4-BE49-F238E27FC236}">
                <a16:creationId xmlns:a16="http://schemas.microsoft.com/office/drawing/2014/main" id="{56E44A66-0B07-19F7-4B12-54B5B79BB6E9}"/>
              </a:ext>
            </a:extLst>
          </p:cNvPr>
          <p:cNvSpPr txBox="1"/>
          <p:nvPr/>
        </p:nvSpPr>
        <p:spPr>
          <a:xfrm>
            <a:off x="768000" y="3624000"/>
            <a:ext cx="10231200"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a:ea typeface="+mn-lt"/>
                <a:cs typeface="+mn-lt"/>
              </a:rPr>
              <a:t>After confirming the target was live, we ran an </a:t>
            </a:r>
            <a:r>
              <a:rPr lang="en-US" err="1">
                <a:latin typeface="Consolas"/>
              </a:rPr>
              <a:t>nmap</a:t>
            </a:r>
            <a:r>
              <a:rPr lang="en-US">
                <a:latin typeface="Consolas"/>
              </a:rPr>
              <a:t> -</a:t>
            </a:r>
            <a:r>
              <a:rPr lang="en-US" err="1">
                <a:latin typeface="Consolas"/>
              </a:rPr>
              <a:t>sV</a:t>
            </a:r>
            <a:r>
              <a:rPr lang="en-US">
                <a:latin typeface="Consolas"/>
              </a:rPr>
              <a:t> 192.168.56.103</a:t>
            </a:r>
            <a:r>
              <a:rPr lang="en-US">
                <a:ea typeface="+mn-lt"/>
                <a:cs typeface="+mn-lt"/>
              </a:rPr>
              <a:t> scan. This command scans the target for open ports (</a:t>
            </a:r>
            <a:r>
              <a:rPr lang="en-US">
                <a:latin typeface="Consolas"/>
              </a:rPr>
              <a:t>-</a:t>
            </a:r>
            <a:r>
              <a:rPr lang="en-US" err="1">
                <a:latin typeface="Consolas"/>
              </a:rPr>
              <a:t>sV</a:t>
            </a:r>
            <a:r>
              <a:rPr lang="en-US">
                <a:ea typeface="+mn-lt"/>
                <a:cs typeface="+mn-lt"/>
              </a:rPr>
              <a:t> also identifies the specific service and version running).</a:t>
            </a:r>
            <a:endParaRPr lang="en-US"/>
          </a:p>
          <a:p>
            <a:endParaRPr lang="en-US" b="1"/>
          </a:p>
          <a:p>
            <a:r>
              <a:rPr lang="en-US" b="1"/>
              <a:t>Our Findings</a:t>
            </a:r>
            <a:endParaRPr lang="en-US"/>
          </a:p>
          <a:p>
            <a:endParaRPr lang="en-US" b="1">
              <a:ea typeface="+mn-lt"/>
              <a:cs typeface="+mn-lt"/>
            </a:endParaRPr>
          </a:p>
          <a:p>
            <a:r>
              <a:rPr lang="en-US">
                <a:ea typeface="+mn-lt"/>
                <a:cs typeface="+mn-lt"/>
              </a:rPr>
              <a:t>The Nmap scan revealed a very specific attack surface. Instead of finding common ports like SSH (22) or FTP (21), we found:</a:t>
            </a:r>
            <a:endParaRPr lang="en-US"/>
          </a:p>
          <a:p>
            <a:pPr marL="285750" indent="-285750">
              <a:buFont typeface="Arial"/>
              <a:buChar char="•"/>
            </a:pPr>
            <a:r>
              <a:rPr lang="en-US" b="1">
                <a:ea typeface="+mn-lt"/>
                <a:cs typeface="+mn-lt"/>
              </a:rPr>
              <a:t>Port 8000 (Open):</a:t>
            </a:r>
            <a:r>
              <a:rPr lang="en-US">
                <a:ea typeface="+mn-lt"/>
                <a:cs typeface="+mn-lt"/>
              </a:rPr>
              <a:t> Running an HTTP service identified as "</a:t>
            </a:r>
            <a:r>
              <a:rPr lang="en-US" err="1">
                <a:ea typeface="+mn-lt"/>
                <a:cs typeface="+mn-lt"/>
              </a:rPr>
              <a:t>Splunkd</a:t>
            </a:r>
            <a:r>
              <a:rPr lang="en-US">
                <a:ea typeface="+mn-lt"/>
                <a:cs typeface="+mn-lt"/>
              </a:rPr>
              <a:t>".</a:t>
            </a:r>
            <a:endParaRPr lang="en-US"/>
          </a:p>
          <a:p>
            <a:pPr marL="285750" indent="-285750">
              <a:buFont typeface="Arial"/>
              <a:buChar char="•"/>
            </a:pPr>
            <a:r>
              <a:rPr lang="en-US" b="1">
                <a:ea typeface="+mn-lt"/>
                <a:cs typeface="+mn-lt"/>
              </a:rPr>
              <a:t>Port 8089 (Open):</a:t>
            </a:r>
            <a:r>
              <a:rPr lang="en-US">
                <a:ea typeface="+mn-lt"/>
                <a:cs typeface="+mn-lt"/>
              </a:rPr>
              <a:t> Running an SSL/HTTP service, also identified as "</a:t>
            </a:r>
            <a:r>
              <a:rPr lang="en-US" err="1">
                <a:ea typeface="+mn-lt"/>
                <a:cs typeface="+mn-lt"/>
              </a:rPr>
              <a:t>Splunkd</a:t>
            </a:r>
            <a:r>
              <a:rPr lang="en-US">
                <a:ea typeface="+mn-lt"/>
                <a:cs typeface="+mn-lt"/>
              </a:rPr>
              <a:t>".</a:t>
            </a:r>
            <a:endParaRPr lang="en-US"/>
          </a:p>
          <a:p>
            <a:endParaRPr lang="en-US"/>
          </a:p>
        </p:txBody>
      </p:sp>
    </p:spTree>
    <p:extLst>
      <p:ext uri="{BB962C8B-B14F-4D97-AF65-F5344CB8AC3E}">
        <p14:creationId xmlns:p14="http://schemas.microsoft.com/office/powerpoint/2010/main" val="25320838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3F3F3D-2458-53A5-E945-EC8791D3CEE4}"/>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9C4E7ECB-9B83-987C-15CF-E4449C81758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1663" y="79092"/>
            <a:ext cx="1740919" cy="402801"/>
          </a:xfrm>
          <a:prstGeom prst="rect">
            <a:avLst/>
          </a:prstGeom>
        </p:spPr>
      </p:pic>
      <p:cxnSp>
        <p:nvCxnSpPr>
          <p:cNvPr id="5" name="Straight Connector 4">
            <a:extLst>
              <a:ext uri="{FF2B5EF4-FFF2-40B4-BE49-F238E27FC236}">
                <a16:creationId xmlns:a16="http://schemas.microsoft.com/office/drawing/2014/main" id="{49C91608-42AD-5BBB-F34B-11A7D5EC53F8}"/>
              </a:ext>
            </a:extLst>
          </p:cNvPr>
          <p:cNvCxnSpPr>
            <a:cxnSpLocks/>
          </p:cNvCxnSpPr>
          <p:nvPr/>
        </p:nvCxnSpPr>
        <p:spPr>
          <a:xfrm>
            <a:off x="1109709" y="594804"/>
            <a:ext cx="10235953" cy="0"/>
          </a:xfrm>
          <a:prstGeom prst="line">
            <a:avLst/>
          </a:prstGeom>
        </p:spPr>
        <p:style>
          <a:lnRef idx="3">
            <a:schemeClr val="dk1"/>
          </a:lnRef>
          <a:fillRef idx="0">
            <a:schemeClr val="dk1"/>
          </a:fillRef>
          <a:effectRef idx="2">
            <a:schemeClr val="dk1"/>
          </a:effectRef>
          <a:fontRef idx="minor">
            <a:schemeClr val="tx1"/>
          </a:fontRef>
        </p:style>
      </p:cxnSp>
      <p:cxnSp>
        <p:nvCxnSpPr>
          <p:cNvPr id="6" name="Straight Connector 5">
            <a:extLst>
              <a:ext uri="{FF2B5EF4-FFF2-40B4-BE49-F238E27FC236}">
                <a16:creationId xmlns:a16="http://schemas.microsoft.com/office/drawing/2014/main" id="{FEFFA3FC-C79F-B26B-B944-A084627A5150}"/>
              </a:ext>
            </a:extLst>
          </p:cNvPr>
          <p:cNvCxnSpPr/>
          <p:nvPr/>
        </p:nvCxnSpPr>
        <p:spPr>
          <a:xfrm>
            <a:off x="1038687" y="6462943"/>
            <a:ext cx="10369119" cy="0"/>
          </a:xfrm>
          <a:prstGeom prst="line">
            <a:avLst/>
          </a:prstGeom>
        </p:spPr>
        <p:style>
          <a:lnRef idx="3">
            <a:schemeClr val="dk1"/>
          </a:lnRef>
          <a:fillRef idx="0">
            <a:schemeClr val="dk1"/>
          </a:fillRef>
          <a:effectRef idx="2">
            <a:schemeClr val="dk1"/>
          </a:effectRef>
          <a:fontRef idx="minor">
            <a:schemeClr val="tx1"/>
          </a:fontRef>
        </p:style>
      </p:cxnSp>
      <p:sp>
        <p:nvSpPr>
          <p:cNvPr id="7" name="TextBox 7">
            <a:extLst>
              <a:ext uri="{FF2B5EF4-FFF2-40B4-BE49-F238E27FC236}">
                <a16:creationId xmlns:a16="http://schemas.microsoft.com/office/drawing/2014/main" id="{925693BB-FDB3-5C4E-F8EB-B76CA85A4DFB}"/>
              </a:ext>
            </a:extLst>
          </p:cNvPr>
          <p:cNvSpPr txBox="1"/>
          <p:nvPr/>
        </p:nvSpPr>
        <p:spPr>
          <a:xfrm>
            <a:off x="8788893" y="319596"/>
            <a:ext cx="2821413" cy="276999"/>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1">
                <a:latin typeface="Times New Roman" panose="02020603050405020304" pitchFamily="18" charset="0"/>
                <a:cs typeface="Times New Roman" panose="02020603050405020304" pitchFamily="18" charset="0"/>
              </a:rPr>
              <a:t>TIFAC – CORE in CYBER SECURITY</a:t>
            </a:r>
            <a:endParaRPr lang="en-IN" sz="1200" b="1">
              <a:latin typeface="Times New Roman" panose="02020603050405020304" pitchFamily="18" charset="0"/>
              <a:cs typeface="Times New Roman" panose="02020603050405020304" pitchFamily="18" charset="0"/>
            </a:endParaRPr>
          </a:p>
        </p:txBody>
      </p:sp>
      <p:sp>
        <p:nvSpPr>
          <p:cNvPr id="8" name="Slide Number Placeholder 10">
            <a:extLst>
              <a:ext uri="{FF2B5EF4-FFF2-40B4-BE49-F238E27FC236}">
                <a16:creationId xmlns:a16="http://schemas.microsoft.com/office/drawing/2014/main" id="{1D1B9FBF-76F2-0749-A637-0D3E9EB83FC5}"/>
              </a:ext>
            </a:extLst>
          </p:cNvPr>
          <p:cNvSpPr>
            <a:spLocks noGrp="1"/>
          </p:cNvSpPr>
          <p:nvPr/>
        </p:nvSpPr>
        <p:spPr>
          <a:xfrm>
            <a:off x="8734887"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C3E5B82-863A-4B66-9E4F-DCFAD2A3B854}" type="slidenum">
              <a:rPr lang="en-IN" smtClean="0"/>
              <a:pPr/>
              <a:t>26</a:t>
            </a:fld>
            <a:endParaRPr lang="en-IN"/>
          </a:p>
        </p:txBody>
      </p:sp>
      <p:sp>
        <p:nvSpPr>
          <p:cNvPr id="9" name="Footer Placeholder 11">
            <a:extLst>
              <a:ext uri="{FF2B5EF4-FFF2-40B4-BE49-F238E27FC236}">
                <a16:creationId xmlns:a16="http://schemas.microsoft.com/office/drawing/2014/main" id="{E6487EAB-4E1E-7EA7-F8D3-4B3D7CA74DA9}"/>
              </a:ext>
            </a:extLst>
          </p:cNvPr>
          <p:cNvSpPr>
            <a:spLocks noGrp="1"/>
          </p:cNvSpPr>
          <p:nvPr/>
        </p:nvSpPr>
        <p:spPr>
          <a:xfrm>
            <a:off x="4038600" y="64928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20CYS 495 B.Tech CYS: 2022 - 2026 Project Presentation </a:t>
            </a:r>
            <a:endParaRPr lang="en-IN"/>
          </a:p>
        </p:txBody>
      </p:sp>
      <p:sp>
        <p:nvSpPr>
          <p:cNvPr id="2" name="TextBox 1">
            <a:extLst>
              <a:ext uri="{FF2B5EF4-FFF2-40B4-BE49-F238E27FC236}">
                <a16:creationId xmlns:a16="http://schemas.microsoft.com/office/drawing/2014/main" id="{C765E945-4053-C523-7CA9-9D2ACA1C2FE8}"/>
              </a:ext>
            </a:extLst>
          </p:cNvPr>
          <p:cNvSpPr txBox="1"/>
          <p:nvPr/>
        </p:nvSpPr>
        <p:spPr>
          <a:xfrm>
            <a:off x="1002000" y="900000"/>
            <a:ext cx="5221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Times New Roman"/>
                <a:ea typeface="+mn-lt"/>
                <a:cs typeface="+mn-lt"/>
              </a:rPr>
              <a:t>Phase 2: Attack Execution &amp; Honeypot Defense</a:t>
            </a:r>
            <a:endParaRPr lang="en-US" b="1">
              <a:latin typeface="Times New Roman"/>
            </a:endParaRPr>
          </a:p>
        </p:txBody>
      </p:sp>
      <p:pic>
        <p:nvPicPr>
          <p:cNvPr id="10" name="Picture 9" descr="A computer screen with white text&#10;&#10;AI-generated content may be incorrect.">
            <a:extLst>
              <a:ext uri="{FF2B5EF4-FFF2-40B4-BE49-F238E27FC236}">
                <a16:creationId xmlns:a16="http://schemas.microsoft.com/office/drawing/2014/main" id="{1451CCEB-6CAC-C308-3917-9672F44E15D0}"/>
              </a:ext>
            </a:extLst>
          </p:cNvPr>
          <p:cNvPicPr>
            <a:picLocks noChangeAspect="1"/>
          </p:cNvPicPr>
          <p:nvPr/>
        </p:nvPicPr>
        <p:blipFill>
          <a:blip r:embed="rId3"/>
          <a:stretch>
            <a:fillRect/>
          </a:stretch>
        </p:blipFill>
        <p:spPr>
          <a:xfrm>
            <a:off x="912000" y="1351470"/>
            <a:ext cx="10122000" cy="1623060"/>
          </a:xfrm>
          <a:prstGeom prst="rect">
            <a:avLst/>
          </a:prstGeom>
        </p:spPr>
      </p:pic>
      <p:sp>
        <p:nvSpPr>
          <p:cNvPr id="11" name="TextBox 10">
            <a:extLst>
              <a:ext uri="{FF2B5EF4-FFF2-40B4-BE49-F238E27FC236}">
                <a16:creationId xmlns:a16="http://schemas.microsoft.com/office/drawing/2014/main" id="{7045E34A-A9E1-C795-1104-5F1F852DDC61}"/>
              </a:ext>
            </a:extLst>
          </p:cNvPr>
          <p:cNvSpPr txBox="1"/>
          <p:nvPr/>
        </p:nvSpPr>
        <p:spPr>
          <a:xfrm>
            <a:off x="954000" y="3336000"/>
            <a:ext cx="10393200"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mn-lt"/>
                <a:cs typeface="+mn-lt"/>
              </a:rPr>
              <a:t>After our reconnaissance, we launched a direct brute-force attack from our Kali machine.</a:t>
            </a:r>
            <a:endParaRPr lang="en-US" dirty="0"/>
          </a:p>
          <a:p>
            <a:pPr marL="285750" indent="-285750">
              <a:buFont typeface="Arial"/>
              <a:buChar char="•"/>
            </a:pPr>
            <a:r>
              <a:rPr lang="en-US" b="1" dirty="0">
                <a:ea typeface="+mn-lt"/>
                <a:cs typeface="+mn-lt"/>
              </a:rPr>
              <a:t>Tool:</a:t>
            </a:r>
            <a:r>
              <a:rPr lang="en-US" dirty="0">
                <a:ea typeface="+mn-lt"/>
                <a:cs typeface="+mn-lt"/>
              </a:rPr>
              <a:t> We used </a:t>
            </a:r>
            <a:r>
              <a:rPr lang="en-US" dirty="0">
                <a:latin typeface="Consolas"/>
              </a:rPr>
              <a:t>hydra</a:t>
            </a:r>
            <a:r>
              <a:rPr lang="en-US" dirty="0">
                <a:ea typeface="+mn-lt"/>
                <a:cs typeface="+mn-lt"/>
              </a:rPr>
              <a:t>, a very common tool for password cracking.</a:t>
            </a:r>
            <a:endParaRPr lang="en-US" dirty="0"/>
          </a:p>
          <a:p>
            <a:pPr marL="285750" indent="-285750">
              <a:buFont typeface="Arial"/>
              <a:buChar char="•"/>
            </a:pPr>
            <a:r>
              <a:rPr lang="en-US" b="1" dirty="0">
                <a:ea typeface="+mn-lt"/>
                <a:cs typeface="+mn-lt"/>
              </a:rPr>
              <a:t>Target:</a:t>
            </a:r>
            <a:r>
              <a:rPr lang="en-US" dirty="0">
                <a:ea typeface="+mn-lt"/>
                <a:cs typeface="+mn-lt"/>
              </a:rPr>
              <a:t> We attacked the FTP service on the honeypot.</a:t>
            </a:r>
            <a:endParaRPr lang="en-US" dirty="0"/>
          </a:p>
          <a:p>
            <a:pPr marL="285750" indent="-285750">
              <a:buFont typeface="Arial"/>
              <a:buChar char="•"/>
            </a:pPr>
            <a:r>
              <a:rPr lang="en-US" b="1" dirty="0">
                <a:ea typeface="+mn-lt"/>
                <a:cs typeface="+mn-lt"/>
              </a:rPr>
              <a:t>Method:</a:t>
            </a:r>
            <a:r>
              <a:rPr lang="en-US" dirty="0">
                <a:ea typeface="+mn-lt"/>
                <a:cs typeface="+mn-lt"/>
              </a:rPr>
              <a:t> The command attempts to log in as the user </a:t>
            </a:r>
            <a:r>
              <a:rPr lang="en-US" dirty="0" err="1">
                <a:latin typeface="Consolas"/>
              </a:rPr>
              <a:t>vboxuser</a:t>
            </a:r>
            <a:r>
              <a:rPr lang="en-US" dirty="0">
                <a:ea typeface="+mn-lt"/>
                <a:cs typeface="+mn-lt"/>
              </a:rPr>
              <a:t> by trying thousands of different passwords from the famous </a:t>
            </a:r>
            <a:r>
              <a:rPr lang="en-US" dirty="0">
                <a:latin typeface="Consolas"/>
              </a:rPr>
              <a:t>rockyou.txt</a:t>
            </a:r>
            <a:r>
              <a:rPr lang="en-US" dirty="0">
                <a:ea typeface="+mn-lt"/>
                <a:cs typeface="+mn-lt"/>
              </a:rPr>
              <a:t> wordlist.</a:t>
            </a:r>
            <a:endParaRPr lang="en-US" dirty="0"/>
          </a:p>
          <a:p>
            <a:r>
              <a:rPr lang="en-US" dirty="0"/>
              <a:t>The Result: A Successful Defense</a:t>
            </a:r>
          </a:p>
        </p:txBody>
      </p:sp>
    </p:spTree>
    <p:extLst>
      <p:ext uri="{BB962C8B-B14F-4D97-AF65-F5344CB8AC3E}">
        <p14:creationId xmlns:p14="http://schemas.microsoft.com/office/powerpoint/2010/main" val="37739543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5D39AF-7058-6307-9FFD-4453F4B672B6}"/>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79E62447-61AE-EE7B-DB65-4D829EDBEA9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1663" y="79092"/>
            <a:ext cx="1740919" cy="402801"/>
          </a:xfrm>
          <a:prstGeom prst="rect">
            <a:avLst/>
          </a:prstGeom>
        </p:spPr>
      </p:pic>
      <p:cxnSp>
        <p:nvCxnSpPr>
          <p:cNvPr id="5" name="Straight Connector 4">
            <a:extLst>
              <a:ext uri="{FF2B5EF4-FFF2-40B4-BE49-F238E27FC236}">
                <a16:creationId xmlns:a16="http://schemas.microsoft.com/office/drawing/2014/main" id="{46BE4C06-4DC9-666C-6F0F-96D69C65AC82}"/>
              </a:ext>
            </a:extLst>
          </p:cNvPr>
          <p:cNvCxnSpPr>
            <a:cxnSpLocks/>
          </p:cNvCxnSpPr>
          <p:nvPr/>
        </p:nvCxnSpPr>
        <p:spPr>
          <a:xfrm>
            <a:off x="1109709" y="594804"/>
            <a:ext cx="10235953" cy="0"/>
          </a:xfrm>
          <a:prstGeom prst="line">
            <a:avLst/>
          </a:prstGeom>
        </p:spPr>
        <p:style>
          <a:lnRef idx="3">
            <a:schemeClr val="dk1"/>
          </a:lnRef>
          <a:fillRef idx="0">
            <a:schemeClr val="dk1"/>
          </a:fillRef>
          <a:effectRef idx="2">
            <a:schemeClr val="dk1"/>
          </a:effectRef>
          <a:fontRef idx="minor">
            <a:schemeClr val="tx1"/>
          </a:fontRef>
        </p:style>
      </p:cxnSp>
      <p:cxnSp>
        <p:nvCxnSpPr>
          <p:cNvPr id="6" name="Straight Connector 5">
            <a:extLst>
              <a:ext uri="{FF2B5EF4-FFF2-40B4-BE49-F238E27FC236}">
                <a16:creationId xmlns:a16="http://schemas.microsoft.com/office/drawing/2014/main" id="{E7559D18-4B16-6D08-8C1D-E6891E2D1D97}"/>
              </a:ext>
            </a:extLst>
          </p:cNvPr>
          <p:cNvCxnSpPr/>
          <p:nvPr/>
        </p:nvCxnSpPr>
        <p:spPr>
          <a:xfrm>
            <a:off x="1038687" y="6462943"/>
            <a:ext cx="10369119" cy="0"/>
          </a:xfrm>
          <a:prstGeom prst="line">
            <a:avLst/>
          </a:prstGeom>
        </p:spPr>
        <p:style>
          <a:lnRef idx="3">
            <a:schemeClr val="dk1"/>
          </a:lnRef>
          <a:fillRef idx="0">
            <a:schemeClr val="dk1"/>
          </a:fillRef>
          <a:effectRef idx="2">
            <a:schemeClr val="dk1"/>
          </a:effectRef>
          <a:fontRef idx="minor">
            <a:schemeClr val="tx1"/>
          </a:fontRef>
        </p:style>
      </p:cxnSp>
      <p:sp>
        <p:nvSpPr>
          <p:cNvPr id="7" name="TextBox 7">
            <a:extLst>
              <a:ext uri="{FF2B5EF4-FFF2-40B4-BE49-F238E27FC236}">
                <a16:creationId xmlns:a16="http://schemas.microsoft.com/office/drawing/2014/main" id="{88FB0CD2-4334-1A6B-7939-F858AE3708E6}"/>
              </a:ext>
            </a:extLst>
          </p:cNvPr>
          <p:cNvSpPr txBox="1"/>
          <p:nvPr/>
        </p:nvSpPr>
        <p:spPr>
          <a:xfrm>
            <a:off x="8788893" y="319596"/>
            <a:ext cx="2821413" cy="276999"/>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1">
                <a:latin typeface="Times New Roman" panose="02020603050405020304" pitchFamily="18" charset="0"/>
                <a:cs typeface="Times New Roman" panose="02020603050405020304" pitchFamily="18" charset="0"/>
              </a:rPr>
              <a:t>TIFAC – CORE in CYBER SECURITY</a:t>
            </a:r>
            <a:endParaRPr lang="en-IN" sz="1200" b="1">
              <a:latin typeface="Times New Roman" panose="02020603050405020304" pitchFamily="18" charset="0"/>
              <a:cs typeface="Times New Roman" panose="02020603050405020304" pitchFamily="18" charset="0"/>
            </a:endParaRPr>
          </a:p>
        </p:txBody>
      </p:sp>
      <p:sp>
        <p:nvSpPr>
          <p:cNvPr id="8" name="Slide Number Placeholder 10">
            <a:extLst>
              <a:ext uri="{FF2B5EF4-FFF2-40B4-BE49-F238E27FC236}">
                <a16:creationId xmlns:a16="http://schemas.microsoft.com/office/drawing/2014/main" id="{15FD1A83-B8AA-9253-A300-1450A5868AEC}"/>
              </a:ext>
            </a:extLst>
          </p:cNvPr>
          <p:cNvSpPr>
            <a:spLocks noGrp="1"/>
          </p:cNvSpPr>
          <p:nvPr/>
        </p:nvSpPr>
        <p:spPr>
          <a:xfrm>
            <a:off x="8734887"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C3E5B82-863A-4B66-9E4F-DCFAD2A3B854}" type="slidenum">
              <a:rPr lang="en-IN" smtClean="0"/>
              <a:pPr/>
              <a:t>27</a:t>
            </a:fld>
            <a:endParaRPr lang="en-IN"/>
          </a:p>
        </p:txBody>
      </p:sp>
      <p:sp>
        <p:nvSpPr>
          <p:cNvPr id="9" name="Footer Placeholder 11">
            <a:extLst>
              <a:ext uri="{FF2B5EF4-FFF2-40B4-BE49-F238E27FC236}">
                <a16:creationId xmlns:a16="http://schemas.microsoft.com/office/drawing/2014/main" id="{66616064-3FF7-4042-1136-E112957AC447}"/>
              </a:ext>
            </a:extLst>
          </p:cNvPr>
          <p:cNvSpPr>
            <a:spLocks noGrp="1"/>
          </p:cNvSpPr>
          <p:nvPr/>
        </p:nvSpPr>
        <p:spPr>
          <a:xfrm>
            <a:off x="4038600" y="64928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20CYS 495 B.Tech CYS: 2022 - 2026 Project Presentation </a:t>
            </a:r>
            <a:endParaRPr lang="en-IN"/>
          </a:p>
        </p:txBody>
      </p:sp>
      <p:graphicFrame>
        <p:nvGraphicFramePr>
          <p:cNvPr id="10" name="Table 9">
            <a:extLst>
              <a:ext uri="{FF2B5EF4-FFF2-40B4-BE49-F238E27FC236}">
                <a16:creationId xmlns:a16="http://schemas.microsoft.com/office/drawing/2014/main" id="{780B2C3D-EE14-B870-F11D-94222C727B95}"/>
              </a:ext>
            </a:extLst>
          </p:cNvPr>
          <p:cNvGraphicFramePr>
            <a:graphicFrameLocks noGrp="1"/>
          </p:cNvGraphicFramePr>
          <p:nvPr>
            <p:extLst>
              <p:ext uri="{D42A27DB-BD31-4B8C-83A1-F6EECF244321}">
                <p14:modId xmlns:p14="http://schemas.microsoft.com/office/powerpoint/2010/main" val="2955234486"/>
              </p:ext>
            </p:extLst>
          </p:nvPr>
        </p:nvGraphicFramePr>
        <p:xfrm>
          <a:off x="1098286" y="1516314"/>
          <a:ext cx="10515600" cy="4491294"/>
        </p:xfrm>
        <a:graphic>
          <a:graphicData uri="http://schemas.openxmlformats.org/drawingml/2006/table">
            <a:tbl>
              <a:tblPr>
                <a:tableStyleId>{5940675A-B579-460E-94D1-54222C63F5DA}</a:tableStyleId>
              </a:tblPr>
              <a:tblGrid>
                <a:gridCol w="3368040">
                  <a:extLst>
                    <a:ext uri="{9D8B030D-6E8A-4147-A177-3AD203B41FA5}">
                      <a16:colId xmlns:a16="http://schemas.microsoft.com/office/drawing/2014/main" val="2699759502"/>
                    </a:ext>
                  </a:extLst>
                </a:gridCol>
                <a:gridCol w="7147560">
                  <a:extLst>
                    <a:ext uri="{9D8B030D-6E8A-4147-A177-3AD203B41FA5}">
                      <a16:colId xmlns:a16="http://schemas.microsoft.com/office/drawing/2014/main" val="1466118708"/>
                    </a:ext>
                  </a:extLst>
                </a:gridCol>
              </a:tblGrid>
              <a:tr h="768096">
                <a:tc>
                  <a:txBody>
                    <a:bodyPr/>
                    <a:lstStyle/>
                    <a:p>
                      <a:r>
                        <a:rPr lang="en-US" b="1" dirty="0"/>
                        <a:t>Team Member</a:t>
                      </a:r>
                    </a:p>
                  </a:txBody>
                  <a:tcPr anchor="ctr"/>
                </a:tc>
                <a:tc>
                  <a:txBody>
                    <a:bodyPr/>
                    <a:lstStyle/>
                    <a:p>
                      <a:r>
                        <a:rPr lang="en-US" b="1" dirty="0"/>
                        <a:t>Contribution</a:t>
                      </a:r>
                    </a:p>
                  </a:txBody>
                  <a:tcPr anchor="ctr"/>
                </a:tc>
                <a:extLst>
                  <a:ext uri="{0D108BD9-81ED-4DB2-BD59-A6C34878D82A}">
                    <a16:rowId xmlns:a16="http://schemas.microsoft.com/office/drawing/2014/main" val="2494059594"/>
                  </a:ext>
                </a:extLst>
              </a:tr>
              <a:tr h="97560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1" dirty="0" err="1">
                          <a:effectLst/>
                          <a:latin typeface="Times New Roman"/>
                        </a:rPr>
                        <a:t>Chitla</a:t>
                      </a:r>
                      <a:r>
                        <a:rPr lang="en-IN" sz="1800" b="1" dirty="0">
                          <a:effectLst/>
                          <a:latin typeface="Times New Roman"/>
                        </a:rPr>
                        <a:t> Vyshali</a:t>
                      </a:r>
                      <a:endParaRPr lang="en-IN" b="1" dirty="0">
                        <a:effectLst/>
                        <a:latin typeface="Times New Roman"/>
                      </a:endParaRPr>
                    </a:p>
                    <a:p>
                      <a:endParaRPr lang="en-US" b="1"/>
                    </a:p>
                  </a:txBody>
                  <a:tcPr anchor="ctr"/>
                </a:tc>
                <a:tc>
                  <a:txBody>
                    <a:bodyPr/>
                    <a:lstStyle/>
                    <a:p>
                      <a:pPr lvl="0">
                        <a:buNone/>
                      </a:pPr>
                      <a:r>
                        <a:rPr lang="en-US" sz="1800" b="0" i="0" u="none" strike="noStrike" noProof="0" dirty="0">
                          <a:latin typeface="Aptos"/>
                        </a:rPr>
                        <a:t>Configured a Kali Linux machine to simulate APT-style attacks against our T-Pot honeypot using tools like Nmap and Hydra. </a:t>
                      </a:r>
                      <a:endParaRPr lang="en-US" dirty="0"/>
                    </a:p>
                  </a:txBody>
                  <a:tcPr anchor="ctr"/>
                </a:tc>
                <a:extLst>
                  <a:ext uri="{0D108BD9-81ED-4DB2-BD59-A6C34878D82A}">
                    <a16:rowId xmlns:a16="http://schemas.microsoft.com/office/drawing/2014/main" val="1830284206"/>
                  </a:ext>
                </a:extLst>
              </a:tr>
              <a:tr h="71732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Dharshika S</a:t>
                      </a:r>
                    </a:p>
                    <a:p>
                      <a:endParaRPr lang="en-US" b="1"/>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Created Splunk SIEM rules and MITRE ATT&amp;CK mapping logic</a:t>
                      </a:r>
                    </a:p>
                    <a:p>
                      <a:pPr algn="l"/>
                      <a:r>
                        <a:rPr lang="en-US" dirty="0"/>
                        <a:t>Explored Dionaea Honeypot </a:t>
                      </a:r>
                    </a:p>
                    <a:p>
                      <a:pPr algn="l"/>
                      <a:r>
                        <a:rPr lang="en-US" dirty="0"/>
                        <a:t>Established connections between Kali and T-pot and tried attacks.</a:t>
                      </a:r>
                    </a:p>
                  </a:txBody>
                  <a:tcPr anchor="ctr"/>
                </a:tc>
                <a:extLst>
                  <a:ext uri="{0D108BD9-81ED-4DB2-BD59-A6C34878D82A}">
                    <a16:rowId xmlns:a16="http://schemas.microsoft.com/office/drawing/2014/main" val="2453785341"/>
                  </a:ext>
                </a:extLst>
              </a:tr>
              <a:tr h="717329">
                <a:tc>
                  <a:txBody>
                    <a:bodyPr/>
                    <a:lstStyle/>
                    <a:p>
                      <a:pPr rtl="0" fontAlgn="base">
                        <a:lnSpc>
                          <a:spcPts val="1575"/>
                        </a:lnSpc>
                        <a:buNone/>
                      </a:pPr>
                      <a:r>
                        <a:rPr lang="en-IN" sz="1800" b="1" dirty="0" err="1">
                          <a:effectLst/>
                          <a:latin typeface="Times New Roman"/>
                        </a:rPr>
                        <a:t>Reddicherla</a:t>
                      </a:r>
                      <a:r>
                        <a:rPr lang="en-IN" sz="1800" b="1" dirty="0">
                          <a:effectLst/>
                          <a:latin typeface="Times New Roman"/>
                        </a:rPr>
                        <a:t> </a:t>
                      </a:r>
                      <a:r>
                        <a:rPr lang="en-IN" sz="1800" b="1" dirty="0" err="1">
                          <a:effectLst/>
                          <a:latin typeface="Times New Roman"/>
                        </a:rPr>
                        <a:t>Thanuj</a:t>
                      </a:r>
                      <a:endParaRPr lang="en-IN" b="1" dirty="0" err="1">
                        <a:effectLst/>
                        <a:latin typeface="Times New Roman"/>
                      </a:endParaRPr>
                    </a:p>
                  </a:txBody>
                  <a:tcPr marL="67437" marR="67437" marT="33719" marB="33719"/>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Configured T-Pot CE, managed Docker environment, integrated honeypots (Cowrie)</a:t>
                      </a:r>
                    </a:p>
                    <a:p>
                      <a:endParaRPr lang="en-US"/>
                    </a:p>
                  </a:txBody>
                  <a:tcPr anchor="ctr"/>
                </a:tc>
                <a:extLst>
                  <a:ext uri="{0D108BD9-81ED-4DB2-BD59-A6C34878D82A}">
                    <a16:rowId xmlns:a16="http://schemas.microsoft.com/office/drawing/2014/main" val="3946895210"/>
                  </a:ext>
                </a:extLst>
              </a:tr>
              <a:tr h="918791">
                <a:tc>
                  <a:txBody>
                    <a:bodyPr/>
                    <a:lstStyle/>
                    <a:p>
                      <a:pPr rtl="0" fontAlgn="base">
                        <a:lnSpc>
                          <a:spcPts val="1575"/>
                        </a:lnSpc>
                        <a:buNone/>
                      </a:pPr>
                      <a:r>
                        <a:rPr lang="en-IN" sz="1800" b="1" dirty="0">
                          <a:effectLst/>
                          <a:latin typeface="Times New Roman"/>
                        </a:rPr>
                        <a:t>Mothe Anurag Reddy</a:t>
                      </a:r>
                      <a:endParaRPr lang="en-IN" b="1" dirty="0">
                        <a:effectLst/>
                        <a:latin typeface="Times New Roman"/>
                      </a:endParaRPr>
                    </a:p>
                  </a:txBody>
                  <a:tcPr marL="67437" marR="67437" marT="33719" marB="33719"/>
                </a:tc>
                <a:tc>
                  <a:txBody>
                    <a:bodyPr/>
                    <a:lstStyle/>
                    <a:p>
                      <a:pPr lvl="0">
                        <a:buNone/>
                      </a:pPr>
                      <a:r>
                        <a:rPr lang="en-US" sz="1800" b="0" i="0" u="none" strike="noStrike" noProof="0" dirty="0">
                          <a:latin typeface="Aptos"/>
                        </a:rPr>
                        <a:t>Gathering  T-POT logs, forwarding them to Splunk, and created dashboards that highlight APT activity.</a:t>
                      </a:r>
                      <a:endParaRPr lang="en-US" dirty="0"/>
                    </a:p>
                  </a:txBody>
                  <a:tcPr anchor="ctr"/>
                </a:tc>
                <a:extLst>
                  <a:ext uri="{0D108BD9-81ED-4DB2-BD59-A6C34878D82A}">
                    <a16:rowId xmlns:a16="http://schemas.microsoft.com/office/drawing/2014/main" val="2538728314"/>
                  </a:ext>
                </a:extLst>
              </a:tr>
            </a:tbl>
          </a:graphicData>
        </a:graphic>
      </p:graphicFrame>
      <p:sp>
        <p:nvSpPr>
          <p:cNvPr id="12" name="Rectangle 1">
            <a:extLst>
              <a:ext uri="{FF2B5EF4-FFF2-40B4-BE49-F238E27FC236}">
                <a16:creationId xmlns:a16="http://schemas.microsoft.com/office/drawing/2014/main" id="{91E2D234-E953-F3B5-8109-23172C8E5EF4}"/>
              </a:ext>
            </a:extLst>
          </p:cNvPr>
          <p:cNvSpPr>
            <a:spLocks noChangeArrowheads="1"/>
          </p:cNvSpPr>
          <p:nvPr/>
        </p:nvSpPr>
        <p:spPr bwMode="auto">
          <a:xfrm>
            <a:off x="1109709" y="954708"/>
            <a:ext cx="3132589"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panose="020B0604020202020204" pitchFamily="34" charset="0"/>
              </a:rPr>
              <a:t>Individual Contributions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710922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5D39AF-7058-6307-9FFD-4453F4B672B6}"/>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79E62447-61AE-EE7B-DB65-4D829EDBEA9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1663" y="79092"/>
            <a:ext cx="1740919" cy="402801"/>
          </a:xfrm>
          <a:prstGeom prst="rect">
            <a:avLst/>
          </a:prstGeom>
        </p:spPr>
      </p:pic>
      <p:cxnSp>
        <p:nvCxnSpPr>
          <p:cNvPr id="5" name="Straight Connector 4">
            <a:extLst>
              <a:ext uri="{FF2B5EF4-FFF2-40B4-BE49-F238E27FC236}">
                <a16:creationId xmlns:a16="http://schemas.microsoft.com/office/drawing/2014/main" id="{46BE4C06-4DC9-666C-6F0F-96D69C65AC82}"/>
              </a:ext>
            </a:extLst>
          </p:cNvPr>
          <p:cNvCxnSpPr>
            <a:cxnSpLocks/>
          </p:cNvCxnSpPr>
          <p:nvPr/>
        </p:nvCxnSpPr>
        <p:spPr>
          <a:xfrm>
            <a:off x="1109709" y="594804"/>
            <a:ext cx="10235953" cy="0"/>
          </a:xfrm>
          <a:prstGeom prst="line">
            <a:avLst/>
          </a:prstGeom>
        </p:spPr>
        <p:style>
          <a:lnRef idx="3">
            <a:schemeClr val="dk1"/>
          </a:lnRef>
          <a:fillRef idx="0">
            <a:schemeClr val="dk1"/>
          </a:fillRef>
          <a:effectRef idx="2">
            <a:schemeClr val="dk1"/>
          </a:effectRef>
          <a:fontRef idx="minor">
            <a:schemeClr val="tx1"/>
          </a:fontRef>
        </p:style>
      </p:cxnSp>
      <p:cxnSp>
        <p:nvCxnSpPr>
          <p:cNvPr id="6" name="Straight Connector 5">
            <a:extLst>
              <a:ext uri="{FF2B5EF4-FFF2-40B4-BE49-F238E27FC236}">
                <a16:creationId xmlns:a16="http://schemas.microsoft.com/office/drawing/2014/main" id="{E7559D18-4B16-6D08-8C1D-E6891E2D1D97}"/>
              </a:ext>
            </a:extLst>
          </p:cNvPr>
          <p:cNvCxnSpPr/>
          <p:nvPr/>
        </p:nvCxnSpPr>
        <p:spPr>
          <a:xfrm>
            <a:off x="1038687" y="6462943"/>
            <a:ext cx="10369119" cy="0"/>
          </a:xfrm>
          <a:prstGeom prst="line">
            <a:avLst/>
          </a:prstGeom>
        </p:spPr>
        <p:style>
          <a:lnRef idx="3">
            <a:schemeClr val="dk1"/>
          </a:lnRef>
          <a:fillRef idx="0">
            <a:schemeClr val="dk1"/>
          </a:fillRef>
          <a:effectRef idx="2">
            <a:schemeClr val="dk1"/>
          </a:effectRef>
          <a:fontRef idx="minor">
            <a:schemeClr val="tx1"/>
          </a:fontRef>
        </p:style>
      </p:cxnSp>
      <p:sp>
        <p:nvSpPr>
          <p:cNvPr id="7" name="TextBox 7">
            <a:extLst>
              <a:ext uri="{FF2B5EF4-FFF2-40B4-BE49-F238E27FC236}">
                <a16:creationId xmlns:a16="http://schemas.microsoft.com/office/drawing/2014/main" id="{88FB0CD2-4334-1A6B-7939-F858AE3708E6}"/>
              </a:ext>
            </a:extLst>
          </p:cNvPr>
          <p:cNvSpPr txBox="1"/>
          <p:nvPr/>
        </p:nvSpPr>
        <p:spPr>
          <a:xfrm>
            <a:off x="8788893" y="319596"/>
            <a:ext cx="2821413" cy="276999"/>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1">
                <a:latin typeface="Times New Roman" panose="02020603050405020304" pitchFamily="18" charset="0"/>
                <a:cs typeface="Times New Roman" panose="02020603050405020304" pitchFamily="18" charset="0"/>
              </a:rPr>
              <a:t>TIFAC – CORE in CYBER SECURITY</a:t>
            </a:r>
            <a:endParaRPr lang="en-IN" sz="1200" b="1">
              <a:latin typeface="Times New Roman" panose="02020603050405020304" pitchFamily="18" charset="0"/>
              <a:cs typeface="Times New Roman" panose="02020603050405020304" pitchFamily="18" charset="0"/>
            </a:endParaRPr>
          </a:p>
        </p:txBody>
      </p:sp>
      <p:sp>
        <p:nvSpPr>
          <p:cNvPr id="8" name="Slide Number Placeholder 10">
            <a:extLst>
              <a:ext uri="{FF2B5EF4-FFF2-40B4-BE49-F238E27FC236}">
                <a16:creationId xmlns:a16="http://schemas.microsoft.com/office/drawing/2014/main" id="{15FD1A83-B8AA-9253-A300-1450A5868AEC}"/>
              </a:ext>
            </a:extLst>
          </p:cNvPr>
          <p:cNvSpPr>
            <a:spLocks noGrp="1"/>
          </p:cNvSpPr>
          <p:nvPr/>
        </p:nvSpPr>
        <p:spPr>
          <a:xfrm>
            <a:off x="8734887"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C3E5B82-863A-4B66-9E4F-DCFAD2A3B854}" type="slidenum">
              <a:rPr lang="en-IN" smtClean="0"/>
              <a:pPr/>
              <a:t>28</a:t>
            </a:fld>
            <a:endParaRPr lang="en-IN"/>
          </a:p>
        </p:txBody>
      </p:sp>
      <p:sp>
        <p:nvSpPr>
          <p:cNvPr id="9" name="Footer Placeholder 11">
            <a:extLst>
              <a:ext uri="{FF2B5EF4-FFF2-40B4-BE49-F238E27FC236}">
                <a16:creationId xmlns:a16="http://schemas.microsoft.com/office/drawing/2014/main" id="{66616064-3FF7-4042-1136-E112957AC447}"/>
              </a:ext>
            </a:extLst>
          </p:cNvPr>
          <p:cNvSpPr>
            <a:spLocks noGrp="1"/>
          </p:cNvSpPr>
          <p:nvPr/>
        </p:nvSpPr>
        <p:spPr>
          <a:xfrm>
            <a:off x="4038600" y="64928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20CYS 495 B.Tech CYS: 2022 - 2026 Project Presentation </a:t>
            </a:r>
            <a:endParaRPr lang="en-IN"/>
          </a:p>
        </p:txBody>
      </p:sp>
      <p:sp>
        <p:nvSpPr>
          <p:cNvPr id="12" name="Rectangle 1">
            <a:extLst>
              <a:ext uri="{FF2B5EF4-FFF2-40B4-BE49-F238E27FC236}">
                <a16:creationId xmlns:a16="http://schemas.microsoft.com/office/drawing/2014/main" id="{91E2D234-E953-F3B5-8109-23172C8E5EF4}"/>
              </a:ext>
            </a:extLst>
          </p:cNvPr>
          <p:cNvSpPr>
            <a:spLocks noChangeArrowheads="1"/>
          </p:cNvSpPr>
          <p:nvPr/>
        </p:nvSpPr>
        <p:spPr bwMode="auto">
          <a:xfrm>
            <a:off x="1105743" y="-449321"/>
            <a:ext cx="6938957" cy="6647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sz="2000" b="1"/>
          </a:p>
          <a:p>
            <a:endParaRPr lang="en-US" sz="2000" b="1"/>
          </a:p>
          <a:p>
            <a:endParaRPr lang="en-US" sz="2000" b="1"/>
          </a:p>
          <a:p>
            <a:endParaRPr lang="en-US" sz="2000" b="1"/>
          </a:p>
          <a:p>
            <a:endParaRPr lang="en-US" sz="2000" b="1"/>
          </a:p>
          <a:p>
            <a:r>
              <a:rPr lang="en-US" sz="2000" b="1"/>
              <a:t>Discussion &amp; Analysis</a:t>
            </a:r>
            <a:endParaRPr lang="en-US" sz="2000"/>
          </a:p>
          <a:p>
            <a:endParaRPr lang="en-US" b="1"/>
          </a:p>
          <a:p>
            <a:r>
              <a:rPr lang="en-US" b="1"/>
              <a:t>Strengths:</a:t>
            </a:r>
            <a:endParaRPr lang="en-US"/>
          </a:p>
          <a:p>
            <a:pPr marL="285750" indent="-285750">
              <a:buFont typeface="Arial" panose="020B0604020202020204" pitchFamily="34" charset="0"/>
              <a:buChar char="•"/>
            </a:pPr>
            <a:r>
              <a:rPr lang="en-US"/>
              <a:t>Real-world APT simulation environment.</a:t>
            </a:r>
          </a:p>
          <a:p>
            <a:pPr marL="285750" indent="-285750">
              <a:buFont typeface="Arial" panose="020B0604020202020204" pitchFamily="34" charset="0"/>
              <a:buChar char="•"/>
            </a:pPr>
            <a:r>
              <a:rPr lang="en-US"/>
              <a:t>Integrated multi-honeypot and SIEM framework.</a:t>
            </a:r>
          </a:p>
          <a:p>
            <a:pPr marL="285750" indent="-285750">
              <a:buFont typeface="Arial" panose="020B0604020202020204" pitchFamily="34" charset="0"/>
              <a:buChar char="•"/>
            </a:pPr>
            <a:r>
              <a:rPr lang="en-US"/>
              <a:t>MITRE ATT&amp;CK-based detection ensures standard mapping.</a:t>
            </a:r>
          </a:p>
          <a:p>
            <a:pPr marL="285750" indent="-285750">
              <a:buFont typeface="Arial" panose="020B0604020202020204" pitchFamily="34" charset="0"/>
              <a:buChar char="•"/>
            </a:pPr>
            <a:r>
              <a:rPr lang="en-US"/>
              <a:t>Modular and scalable (add more honeypots easily).</a:t>
            </a:r>
          </a:p>
          <a:p>
            <a:pPr marL="285750" indent="-285750">
              <a:buFont typeface="Arial" panose="020B0604020202020204" pitchFamily="34" charset="0"/>
              <a:buChar char="•"/>
            </a:pPr>
            <a:endParaRPr lang="en-US"/>
          </a:p>
          <a:p>
            <a:r>
              <a:rPr lang="en-US" b="1"/>
              <a:t>Limitations/Challenges:</a:t>
            </a:r>
            <a:endParaRPr lang="en-US"/>
          </a:p>
          <a:p>
            <a:pPr marL="285750" indent="-285750">
              <a:buFont typeface="Arial" panose="020B0604020202020204" pitchFamily="34" charset="0"/>
              <a:buChar char="•"/>
            </a:pPr>
            <a:r>
              <a:rPr lang="en-US"/>
              <a:t>Limited to network-based APT stages.</a:t>
            </a:r>
          </a:p>
          <a:p>
            <a:pPr marL="285750" indent="-285750">
              <a:buFont typeface="Arial" panose="020B0604020202020204" pitchFamily="34" charset="0"/>
              <a:buChar char="•"/>
            </a:pPr>
            <a:r>
              <a:rPr lang="en-US"/>
              <a:t>Requires manual Splunk configuration for new rules.</a:t>
            </a:r>
          </a:p>
          <a:p>
            <a:pPr marL="285750" indent="-285750">
              <a:buFont typeface="Arial" panose="020B0604020202020204" pitchFamily="34" charset="0"/>
              <a:buChar char="•"/>
            </a:pPr>
            <a:r>
              <a:rPr lang="en-US"/>
              <a:t>High resource usage due to multiple containers.</a:t>
            </a:r>
          </a:p>
          <a:p>
            <a:pPr marL="285750" indent="-285750">
              <a:buFont typeface="Arial" panose="020B0604020202020204" pitchFamily="34" charset="0"/>
              <a:buChar char="•"/>
            </a:pPr>
            <a:endParaRPr lang="en-US"/>
          </a:p>
          <a:p>
            <a:r>
              <a:rPr lang="en-US" b="1"/>
              <a:t>How It Improves Cybersecurity:</a:t>
            </a:r>
            <a:endParaRPr lang="en-US"/>
          </a:p>
          <a:p>
            <a:pPr marL="285750" indent="-285750">
              <a:buFont typeface="Arial" panose="020B0604020202020204" pitchFamily="34" charset="0"/>
              <a:buChar char="•"/>
            </a:pPr>
            <a:r>
              <a:rPr lang="en-US"/>
              <a:t>Enhances early-stage APT detection.</a:t>
            </a:r>
          </a:p>
          <a:p>
            <a:pPr marL="285750" indent="-285750">
              <a:buFont typeface="Arial" panose="020B0604020202020204" pitchFamily="34" charset="0"/>
              <a:buChar char="•"/>
            </a:pPr>
            <a:r>
              <a:rPr lang="en-US"/>
              <a:t>Reduces incident response time.</a:t>
            </a:r>
          </a:p>
          <a:p>
            <a:pPr marL="285750" indent="-285750">
              <a:buFont typeface="Arial" panose="020B0604020202020204" pitchFamily="34" charset="0"/>
              <a:buChar char="•"/>
            </a:pPr>
            <a:r>
              <a:rPr lang="en-US"/>
              <a:t>Provides security analysts with actionable intelligence.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200471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5D39AF-7058-6307-9FFD-4453F4B672B6}"/>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79E62447-61AE-EE7B-DB65-4D829EDBEA9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21663" y="79092"/>
            <a:ext cx="1740919" cy="402801"/>
          </a:xfrm>
          <a:prstGeom prst="rect">
            <a:avLst/>
          </a:prstGeom>
        </p:spPr>
      </p:pic>
      <p:cxnSp>
        <p:nvCxnSpPr>
          <p:cNvPr id="5" name="Straight Connector 4">
            <a:extLst>
              <a:ext uri="{FF2B5EF4-FFF2-40B4-BE49-F238E27FC236}">
                <a16:creationId xmlns:a16="http://schemas.microsoft.com/office/drawing/2014/main" id="{46BE4C06-4DC9-666C-6F0F-96D69C65AC82}"/>
              </a:ext>
            </a:extLst>
          </p:cNvPr>
          <p:cNvCxnSpPr>
            <a:cxnSpLocks/>
          </p:cNvCxnSpPr>
          <p:nvPr/>
        </p:nvCxnSpPr>
        <p:spPr>
          <a:xfrm>
            <a:off x="1109709" y="594804"/>
            <a:ext cx="10235953" cy="0"/>
          </a:xfrm>
          <a:prstGeom prst="line">
            <a:avLst/>
          </a:prstGeom>
        </p:spPr>
        <p:style>
          <a:lnRef idx="3">
            <a:schemeClr val="dk1"/>
          </a:lnRef>
          <a:fillRef idx="0">
            <a:schemeClr val="dk1"/>
          </a:fillRef>
          <a:effectRef idx="2">
            <a:schemeClr val="dk1"/>
          </a:effectRef>
          <a:fontRef idx="minor">
            <a:schemeClr val="tx1"/>
          </a:fontRef>
        </p:style>
      </p:cxnSp>
      <p:cxnSp>
        <p:nvCxnSpPr>
          <p:cNvPr id="6" name="Straight Connector 5">
            <a:extLst>
              <a:ext uri="{FF2B5EF4-FFF2-40B4-BE49-F238E27FC236}">
                <a16:creationId xmlns:a16="http://schemas.microsoft.com/office/drawing/2014/main" id="{E7559D18-4B16-6D08-8C1D-E6891E2D1D97}"/>
              </a:ext>
            </a:extLst>
          </p:cNvPr>
          <p:cNvCxnSpPr/>
          <p:nvPr/>
        </p:nvCxnSpPr>
        <p:spPr>
          <a:xfrm>
            <a:off x="1038687" y="6462943"/>
            <a:ext cx="10369119" cy="0"/>
          </a:xfrm>
          <a:prstGeom prst="line">
            <a:avLst/>
          </a:prstGeom>
        </p:spPr>
        <p:style>
          <a:lnRef idx="3">
            <a:schemeClr val="dk1"/>
          </a:lnRef>
          <a:fillRef idx="0">
            <a:schemeClr val="dk1"/>
          </a:fillRef>
          <a:effectRef idx="2">
            <a:schemeClr val="dk1"/>
          </a:effectRef>
          <a:fontRef idx="minor">
            <a:schemeClr val="tx1"/>
          </a:fontRef>
        </p:style>
      </p:cxnSp>
      <p:sp>
        <p:nvSpPr>
          <p:cNvPr id="7" name="TextBox 7">
            <a:extLst>
              <a:ext uri="{FF2B5EF4-FFF2-40B4-BE49-F238E27FC236}">
                <a16:creationId xmlns:a16="http://schemas.microsoft.com/office/drawing/2014/main" id="{88FB0CD2-4334-1A6B-7939-F858AE3708E6}"/>
              </a:ext>
            </a:extLst>
          </p:cNvPr>
          <p:cNvSpPr txBox="1"/>
          <p:nvPr/>
        </p:nvSpPr>
        <p:spPr>
          <a:xfrm>
            <a:off x="8788893" y="319596"/>
            <a:ext cx="2821413" cy="276999"/>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1">
                <a:latin typeface="Times New Roman" panose="02020603050405020304" pitchFamily="18" charset="0"/>
                <a:cs typeface="Times New Roman" panose="02020603050405020304" pitchFamily="18" charset="0"/>
              </a:rPr>
              <a:t>TIFAC – CORE in CYBER SECURITY</a:t>
            </a:r>
            <a:endParaRPr lang="en-IN" sz="1200" b="1">
              <a:latin typeface="Times New Roman" panose="02020603050405020304" pitchFamily="18" charset="0"/>
              <a:cs typeface="Times New Roman" panose="02020603050405020304" pitchFamily="18" charset="0"/>
            </a:endParaRPr>
          </a:p>
        </p:txBody>
      </p:sp>
      <p:sp>
        <p:nvSpPr>
          <p:cNvPr id="8" name="Slide Number Placeholder 10">
            <a:extLst>
              <a:ext uri="{FF2B5EF4-FFF2-40B4-BE49-F238E27FC236}">
                <a16:creationId xmlns:a16="http://schemas.microsoft.com/office/drawing/2014/main" id="{15FD1A83-B8AA-9253-A300-1450A5868AEC}"/>
              </a:ext>
            </a:extLst>
          </p:cNvPr>
          <p:cNvSpPr>
            <a:spLocks noGrp="1"/>
          </p:cNvSpPr>
          <p:nvPr/>
        </p:nvSpPr>
        <p:spPr>
          <a:xfrm>
            <a:off x="8734887"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C3E5B82-863A-4B66-9E4F-DCFAD2A3B854}" type="slidenum">
              <a:rPr lang="en-IN" smtClean="0"/>
              <a:pPr/>
              <a:t>29</a:t>
            </a:fld>
            <a:endParaRPr lang="en-IN"/>
          </a:p>
        </p:txBody>
      </p:sp>
      <p:sp>
        <p:nvSpPr>
          <p:cNvPr id="9" name="Footer Placeholder 11">
            <a:extLst>
              <a:ext uri="{FF2B5EF4-FFF2-40B4-BE49-F238E27FC236}">
                <a16:creationId xmlns:a16="http://schemas.microsoft.com/office/drawing/2014/main" id="{66616064-3FF7-4042-1136-E112957AC447}"/>
              </a:ext>
            </a:extLst>
          </p:cNvPr>
          <p:cNvSpPr>
            <a:spLocks noGrp="1"/>
          </p:cNvSpPr>
          <p:nvPr/>
        </p:nvSpPr>
        <p:spPr>
          <a:xfrm>
            <a:off x="4038600" y="64928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20CYS 495 B.Tech CYS: 2022 - 2026 Project Presentation </a:t>
            </a:r>
            <a:endParaRPr lang="en-IN"/>
          </a:p>
        </p:txBody>
      </p:sp>
      <p:sp>
        <p:nvSpPr>
          <p:cNvPr id="12" name="Rectangle 1">
            <a:extLst>
              <a:ext uri="{FF2B5EF4-FFF2-40B4-BE49-F238E27FC236}">
                <a16:creationId xmlns:a16="http://schemas.microsoft.com/office/drawing/2014/main" id="{91E2D234-E953-F3B5-8109-23172C8E5EF4}"/>
              </a:ext>
            </a:extLst>
          </p:cNvPr>
          <p:cNvSpPr>
            <a:spLocks noChangeArrowheads="1"/>
          </p:cNvSpPr>
          <p:nvPr/>
        </p:nvSpPr>
        <p:spPr bwMode="auto">
          <a:xfrm>
            <a:off x="1038687" y="3369174"/>
            <a:ext cx="10369119"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a:p>
            <a:endParaRPr lang="en-US"/>
          </a:p>
          <a:p>
            <a:endParaRPr lang="en-US"/>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 name="TextBox 1">
            <a:extLst>
              <a:ext uri="{FF2B5EF4-FFF2-40B4-BE49-F238E27FC236}">
                <a16:creationId xmlns:a16="http://schemas.microsoft.com/office/drawing/2014/main" id="{3E04C8C3-008F-8CDB-E58C-CC724ECF2051}"/>
              </a:ext>
            </a:extLst>
          </p:cNvPr>
          <p:cNvSpPr txBox="1"/>
          <p:nvPr/>
        </p:nvSpPr>
        <p:spPr>
          <a:xfrm>
            <a:off x="1091692" y="977392"/>
            <a:ext cx="10381996" cy="373948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100" b="1"/>
              <a:t>Conclusion &amp; Future Work</a:t>
            </a:r>
            <a:endParaRPr lang="en-US" sz="2100"/>
          </a:p>
          <a:p>
            <a:endParaRPr lang="en-US"/>
          </a:p>
          <a:p>
            <a:r>
              <a:rPr lang="en-US" b="1"/>
              <a:t>Summary of Achievements:</a:t>
            </a:r>
          </a:p>
          <a:p>
            <a:pPr marL="742950" lvl="1" indent="-285750">
              <a:buFont typeface="Arial,Sans-Serif"/>
              <a:buChar char="•"/>
            </a:pPr>
            <a:endParaRPr lang="en-US"/>
          </a:p>
          <a:p>
            <a:pPr marL="285750" indent="-285750">
              <a:buFont typeface="Arial"/>
              <a:buChar char="•"/>
            </a:pPr>
            <a:r>
              <a:rPr lang="en-US">
                <a:ea typeface="+mn-lt"/>
                <a:cs typeface="+mn-lt"/>
              </a:rPr>
              <a:t>Installed and configured the T-Pot honeypot environment.</a:t>
            </a:r>
            <a:endParaRPr lang="en-US"/>
          </a:p>
          <a:p>
            <a:pPr marL="285750" indent="-285750">
              <a:buFont typeface="Arial"/>
              <a:buChar char="•"/>
            </a:pPr>
            <a:r>
              <a:rPr lang="en-US">
                <a:ea typeface="+mn-lt"/>
                <a:cs typeface="+mn-lt"/>
              </a:rPr>
              <a:t>Deployed and tested some honeypots such as Cowrie and Dionaea.</a:t>
            </a:r>
            <a:endParaRPr lang="en-US"/>
          </a:p>
          <a:p>
            <a:pPr marL="285750" indent="-285750">
              <a:buFont typeface="Arial"/>
              <a:buChar char="•"/>
            </a:pPr>
            <a:r>
              <a:rPr lang="en-US">
                <a:ea typeface="+mn-lt"/>
                <a:cs typeface="+mn-lt"/>
              </a:rPr>
              <a:t>Configured log storage for honeypot activity, which will store logs in JSON format.</a:t>
            </a:r>
            <a:endParaRPr lang="en-US"/>
          </a:p>
          <a:p>
            <a:pPr marL="285750" indent="-285750">
              <a:buFont typeface="Arial"/>
              <a:buChar char="•"/>
            </a:pPr>
            <a:r>
              <a:rPr lang="en-US">
                <a:ea typeface="+mn-lt"/>
                <a:cs typeface="+mn-lt"/>
              </a:rPr>
              <a:t>Forwarded collected honeypot logs to Splunk for visualization and analysis.</a:t>
            </a:r>
            <a:endParaRPr lang="en-US"/>
          </a:p>
          <a:p>
            <a:pPr marL="285750" indent="-285750">
              <a:buFont typeface="Arial"/>
              <a:buChar char="•"/>
            </a:pPr>
            <a:r>
              <a:rPr lang="en-US">
                <a:ea typeface="+mn-lt"/>
                <a:cs typeface="+mn-lt"/>
              </a:rPr>
              <a:t>Created Splunk SIEM rules and implemented MITRE ATT&amp;CK–based mapping logic </a:t>
            </a:r>
            <a:r>
              <a:rPr lang="en-US">
                <a:latin typeface="Aptos"/>
                <a:ea typeface="+mn-lt"/>
                <a:cs typeface="+mn-lt"/>
              </a:rPr>
              <a:t>for the honeypots tested.</a:t>
            </a:r>
            <a:endParaRPr lang="en-US">
              <a:latin typeface="Aptos"/>
            </a:endParaRPr>
          </a:p>
          <a:p>
            <a:pPr marL="285750" indent="-285750">
              <a:buFont typeface="Arial"/>
              <a:buChar char="•"/>
            </a:pPr>
            <a:r>
              <a:rPr lang="en-US">
                <a:ea typeface="+mn-lt"/>
                <a:cs typeface="+mn-lt"/>
              </a:rPr>
              <a:t>Established attacker–victim connectivity between Kali and T-Pot for controlled testing.</a:t>
            </a:r>
            <a:endParaRPr lang="en-US"/>
          </a:p>
          <a:p>
            <a:pPr marL="285750" indent="-285750">
              <a:buFont typeface="Arial"/>
              <a:buChar char="•"/>
            </a:pPr>
            <a:r>
              <a:rPr lang="en-US">
                <a:ea typeface="+mn-lt"/>
                <a:cs typeface="+mn-lt"/>
              </a:rPr>
              <a:t>Simulated APT-style attacks using tools like Nmap and Hydra to evaluate honeypot effectiveness.</a:t>
            </a:r>
            <a:endParaRPr lang="en-US"/>
          </a:p>
          <a:p>
            <a:pPr marL="285750" indent="-285750" algn="l">
              <a:buFont typeface="Arial"/>
              <a:buChar char="•"/>
            </a:pPr>
            <a:endParaRPr lang="en-US"/>
          </a:p>
        </p:txBody>
      </p:sp>
    </p:spTree>
    <p:extLst>
      <p:ext uri="{BB962C8B-B14F-4D97-AF65-F5344CB8AC3E}">
        <p14:creationId xmlns:p14="http://schemas.microsoft.com/office/powerpoint/2010/main" val="17160446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4CAAE1-236A-2529-B325-09A44CBBF6A7}"/>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141229A7-846D-98A1-572E-F486AE64EB1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21663" y="79092"/>
            <a:ext cx="1740919" cy="402801"/>
          </a:xfrm>
          <a:prstGeom prst="rect">
            <a:avLst/>
          </a:prstGeom>
        </p:spPr>
      </p:pic>
      <p:cxnSp>
        <p:nvCxnSpPr>
          <p:cNvPr id="5" name="Straight Connector 4">
            <a:extLst>
              <a:ext uri="{FF2B5EF4-FFF2-40B4-BE49-F238E27FC236}">
                <a16:creationId xmlns:a16="http://schemas.microsoft.com/office/drawing/2014/main" id="{B6721566-FA1F-06AA-F84C-740F0F95BF7D}"/>
              </a:ext>
            </a:extLst>
          </p:cNvPr>
          <p:cNvCxnSpPr>
            <a:cxnSpLocks/>
          </p:cNvCxnSpPr>
          <p:nvPr/>
        </p:nvCxnSpPr>
        <p:spPr>
          <a:xfrm>
            <a:off x="1109709" y="594804"/>
            <a:ext cx="10235953" cy="0"/>
          </a:xfrm>
          <a:prstGeom prst="line">
            <a:avLst/>
          </a:prstGeom>
        </p:spPr>
        <p:style>
          <a:lnRef idx="3">
            <a:schemeClr val="dk1"/>
          </a:lnRef>
          <a:fillRef idx="0">
            <a:schemeClr val="dk1"/>
          </a:fillRef>
          <a:effectRef idx="2">
            <a:schemeClr val="dk1"/>
          </a:effectRef>
          <a:fontRef idx="minor">
            <a:schemeClr val="tx1"/>
          </a:fontRef>
        </p:style>
      </p:cxnSp>
      <p:cxnSp>
        <p:nvCxnSpPr>
          <p:cNvPr id="6" name="Straight Connector 5">
            <a:extLst>
              <a:ext uri="{FF2B5EF4-FFF2-40B4-BE49-F238E27FC236}">
                <a16:creationId xmlns:a16="http://schemas.microsoft.com/office/drawing/2014/main" id="{E09A8836-8061-31D9-A851-48C445339904}"/>
              </a:ext>
            </a:extLst>
          </p:cNvPr>
          <p:cNvCxnSpPr/>
          <p:nvPr/>
        </p:nvCxnSpPr>
        <p:spPr>
          <a:xfrm>
            <a:off x="1038687" y="6462943"/>
            <a:ext cx="10369119" cy="0"/>
          </a:xfrm>
          <a:prstGeom prst="line">
            <a:avLst/>
          </a:prstGeom>
        </p:spPr>
        <p:style>
          <a:lnRef idx="3">
            <a:schemeClr val="dk1"/>
          </a:lnRef>
          <a:fillRef idx="0">
            <a:schemeClr val="dk1"/>
          </a:fillRef>
          <a:effectRef idx="2">
            <a:schemeClr val="dk1"/>
          </a:effectRef>
          <a:fontRef idx="minor">
            <a:schemeClr val="tx1"/>
          </a:fontRef>
        </p:style>
      </p:cxnSp>
      <p:sp>
        <p:nvSpPr>
          <p:cNvPr id="7" name="TextBox 7">
            <a:extLst>
              <a:ext uri="{FF2B5EF4-FFF2-40B4-BE49-F238E27FC236}">
                <a16:creationId xmlns:a16="http://schemas.microsoft.com/office/drawing/2014/main" id="{DABB7B29-376D-C1A6-D1B5-43DC349B6D0F}"/>
              </a:ext>
            </a:extLst>
          </p:cNvPr>
          <p:cNvSpPr txBox="1"/>
          <p:nvPr/>
        </p:nvSpPr>
        <p:spPr>
          <a:xfrm>
            <a:off x="8788893" y="319596"/>
            <a:ext cx="2821413" cy="276999"/>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1">
                <a:latin typeface="Times New Roman" panose="02020603050405020304" pitchFamily="18" charset="0"/>
                <a:cs typeface="Times New Roman" panose="02020603050405020304" pitchFamily="18" charset="0"/>
              </a:rPr>
              <a:t>TIFAC – CORE in CYBER SECURITY</a:t>
            </a:r>
            <a:endParaRPr lang="en-IN" sz="1200" b="1">
              <a:latin typeface="Times New Roman" panose="02020603050405020304" pitchFamily="18" charset="0"/>
              <a:cs typeface="Times New Roman" panose="02020603050405020304" pitchFamily="18" charset="0"/>
            </a:endParaRPr>
          </a:p>
        </p:txBody>
      </p:sp>
      <p:sp>
        <p:nvSpPr>
          <p:cNvPr id="8" name="Slide Number Placeholder 10">
            <a:extLst>
              <a:ext uri="{FF2B5EF4-FFF2-40B4-BE49-F238E27FC236}">
                <a16:creationId xmlns:a16="http://schemas.microsoft.com/office/drawing/2014/main" id="{217CA7C5-5B7E-6FD7-7A30-116C99266EA8}"/>
              </a:ext>
            </a:extLst>
          </p:cNvPr>
          <p:cNvSpPr>
            <a:spLocks noGrp="1"/>
          </p:cNvSpPr>
          <p:nvPr/>
        </p:nvSpPr>
        <p:spPr>
          <a:xfrm>
            <a:off x="8734887"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C3E5B82-863A-4B66-9E4F-DCFAD2A3B854}" type="slidenum">
              <a:rPr lang="en-IN" smtClean="0"/>
              <a:pPr/>
              <a:t>30</a:t>
            </a:fld>
            <a:endParaRPr lang="en-IN"/>
          </a:p>
        </p:txBody>
      </p:sp>
      <p:sp>
        <p:nvSpPr>
          <p:cNvPr id="9" name="Footer Placeholder 11">
            <a:extLst>
              <a:ext uri="{FF2B5EF4-FFF2-40B4-BE49-F238E27FC236}">
                <a16:creationId xmlns:a16="http://schemas.microsoft.com/office/drawing/2014/main" id="{63C229F2-1F67-216F-0316-261D882962BB}"/>
              </a:ext>
            </a:extLst>
          </p:cNvPr>
          <p:cNvSpPr>
            <a:spLocks noGrp="1"/>
          </p:cNvSpPr>
          <p:nvPr/>
        </p:nvSpPr>
        <p:spPr>
          <a:xfrm>
            <a:off x="4038600" y="64928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20CYS 495 B.Tech CYS: 2022 - 2026 Project Presentation </a:t>
            </a:r>
            <a:endParaRPr lang="en-IN"/>
          </a:p>
        </p:txBody>
      </p:sp>
      <p:sp>
        <p:nvSpPr>
          <p:cNvPr id="12" name="Rectangle 1">
            <a:extLst>
              <a:ext uri="{FF2B5EF4-FFF2-40B4-BE49-F238E27FC236}">
                <a16:creationId xmlns:a16="http://schemas.microsoft.com/office/drawing/2014/main" id="{6C460FE8-93D3-0528-58D2-58F5E0D9715F}"/>
              </a:ext>
            </a:extLst>
          </p:cNvPr>
          <p:cNvSpPr>
            <a:spLocks noChangeArrowheads="1"/>
          </p:cNvSpPr>
          <p:nvPr/>
        </p:nvSpPr>
        <p:spPr bwMode="auto">
          <a:xfrm>
            <a:off x="1038687" y="3369174"/>
            <a:ext cx="10369119"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a:p>
            <a:endParaRPr lang="en-US"/>
          </a:p>
          <a:p>
            <a:endParaRPr lang="en-US"/>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 name="TextBox 1">
            <a:extLst>
              <a:ext uri="{FF2B5EF4-FFF2-40B4-BE49-F238E27FC236}">
                <a16:creationId xmlns:a16="http://schemas.microsoft.com/office/drawing/2014/main" id="{78519C0A-29DF-1CEC-E6BF-586D98B6A8FE}"/>
              </a:ext>
            </a:extLst>
          </p:cNvPr>
          <p:cNvSpPr txBox="1"/>
          <p:nvPr/>
        </p:nvSpPr>
        <p:spPr>
          <a:xfrm>
            <a:off x="1048004" y="977900"/>
            <a:ext cx="10569448" cy="34470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Future Enhancement</a:t>
            </a:r>
            <a:r>
              <a:rPr lang="en-IN" sz="2000" b="1"/>
              <a:t>: </a:t>
            </a:r>
          </a:p>
          <a:p>
            <a:pPr algn="l"/>
            <a:endParaRPr lang="en-IN" sz="2000"/>
          </a:p>
          <a:p>
            <a:endParaRPr lang="en-IN" sz="2000">
              <a:ea typeface="+mn-lt"/>
              <a:cs typeface="+mn-lt"/>
            </a:endParaRPr>
          </a:p>
          <a:p>
            <a:pPr marL="285750" indent="-285750">
              <a:buFont typeface="Arial"/>
              <a:buChar char="•"/>
            </a:pPr>
            <a:r>
              <a:rPr lang="en-IN" sz="2000">
                <a:ea typeface="+mn-lt"/>
                <a:cs typeface="+mn-lt"/>
              </a:rPr>
              <a:t>Integrate the honeypot setup with critical infrastructure environments for more realistic testing.</a:t>
            </a:r>
            <a:endParaRPr lang="en-IN"/>
          </a:p>
          <a:p>
            <a:pPr marL="285750" indent="-285750">
              <a:buFont typeface="Arial"/>
              <a:buChar char="•"/>
            </a:pPr>
            <a:r>
              <a:rPr lang="en-IN" sz="2000">
                <a:ea typeface="+mn-lt"/>
                <a:cs typeface="+mn-lt"/>
              </a:rPr>
              <a:t>Deploy and experiment with additional honeypots beyond the ones currently tested.</a:t>
            </a:r>
            <a:endParaRPr lang="en-IN"/>
          </a:p>
          <a:p>
            <a:pPr marL="285750" indent="-285750">
              <a:buFont typeface="Arial"/>
              <a:buChar char="•"/>
            </a:pPr>
            <a:r>
              <a:rPr lang="en-IN" sz="2000">
                <a:ea typeface="+mn-lt"/>
                <a:cs typeface="+mn-lt"/>
              </a:rPr>
              <a:t>Enhance and expand the MITRE ATT&amp;CK–based mapping logic to support more honeypots and attack techniques.</a:t>
            </a:r>
            <a:endParaRPr lang="en-IN"/>
          </a:p>
          <a:p>
            <a:endParaRPr lang="en-IN" sz="2000"/>
          </a:p>
          <a:p>
            <a:endParaRPr lang="en-IN" sz="2000"/>
          </a:p>
          <a:p>
            <a:endParaRPr lang="en-US"/>
          </a:p>
        </p:txBody>
      </p:sp>
    </p:spTree>
    <p:extLst>
      <p:ext uri="{BB962C8B-B14F-4D97-AF65-F5344CB8AC3E}">
        <p14:creationId xmlns:p14="http://schemas.microsoft.com/office/powerpoint/2010/main" val="67504210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2373CE-4C46-7DCD-28B7-6A449520BF71}"/>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7AE2FF91-0163-8343-0B58-D73470E4A19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21663" y="79092"/>
            <a:ext cx="1740919" cy="402801"/>
          </a:xfrm>
          <a:prstGeom prst="rect">
            <a:avLst/>
          </a:prstGeom>
        </p:spPr>
      </p:pic>
      <p:cxnSp>
        <p:nvCxnSpPr>
          <p:cNvPr id="5" name="Straight Connector 4">
            <a:extLst>
              <a:ext uri="{FF2B5EF4-FFF2-40B4-BE49-F238E27FC236}">
                <a16:creationId xmlns:a16="http://schemas.microsoft.com/office/drawing/2014/main" id="{44468627-6DB9-128C-5001-2F44239D9DC0}"/>
              </a:ext>
            </a:extLst>
          </p:cNvPr>
          <p:cNvCxnSpPr>
            <a:cxnSpLocks/>
          </p:cNvCxnSpPr>
          <p:nvPr/>
        </p:nvCxnSpPr>
        <p:spPr>
          <a:xfrm>
            <a:off x="1109709" y="594804"/>
            <a:ext cx="10235953" cy="0"/>
          </a:xfrm>
          <a:prstGeom prst="line">
            <a:avLst/>
          </a:prstGeom>
        </p:spPr>
        <p:style>
          <a:lnRef idx="3">
            <a:schemeClr val="dk1"/>
          </a:lnRef>
          <a:fillRef idx="0">
            <a:schemeClr val="dk1"/>
          </a:fillRef>
          <a:effectRef idx="2">
            <a:schemeClr val="dk1"/>
          </a:effectRef>
          <a:fontRef idx="minor">
            <a:schemeClr val="tx1"/>
          </a:fontRef>
        </p:style>
      </p:cxnSp>
      <p:cxnSp>
        <p:nvCxnSpPr>
          <p:cNvPr id="6" name="Straight Connector 5">
            <a:extLst>
              <a:ext uri="{FF2B5EF4-FFF2-40B4-BE49-F238E27FC236}">
                <a16:creationId xmlns:a16="http://schemas.microsoft.com/office/drawing/2014/main" id="{6DCCBE86-E23F-20C8-FA89-50674FD70B33}"/>
              </a:ext>
            </a:extLst>
          </p:cNvPr>
          <p:cNvCxnSpPr/>
          <p:nvPr/>
        </p:nvCxnSpPr>
        <p:spPr>
          <a:xfrm>
            <a:off x="1038687" y="6462943"/>
            <a:ext cx="10369119" cy="0"/>
          </a:xfrm>
          <a:prstGeom prst="line">
            <a:avLst/>
          </a:prstGeom>
        </p:spPr>
        <p:style>
          <a:lnRef idx="3">
            <a:schemeClr val="dk1"/>
          </a:lnRef>
          <a:fillRef idx="0">
            <a:schemeClr val="dk1"/>
          </a:fillRef>
          <a:effectRef idx="2">
            <a:schemeClr val="dk1"/>
          </a:effectRef>
          <a:fontRef idx="minor">
            <a:schemeClr val="tx1"/>
          </a:fontRef>
        </p:style>
      </p:cxnSp>
      <p:sp>
        <p:nvSpPr>
          <p:cNvPr id="7" name="TextBox 7">
            <a:extLst>
              <a:ext uri="{FF2B5EF4-FFF2-40B4-BE49-F238E27FC236}">
                <a16:creationId xmlns:a16="http://schemas.microsoft.com/office/drawing/2014/main" id="{D36AD324-1CCB-ED2D-1CED-502BC7E2F6ED}"/>
              </a:ext>
            </a:extLst>
          </p:cNvPr>
          <p:cNvSpPr txBox="1"/>
          <p:nvPr/>
        </p:nvSpPr>
        <p:spPr>
          <a:xfrm>
            <a:off x="8788893" y="319596"/>
            <a:ext cx="2821413" cy="276999"/>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1">
                <a:latin typeface="Times New Roman" panose="02020603050405020304" pitchFamily="18" charset="0"/>
                <a:cs typeface="Times New Roman" panose="02020603050405020304" pitchFamily="18" charset="0"/>
              </a:rPr>
              <a:t>TIFAC – CORE in CYBER SECURITY</a:t>
            </a:r>
            <a:endParaRPr lang="en-IN" sz="1200" b="1">
              <a:latin typeface="Times New Roman" panose="02020603050405020304" pitchFamily="18" charset="0"/>
              <a:cs typeface="Times New Roman" panose="02020603050405020304" pitchFamily="18" charset="0"/>
            </a:endParaRPr>
          </a:p>
        </p:txBody>
      </p:sp>
      <p:sp>
        <p:nvSpPr>
          <p:cNvPr id="8" name="Slide Number Placeholder 10">
            <a:extLst>
              <a:ext uri="{FF2B5EF4-FFF2-40B4-BE49-F238E27FC236}">
                <a16:creationId xmlns:a16="http://schemas.microsoft.com/office/drawing/2014/main" id="{46342480-0424-B58D-DAEC-3ACC96C7C505}"/>
              </a:ext>
            </a:extLst>
          </p:cNvPr>
          <p:cNvSpPr>
            <a:spLocks noGrp="1"/>
          </p:cNvSpPr>
          <p:nvPr/>
        </p:nvSpPr>
        <p:spPr>
          <a:xfrm>
            <a:off x="8734887"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C3E5B82-863A-4B66-9E4F-DCFAD2A3B854}" type="slidenum">
              <a:rPr lang="en-IN" smtClean="0"/>
              <a:pPr/>
              <a:t>31</a:t>
            </a:fld>
            <a:endParaRPr lang="en-IN"/>
          </a:p>
        </p:txBody>
      </p:sp>
      <p:sp>
        <p:nvSpPr>
          <p:cNvPr id="9" name="Footer Placeholder 11">
            <a:extLst>
              <a:ext uri="{FF2B5EF4-FFF2-40B4-BE49-F238E27FC236}">
                <a16:creationId xmlns:a16="http://schemas.microsoft.com/office/drawing/2014/main" id="{C9724D99-B55E-1349-0685-FE2A162CB7CA}"/>
              </a:ext>
            </a:extLst>
          </p:cNvPr>
          <p:cNvSpPr>
            <a:spLocks noGrp="1"/>
          </p:cNvSpPr>
          <p:nvPr/>
        </p:nvSpPr>
        <p:spPr>
          <a:xfrm>
            <a:off x="4038600" y="64928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20CYS 495 B.Tech CYS: 2022 - 2026 Project Presentation </a:t>
            </a:r>
            <a:endParaRPr lang="en-IN"/>
          </a:p>
        </p:txBody>
      </p:sp>
      <p:sp>
        <p:nvSpPr>
          <p:cNvPr id="12" name="Rectangle 1">
            <a:extLst>
              <a:ext uri="{FF2B5EF4-FFF2-40B4-BE49-F238E27FC236}">
                <a16:creationId xmlns:a16="http://schemas.microsoft.com/office/drawing/2014/main" id="{EDB19442-2566-3C8D-3343-43198F7E8353}"/>
              </a:ext>
            </a:extLst>
          </p:cNvPr>
          <p:cNvSpPr>
            <a:spLocks noChangeArrowheads="1"/>
          </p:cNvSpPr>
          <p:nvPr/>
        </p:nvSpPr>
        <p:spPr bwMode="auto">
          <a:xfrm>
            <a:off x="1038687" y="3369174"/>
            <a:ext cx="10369119"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a:p>
            <a:endParaRPr lang="en-US"/>
          </a:p>
          <a:p>
            <a:endParaRPr lang="en-US"/>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 name="TextBox 1">
            <a:extLst>
              <a:ext uri="{FF2B5EF4-FFF2-40B4-BE49-F238E27FC236}">
                <a16:creationId xmlns:a16="http://schemas.microsoft.com/office/drawing/2014/main" id="{FBDD7AD1-D7AC-B04E-5A2F-9FDF2EEDCF09}"/>
              </a:ext>
            </a:extLst>
          </p:cNvPr>
          <p:cNvSpPr txBox="1"/>
          <p:nvPr/>
        </p:nvSpPr>
        <p:spPr>
          <a:xfrm>
            <a:off x="1089660" y="965200"/>
            <a:ext cx="8600439" cy="261610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Real-world Deployment Possibilities:</a:t>
            </a:r>
            <a:endParaRPr lang="en-US" sz="2000"/>
          </a:p>
          <a:p>
            <a:endParaRPr lang="en-US" b="1">
              <a:ea typeface="+mn-lt"/>
              <a:cs typeface="+mn-lt"/>
            </a:endParaRPr>
          </a:p>
          <a:p>
            <a:endParaRPr lang="en-US" b="1">
              <a:ea typeface="+mn-lt"/>
              <a:cs typeface="+mn-lt"/>
            </a:endParaRPr>
          </a:p>
          <a:p>
            <a:pPr marL="285750" indent="-285750">
              <a:buFont typeface="Arial"/>
              <a:buChar char="•"/>
            </a:pPr>
            <a:r>
              <a:rPr lang="en-US">
                <a:ea typeface="+mn-lt"/>
                <a:cs typeface="+mn-lt"/>
              </a:rPr>
              <a:t>Deployment in enterprise SOC environments for proactive threat detection.</a:t>
            </a:r>
            <a:endParaRPr lang="en-US"/>
          </a:p>
          <a:p>
            <a:pPr marL="285750" indent="-285750">
              <a:buFont typeface="Arial"/>
              <a:buChar char="•"/>
            </a:pPr>
            <a:r>
              <a:rPr lang="en-US">
                <a:ea typeface="+mn-lt"/>
                <a:cs typeface="+mn-lt"/>
              </a:rPr>
              <a:t>Integration with existing SIEM pipelines such as Splunk or ELK for centralized monitoring.</a:t>
            </a:r>
            <a:endParaRPr lang="en-US"/>
          </a:p>
          <a:p>
            <a:pPr marL="285750" indent="-285750">
              <a:buFont typeface="Arial"/>
              <a:buChar char="•"/>
            </a:pPr>
            <a:r>
              <a:rPr lang="en-US">
                <a:ea typeface="+mn-lt"/>
                <a:cs typeface="+mn-lt"/>
              </a:rPr>
              <a:t>Use in educational cybersecurity labs to support APT awareness and hands-on training.</a:t>
            </a:r>
            <a:endParaRPr lang="en-US"/>
          </a:p>
          <a:p>
            <a:endParaRPr lang="en-US" b="1"/>
          </a:p>
        </p:txBody>
      </p:sp>
    </p:spTree>
    <p:extLst>
      <p:ext uri="{BB962C8B-B14F-4D97-AF65-F5344CB8AC3E}">
        <p14:creationId xmlns:p14="http://schemas.microsoft.com/office/powerpoint/2010/main" val="116143312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5D39AF-7058-6307-9FFD-4453F4B672B6}"/>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79E62447-61AE-EE7B-DB65-4D829EDBEA9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21663" y="79092"/>
            <a:ext cx="1740919" cy="402801"/>
          </a:xfrm>
          <a:prstGeom prst="rect">
            <a:avLst/>
          </a:prstGeom>
        </p:spPr>
      </p:pic>
      <p:cxnSp>
        <p:nvCxnSpPr>
          <p:cNvPr id="5" name="Straight Connector 4">
            <a:extLst>
              <a:ext uri="{FF2B5EF4-FFF2-40B4-BE49-F238E27FC236}">
                <a16:creationId xmlns:a16="http://schemas.microsoft.com/office/drawing/2014/main" id="{46BE4C06-4DC9-666C-6F0F-96D69C65AC82}"/>
              </a:ext>
            </a:extLst>
          </p:cNvPr>
          <p:cNvCxnSpPr>
            <a:cxnSpLocks/>
          </p:cNvCxnSpPr>
          <p:nvPr/>
        </p:nvCxnSpPr>
        <p:spPr>
          <a:xfrm>
            <a:off x="1109709" y="594804"/>
            <a:ext cx="10235953" cy="0"/>
          </a:xfrm>
          <a:prstGeom prst="line">
            <a:avLst/>
          </a:prstGeom>
        </p:spPr>
        <p:style>
          <a:lnRef idx="3">
            <a:schemeClr val="dk1"/>
          </a:lnRef>
          <a:fillRef idx="0">
            <a:schemeClr val="dk1"/>
          </a:fillRef>
          <a:effectRef idx="2">
            <a:schemeClr val="dk1"/>
          </a:effectRef>
          <a:fontRef idx="minor">
            <a:schemeClr val="tx1"/>
          </a:fontRef>
        </p:style>
      </p:cxnSp>
      <p:cxnSp>
        <p:nvCxnSpPr>
          <p:cNvPr id="6" name="Straight Connector 5">
            <a:extLst>
              <a:ext uri="{FF2B5EF4-FFF2-40B4-BE49-F238E27FC236}">
                <a16:creationId xmlns:a16="http://schemas.microsoft.com/office/drawing/2014/main" id="{E7559D18-4B16-6D08-8C1D-E6891E2D1D97}"/>
              </a:ext>
            </a:extLst>
          </p:cNvPr>
          <p:cNvCxnSpPr/>
          <p:nvPr/>
        </p:nvCxnSpPr>
        <p:spPr>
          <a:xfrm>
            <a:off x="1038687" y="6462943"/>
            <a:ext cx="10369119" cy="0"/>
          </a:xfrm>
          <a:prstGeom prst="line">
            <a:avLst/>
          </a:prstGeom>
        </p:spPr>
        <p:style>
          <a:lnRef idx="3">
            <a:schemeClr val="dk1"/>
          </a:lnRef>
          <a:fillRef idx="0">
            <a:schemeClr val="dk1"/>
          </a:fillRef>
          <a:effectRef idx="2">
            <a:schemeClr val="dk1"/>
          </a:effectRef>
          <a:fontRef idx="minor">
            <a:schemeClr val="tx1"/>
          </a:fontRef>
        </p:style>
      </p:cxnSp>
      <p:sp>
        <p:nvSpPr>
          <p:cNvPr id="7" name="TextBox 7">
            <a:extLst>
              <a:ext uri="{FF2B5EF4-FFF2-40B4-BE49-F238E27FC236}">
                <a16:creationId xmlns:a16="http://schemas.microsoft.com/office/drawing/2014/main" id="{88FB0CD2-4334-1A6B-7939-F858AE3708E6}"/>
              </a:ext>
            </a:extLst>
          </p:cNvPr>
          <p:cNvSpPr txBox="1"/>
          <p:nvPr/>
        </p:nvSpPr>
        <p:spPr>
          <a:xfrm>
            <a:off x="8788893" y="319596"/>
            <a:ext cx="2821413" cy="276999"/>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1">
                <a:latin typeface="Times New Roman" panose="02020603050405020304" pitchFamily="18" charset="0"/>
                <a:cs typeface="Times New Roman" panose="02020603050405020304" pitchFamily="18" charset="0"/>
              </a:rPr>
              <a:t>TIFAC – CORE in CYBER SECURITY</a:t>
            </a:r>
            <a:endParaRPr lang="en-IN" sz="1200" b="1">
              <a:latin typeface="Times New Roman" panose="02020603050405020304" pitchFamily="18" charset="0"/>
              <a:cs typeface="Times New Roman" panose="02020603050405020304" pitchFamily="18" charset="0"/>
            </a:endParaRPr>
          </a:p>
        </p:txBody>
      </p:sp>
      <p:sp>
        <p:nvSpPr>
          <p:cNvPr id="8" name="Slide Number Placeholder 10">
            <a:extLst>
              <a:ext uri="{FF2B5EF4-FFF2-40B4-BE49-F238E27FC236}">
                <a16:creationId xmlns:a16="http://schemas.microsoft.com/office/drawing/2014/main" id="{15FD1A83-B8AA-9253-A300-1450A5868AEC}"/>
              </a:ext>
            </a:extLst>
          </p:cNvPr>
          <p:cNvSpPr>
            <a:spLocks noGrp="1"/>
          </p:cNvSpPr>
          <p:nvPr/>
        </p:nvSpPr>
        <p:spPr>
          <a:xfrm>
            <a:off x="8734887"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C3E5B82-863A-4B66-9E4F-DCFAD2A3B854}" type="slidenum">
              <a:rPr lang="en-IN" smtClean="0"/>
              <a:pPr/>
              <a:t>32</a:t>
            </a:fld>
            <a:endParaRPr lang="en-IN"/>
          </a:p>
        </p:txBody>
      </p:sp>
      <p:sp>
        <p:nvSpPr>
          <p:cNvPr id="9" name="Footer Placeholder 11">
            <a:extLst>
              <a:ext uri="{FF2B5EF4-FFF2-40B4-BE49-F238E27FC236}">
                <a16:creationId xmlns:a16="http://schemas.microsoft.com/office/drawing/2014/main" id="{66616064-3FF7-4042-1136-E112957AC447}"/>
              </a:ext>
            </a:extLst>
          </p:cNvPr>
          <p:cNvSpPr>
            <a:spLocks noGrp="1"/>
          </p:cNvSpPr>
          <p:nvPr/>
        </p:nvSpPr>
        <p:spPr>
          <a:xfrm>
            <a:off x="4038600" y="64928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20CYS 495 B.Tech CYS: 2022 - 2026 Project Presentation </a:t>
            </a:r>
            <a:endParaRPr lang="en-IN"/>
          </a:p>
        </p:txBody>
      </p:sp>
      <p:sp>
        <p:nvSpPr>
          <p:cNvPr id="12" name="Rectangle 1">
            <a:extLst>
              <a:ext uri="{FF2B5EF4-FFF2-40B4-BE49-F238E27FC236}">
                <a16:creationId xmlns:a16="http://schemas.microsoft.com/office/drawing/2014/main" id="{91E2D234-E953-F3B5-8109-23172C8E5EF4}"/>
              </a:ext>
            </a:extLst>
          </p:cNvPr>
          <p:cNvSpPr>
            <a:spLocks noChangeArrowheads="1"/>
          </p:cNvSpPr>
          <p:nvPr/>
        </p:nvSpPr>
        <p:spPr bwMode="auto">
          <a:xfrm>
            <a:off x="1038687" y="876184"/>
            <a:ext cx="10369119" cy="6186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000" b="1"/>
              <a:t>References</a:t>
            </a:r>
          </a:p>
          <a:p>
            <a:endParaRPr lang="en-US" b="1"/>
          </a:p>
          <a:p>
            <a:pPr>
              <a:buFont typeface="+mj-lt"/>
              <a:buAutoNum type="arabicPeriod"/>
            </a:pPr>
            <a:r>
              <a:rPr lang="en-US"/>
              <a:t>MITRE ATT&amp;CK Framework — </a:t>
            </a:r>
            <a:r>
              <a:rPr lang="en-US">
                <a:hlinkClick r:id="rId4"/>
              </a:rPr>
              <a:t>https://attack.mitre.org2</a:t>
            </a:r>
            <a:endParaRPr lang="en-US"/>
          </a:p>
          <a:p>
            <a:pPr>
              <a:buFont typeface="+mj-lt"/>
              <a:buAutoNum type="arabicPeriod"/>
            </a:pPr>
            <a:r>
              <a:rPr lang="en-US"/>
              <a:t>Splunk Docs – https://docs.splunk.com</a:t>
            </a:r>
          </a:p>
          <a:p>
            <a:r>
              <a:rPr lang="en-US"/>
              <a:t>3.T-Pot Community Edition – </a:t>
            </a:r>
            <a:r>
              <a:rPr lang="en-US">
                <a:hlinkClick r:id="rId5"/>
              </a:rPr>
              <a:t>https://github.com/telekom-security/tpotce</a:t>
            </a:r>
            <a:endParaRPr lang="en-US"/>
          </a:p>
          <a:p>
            <a:r>
              <a:rPr lang="en-US"/>
              <a:t>4.Kali Linux Documentation – </a:t>
            </a:r>
            <a:r>
              <a:rPr lang="en-US">
                <a:hlinkClick r:id="rId6"/>
              </a:rPr>
              <a:t>https://www.kali.org/docs/</a:t>
            </a:r>
            <a:endParaRPr lang="en-US"/>
          </a:p>
          <a:p>
            <a:r>
              <a:rPr lang="en-US"/>
              <a:t>5. Bartwal, U., Mukhopadhyay, S., Negi, R., Shukla, S. (2022). Security </a:t>
            </a:r>
            <a:r>
              <a:rPr lang="en-US" err="1"/>
              <a:t>orches-tration</a:t>
            </a:r>
            <a:r>
              <a:rPr lang="en-US"/>
              <a:t>, automation, and response engine for deployment of </a:t>
            </a:r>
            <a:r>
              <a:rPr lang="en-US" err="1"/>
              <a:t>behavioural</a:t>
            </a:r>
            <a:r>
              <a:rPr lang="en-US"/>
              <a:t> honey-pots. 2022 IEEE Conference on Dependable and Secure Computing (DSC), 1–8.https://doi.org/10.1109/dsc54232.2022.9888808</a:t>
            </a:r>
          </a:p>
          <a:p>
            <a:r>
              <a:rPr lang="en-US"/>
              <a:t>6. P.V. Sai Charan, Mukhopadhyay, S., Manna, S., Rani, N., Vaid, A., </a:t>
            </a:r>
            <a:r>
              <a:rPr lang="en-US" err="1"/>
              <a:t>HrushikeshChunduri</a:t>
            </a:r>
            <a:r>
              <a:rPr lang="en-US"/>
              <a:t>, P. Mohan Anand, Sandeep Kumar Shukla. (2024). ADAPT: </a:t>
            </a:r>
            <a:r>
              <a:rPr lang="en-US" err="1"/>
              <a:t>Adap-tive</a:t>
            </a:r>
            <a:r>
              <a:rPr lang="en-US"/>
              <a:t> Camouflage Based Deception Orchestration For Trapping Advanced </a:t>
            </a:r>
            <a:r>
              <a:rPr lang="en-US" err="1"/>
              <a:t>PersistentThreats</a:t>
            </a:r>
            <a:r>
              <a:rPr lang="en-US"/>
              <a:t>. Digital Threats. </a:t>
            </a:r>
            <a:r>
              <a:rPr lang="en-US">
                <a:hlinkClick r:id="rId7"/>
              </a:rPr>
              <a:t>https://doi.org/10.1145/3651991</a:t>
            </a:r>
            <a:endParaRPr lang="en-US"/>
          </a:p>
          <a:p>
            <a:r>
              <a:rPr lang="en-US"/>
              <a:t>7. Harikrishnan, V. N., Kumar, G. T. (2018). Advanced persistent threat analysis </a:t>
            </a:r>
            <a:r>
              <a:rPr lang="en-US" err="1"/>
              <a:t>usingSplunk</a:t>
            </a:r>
            <a:r>
              <a:rPr lang="en-US"/>
              <a:t>. International Journal of Pure and Applied Mathematics, 118(20), 3761-3768</a:t>
            </a:r>
          </a:p>
          <a:p>
            <a:r>
              <a:rPr lang="en-US"/>
              <a:t>8. Malik, V., Khanna, A., Sharma, N., Suryaprakash </a:t>
            </a:r>
            <a:r>
              <a:rPr lang="en-US" err="1"/>
              <a:t>nalluri</a:t>
            </a:r>
            <a:r>
              <a:rPr lang="en-US"/>
              <a:t>. (2024). </a:t>
            </a:r>
            <a:r>
              <a:rPr lang="en-US" err="1"/>
              <a:t>AdvancedPersistent</a:t>
            </a:r>
            <a:r>
              <a:rPr lang="en-US"/>
              <a:t> Threats (APTs): Detection Techniques and Mitigation Strategies.https://doi.org/10.21428/e90189c8.91e89a3e</a:t>
            </a:r>
          </a:p>
          <a:p>
            <a:r>
              <a:rPr lang="en-US"/>
              <a:t>9. Xuan, C. D., Huong, D., Duong, D. (2022). New approach for APT malware de-</a:t>
            </a:r>
            <a:r>
              <a:rPr lang="en-US" err="1"/>
              <a:t>tection</a:t>
            </a:r>
            <a:r>
              <a:rPr lang="en-US"/>
              <a:t> on the workstation based on process profile. Journal of Intelligent </a:t>
            </a:r>
            <a:r>
              <a:rPr lang="en-US" err="1"/>
              <a:t>FuzzySystems</a:t>
            </a:r>
            <a:r>
              <a:rPr lang="en-US"/>
              <a:t>, 43(4), 4815–4834. https://doi.org/10.3233/jifs-212880</a:t>
            </a:r>
          </a:p>
          <a:p>
            <a:endParaRPr lang="en-US"/>
          </a:p>
          <a:p>
            <a:endParaRPr lang="en-US"/>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4912356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1EE339-F4A3-E617-1BAB-F040E7C66DC0}"/>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2A9533D6-4634-1688-F55C-9D232DE3BEC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21663" y="79092"/>
            <a:ext cx="1740919" cy="402801"/>
          </a:xfrm>
          <a:prstGeom prst="rect">
            <a:avLst/>
          </a:prstGeom>
        </p:spPr>
      </p:pic>
      <p:cxnSp>
        <p:nvCxnSpPr>
          <p:cNvPr id="5" name="Straight Connector 4">
            <a:extLst>
              <a:ext uri="{FF2B5EF4-FFF2-40B4-BE49-F238E27FC236}">
                <a16:creationId xmlns:a16="http://schemas.microsoft.com/office/drawing/2014/main" id="{166B07E6-BFA2-FB57-A475-3E9C193CEC52}"/>
              </a:ext>
            </a:extLst>
          </p:cNvPr>
          <p:cNvCxnSpPr>
            <a:cxnSpLocks/>
          </p:cNvCxnSpPr>
          <p:nvPr/>
        </p:nvCxnSpPr>
        <p:spPr>
          <a:xfrm>
            <a:off x="1109709" y="594804"/>
            <a:ext cx="10235953" cy="0"/>
          </a:xfrm>
          <a:prstGeom prst="line">
            <a:avLst/>
          </a:prstGeom>
        </p:spPr>
        <p:style>
          <a:lnRef idx="3">
            <a:schemeClr val="dk1"/>
          </a:lnRef>
          <a:fillRef idx="0">
            <a:schemeClr val="dk1"/>
          </a:fillRef>
          <a:effectRef idx="2">
            <a:schemeClr val="dk1"/>
          </a:effectRef>
          <a:fontRef idx="minor">
            <a:schemeClr val="tx1"/>
          </a:fontRef>
        </p:style>
      </p:cxnSp>
      <p:cxnSp>
        <p:nvCxnSpPr>
          <p:cNvPr id="6" name="Straight Connector 5">
            <a:extLst>
              <a:ext uri="{FF2B5EF4-FFF2-40B4-BE49-F238E27FC236}">
                <a16:creationId xmlns:a16="http://schemas.microsoft.com/office/drawing/2014/main" id="{F96AF3A5-EB6F-B073-DCAB-1647931FB638}"/>
              </a:ext>
            </a:extLst>
          </p:cNvPr>
          <p:cNvCxnSpPr/>
          <p:nvPr/>
        </p:nvCxnSpPr>
        <p:spPr>
          <a:xfrm>
            <a:off x="1038687" y="6462943"/>
            <a:ext cx="10369119" cy="0"/>
          </a:xfrm>
          <a:prstGeom prst="line">
            <a:avLst/>
          </a:prstGeom>
        </p:spPr>
        <p:style>
          <a:lnRef idx="3">
            <a:schemeClr val="dk1"/>
          </a:lnRef>
          <a:fillRef idx="0">
            <a:schemeClr val="dk1"/>
          </a:fillRef>
          <a:effectRef idx="2">
            <a:schemeClr val="dk1"/>
          </a:effectRef>
          <a:fontRef idx="minor">
            <a:schemeClr val="tx1"/>
          </a:fontRef>
        </p:style>
      </p:cxnSp>
      <p:sp>
        <p:nvSpPr>
          <p:cNvPr id="7" name="TextBox 7">
            <a:extLst>
              <a:ext uri="{FF2B5EF4-FFF2-40B4-BE49-F238E27FC236}">
                <a16:creationId xmlns:a16="http://schemas.microsoft.com/office/drawing/2014/main" id="{A5F8B717-10A7-6906-AB5D-77F46484B31D}"/>
              </a:ext>
            </a:extLst>
          </p:cNvPr>
          <p:cNvSpPr txBox="1"/>
          <p:nvPr/>
        </p:nvSpPr>
        <p:spPr>
          <a:xfrm>
            <a:off x="8788893" y="319596"/>
            <a:ext cx="2821413" cy="276999"/>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1">
                <a:latin typeface="Times New Roman" panose="02020603050405020304" pitchFamily="18" charset="0"/>
                <a:cs typeface="Times New Roman" panose="02020603050405020304" pitchFamily="18" charset="0"/>
              </a:rPr>
              <a:t>TIFAC – CORE in CYBER SECURITY</a:t>
            </a:r>
            <a:endParaRPr lang="en-IN" sz="1200" b="1">
              <a:latin typeface="Times New Roman" panose="02020603050405020304" pitchFamily="18" charset="0"/>
              <a:cs typeface="Times New Roman" panose="02020603050405020304" pitchFamily="18" charset="0"/>
            </a:endParaRPr>
          </a:p>
        </p:txBody>
      </p:sp>
      <p:sp>
        <p:nvSpPr>
          <p:cNvPr id="8" name="Slide Number Placeholder 10">
            <a:extLst>
              <a:ext uri="{FF2B5EF4-FFF2-40B4-BE49-F238E27FC236}">
                <a16:creationId xmlns:a16="http://schemas.microsoft.com/office/drawing/2014/main" id="{141AFEB0-E26D-1821-23C0-A92EB0188E23}"/>
              </a:ext>
            </a:extLst>
          </p:cNvPr>
          <p:cNvSpPr>
            <a:spLocks noGrp="1"/>
          </p:cNvSpPr>
          <p:nvPr/>
        </p:nvSpPr>
        <p:spPr>
          <a:xfrm>
            <a:off x="8734887"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C3E5B82-863A-4B66-9E4F-DCFAD2A3B854}" type="slidenum">
              <a:rPr lang="en-IN" smtClean="0"/>
              <a:pPr/>
              <a:t>33</a:t>
            </a:fld>
            <a:endParaRPr lang="en-IN"/>
          </a:p>
        </p:txBody>
      </p:sp>
      <p:sp>
        <p:nvSpPr>
          <p:cNvPr id="9" name="Footer Placeholder 11">
            <a:extLst>
              <a:ext uri="{FF2B5EF4-FFF2-40B4-BE49-F238E27FC236}">
                <a16:creationId xmlns:a16="http://schemas.microsoft.com/office/drawing/2014/main" id="{506EC547-AE6A-9A1B-215E-A66013401645}"/>
              </a:ext>
            </a:extLst>
          </p:cNvPr>
          <p:cNvSpPr>
            <a:spLocks noGrp="1"/>
          </p:cNvSpPr>
          <p:nvPr/>
        </p:nvSpPr>
        <p:spPr>
          <a:xfrm>
            <a:off x="4038600" y="64928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20CYS 495 B.Tech CYS: 2022 - 2026 Project Presentation </a:t>
            </a:r>
            <a:endParaRPr lang="en-IN"/>
          </a:p>
        </p:txBody>
      </p:sp>
      <p:sp>
        <p:nvSpPr>
          <p:cNvPr id="12" name="Rectangle 1">
            <a:extLst>
              <a:ext uri="{FF2B5EF4-FFF2-40B4-BE49-F238E27FC236}">
                <a16:creationId xmlns:a16="http://schemas.microsoft.com/office/drawing/2014/main" id="{4DF92C41-2FDB-DC85-281B-77E64F942ED9}"/>
              </a:ext>
            </a:extLst>
          </p:cNvPr>
          <p:cNvSpPr>
            <a:spLocks noChangeArrowheads="1"/>
          </p:cNvSpPr>
          <p:nvPr/>
        </p:nvSpPr>
        <p:spPr bwMode="auto">
          <a:xfrm>
            <a:off x="1038687" y="3369174"/>
            <a:ext cx="10369119"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a:p>
            <a:endParaRPr lang="en-US"/>
          </a:p>
          <a:p>
            <a:endParaRPr lang="en-US"/>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 name="TextBox 2">
            <a:extLst>
              <a:ext uri="{FF2B5EF4-FFF2-40B4-BE49-F238E27FC236}">
                <a16:creationId xmlns:a16="http://schemas.microsoft.com/office/drawing/2014/main" id="{7EAE4695-B919-4A4D-C44D-836E824E0923}"/>
              </a:ext>
            </a:extLst>
          </p:cNvPr>
          <p:cNvSpPr txBox="1"/>
          <p:nvPr/>
        </p:nvSpPr>
        <p:spPr>
          <a:xfrm>
            <a:off x="3679444" y="2998216"/>
            <a:ext cx="4838700" cy="86177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5000"/>
              <a:t>Thank You !!</a:t>
            </a:r>
            <a:endParaRPr lang="en-US"/>
          </a:p>
        </p:txBody>
      </p:sp>
    </p:spTree>
    <p:extLst>
      <p:ext uri="{BB962C8B-B14F-4D97-AF65-F5344CB8AC3E}">
        <p14:creationId xmlns:p14="http://schemas.microsoft.com/office/powerpoint/2010/main" val="41669875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33</Slides>
  <Notes>5</Notes>
  <HiddenSlides>0</HiddenSlides>
  <ScaleCrop>false</ScaleCrop>
  <HeadingPairs>
    <vt:vector size="4" baseType="variant">
      <vt:variant>
        <vt:lpstr>Theme</vt:lpstr>
      </vt:variant>
      <vt:variant>
        <vt:i4>1</vt:i4>
      </vt:variant>
      <vt:variant>
        <vt:lpstr>Slide Titles</vt:lpstr>
      </vt:variant>
      <vt:variant>
        <vt:i4>33</vt:i4>
      </vt:variant>
    </vt:vector>
  </HeadingPairs>
  <TitlesOfParts>
    <vt:vector size="34" baseType="lpstr">
      <vt:lpstr>office theme</vt:lpstr>
      <vt:lpstr>PowerPoint Presentation</vt:lpstr>
      <vt:lpstr> </vt:lpstr>
      <vt:lpstr> </vt:lpstr>
      <vt:lpstr> </vt:lpstr>
      <vt:lpstr>PowerPoint Presentation</vt:lpstr>
      <vt:lpstr>Algorithms/Models Used:  Rule-based Detection Algorithms in Splunk (mapping log patterns → APT stages) </vt:lpstr>
      <vt:lpstr>PowerPoint Presentation</vt:lpstr>
      <vt:lpstr> </vt:lpstr>
      <vt:lpstr> </vt:lpstr>
      <vt:lpstr> </vt:lpstr>
      <vt:lpstr> </vt:lpstr>
      <vt:lpstr> </vt:lpstr>
      <vt:lpstr> </vt:lpstr>
      <vt:lpstr> </vt:lpstr>
      <vt:lpstr> </vt:lpstr>
      <vt:lpstr> </vt:lpstr>
      <vt:lpstr>PowerPoint Presentation</vt:lpstr>
      <vt:lpstr>PowerPoint Presentation</vt:lpstr>
      <vt:lpstr>PowerPoint Presentation</vt:lpstr>
      <vt:lpstr>PowerPoint Presentation</vt:lpstr>
      <vt:lpstr> </vt:lpstr>
      <vt:lpstr> </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revision>17</cp:revision>
  <dcterms:created xsi:type="dcterms:W3CDTF">2025-09-14T06:43:16Z</dcterms:created>
  <dcterms:modified xsi:type="dcterms:W3CDTF">2025-11-14T16:34:26Z</dcterms:modified>
</cp:coreProperties>
</file>