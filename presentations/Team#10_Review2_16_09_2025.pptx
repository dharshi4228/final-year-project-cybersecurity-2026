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8" r:id="rId2"/>
    <p:sldId id="256" r:id="rId3"/>
    <p:sldId id="257" r:id="rId4"/>
    <p:sldId id="259" r:id="rId5"/>
    <p:sldId id="260" r:id="rId6"/>
    <p:sldId id="261" r:id="rId7"/>
    <p:sldId id="262" r:id="rId8"/>
    <p:sldId id="264" r:id="rId9"/>
    <p:sldId id="263"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99F70C-93A5-65BB-CB47-EB22E287A92B}" v="178" dt="2025-09-15T16:14:23.102"/>
    <p1510:client id="{50C22CC7-7241-AFF9-908A-88D81EF99306}" v="4" dt="2025-09-15T13:05:05.592"/>
    <p1510:client id="{5604ACFF-C85D-6CD7-21CC-D35DD73C586D}" v="68" dt="2025-09-15T16:20:40.166"/>
    <p1510:client id="{C011F650-96EC-B4D6-2157-BFB71EC5DAFC}" v="155" dt="2025-09-15T17:43:46.666"/>
    <p1510:client id="{F32FA303-E97D-A6EA-A9E7-E5C4509D7B93}" v="553" dt="2025-09-15T12:57:52.52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9/15/2025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9/15/2025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9/15/2025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9/15/2025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9/15/2025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9/15/2025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9/15/2025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9/15/2025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9/15/2025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9/15/2025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9/15/2025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9/15/2025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FE9374F-8DD8-4480-8590-778239D8B0D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1663" y="79092"/>
            <a:ext cx="1740919" cy="402801"/>
          </a:xfrm>
          <a:prstGeom prst="rect">
            <a:avLst/>
          </a:prstGeom>
        </p:spPr>
      </p:pic>
      <p:cxnSp>
        <p:nvCxnSpPr>
          <p:cNvPr id="5" name="Straight Connector 4">
            <a:extLst>
              <a:ext uri="{FF2B5EF4-FFF2-40B4-BE49-F238E27FC236}">
                <a16:creationId xmlns:a16="http://schemas.microsoft.com/office/drawing/2014/main" id="{C86AE5E2-AE54-4C65-842F-C82D80DE5FE3}"/>
              </a:ext>
            </a:extLst>
          </p:cNvPr>
          <p:cNvCxnSpPr>
            <a:cxnSpLocks/>
          </p:cNvCxnSpPr>
          <p:nvPr/>
        </p:nvCxnSpPr>
        <p:spPr>
          <a:xfrm>
            <a:off x="1109709" y="594804"/>
            <a:ext cx="10235953" cy="0"/>
          </a:xfrm>
          <a:prstGeom prst="line">
            <a:avLst/>
          </a:prstGeom>
        </p:spPr>
        <p:style>
          <a:lnRef idx="3">
            <a:schemeClr val="dk1"/>
          </a:lnRef>
          <a:fillRef idx="0">
            <a:schemeClr val="dk1"/>
          </a:fillRef>
          <a:effectRef idx="2">
            <a:schemeClr val="dk1"/>
          </a:effectRef>
          <a:fontRef idx="minor">
            <a:schemeClr val="tx1"/>
          </a:fontRef>
        </p:style>
      </p:cxnSp>
      <p:cxnSp>
        <p:nvCxnSpPr>
          <p:cNvPr id="6" name="Straight Connector 5">
            <a:extLst>
              <a:ext uri="{FF2B5EF4-FFF2-40B4-BE49-F238E27FC236}">
                <a16:creationId xmlns:a16="http://schemas.microsoft.com/office/drawing/2014/main" id="{85230674-9C20-4A48-BEDB-3E71685A6837}"/>
              </a:ext>
            </a:extLst>
          </p:cNvPr>
          <p:cNvCxnSpPr/>
          <p:nvPr/>
        </p:nvCxnSpPr>
        <p:spPr>
          <a:xfrm>
            <a:off x="1038687" y="6462943"/>
            <a:ext cx="10369119" cy="0"/>
          </a:xfrm>
          <a:prstGeom prst="line">
            <a:avLst/>
          </a:prstGeom>
        </p:spPr>
        <p:style>
          <a:lnRef idx="3">
            <a:schemeClr val="dk1"/>
          </a:lnRef>
          <a:fillRef idx="0">
            <a:schemeClr val="dk1"/>
          </a:fillRef>
          <a:effectRef idx="2">
            <a:schemeClr val="dk1"/>
          </a:effectRef>
          <a:fontRef idx="minor">
            <a:schemeClr val="tx1"/>
          </a:fontRef>
        </p:style>
      </p:cxnSp>
      <p:sp>
        <p:nvSpPr>
          <p:cNvPr id="7" name="TextBox 7">
            <a:extLst>
              <a:ext uri="{FF2B5EF4-FFF2-40B4-BE49-F238E27FC236}">
                <a16:creationId xmlns:a16="http://schemas.microsoft.com/office/drawing/2014/main" id="{83B72D3C-7AEE-4C83-8156-6FCDFB64EDF4}"/>
              </a:ext>
            </a:extLst>
          </p:cNvPr>
          <p:cNvSpPr txBox="1"/>
          <p:nvPr/>
        </p:nvSpPr>
        <p:spPr>
          <a:xfrm>
            <a:off x="8788893" y="319596"/>
            <a:ext cx="2821413" cy="276999"/>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b="1">
                <a:latin typeface="Times New Roman" panose="02020603050405020304" pitchFamily="18" charset="0"/>
                <a:cs typeface="Times New Roman" panose="02020603050405020304" pitchFamily="18" charset="0"/>
              </a:rPr>
              <a:t>TIFAC – CORE in CYBER SECURITY</a:t>
            </a:r>
            <a:endParaRPr lang="en-IN" sz="1200" b="1">
              <a:latin typeface="Times New Roman" panose="02020603050405020304" pitchFamily="18" charset="0"/>
              <a:cs typeface="Times New Roman" panose="02020603050405020304" pitchFamily="18" charset="0"/>
            </a:endParaRPr>
          </a:p>
        </p:txBody>
      </p:sp>
      <p:sp>
        <p:nvSpPr>
          <p:cNvPr id="8" name="Slide Number Placeholder 10">
            <a:extLst>
              <a:ext uri="{FF2B5EF4-FFF2-40B4-BE49-F238E27FC236}">
                <a16:creationId xmlns:a16="http://schemas.microsoft.com/office/drawing/2014/main" id="{D560B5BB-12C6-40D2-9763-B27B8ACDE663}"/>
              </a:ext>
            </a:extLst>
          </p:cNvPr>
          <p:cNvSpPr>
            <a:spLocks noGrp="1"/>
          </p:cNvSpPr>
          <p:nvPr/>
        </p:nvSpPr>
        <p:spPr>
          <a:xfrm>
            <a:off x="8734887" y="64928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t>1</a:t>
            </a:r>
          </a:p>
        </p:txBody>
      </p:sp>
      <p:sp>
        <p:nvSpPr>
          <p:cNvPr id="9" name="Footer Placeholder 11">
            <a:extLst>
              <a:ext uri="{FF2B5EF4-FFF2-40B4-BE49-F238E27FC236}">
                <a16:creationId xmlns:a16="http://schemas.microsoft.com/office/drawing/2014/main" id="{F6D4F79C-3FA2-494F-BB27-8CB7272816E9}"/>
              </a:ext>
            </a:extLst>
          </p:cNvPr>
          <p:cNvSpPr>
            <a:spLocks noGrp="1"/>
          </p:cNvSpPr>
          <p:nvPr/>
        </p:nvSpPr>
        <p:spPr>
          <a:xfrm>
            <a:off x="4038600" y="64928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20CYS 495 B.Tech CYS: 2022 - 2026 Project Presentation </a:t>
            </a:r>
            <a:endParaRPr lang="en-IN"/>
          </a:p>
        </p:txBody>
      </p:sp>
      <p:sp>
        <p:nvSpPr>
          <p:cNvPr id="10" name="TextBox 13">
            <a:extLst>
              <a:ext uri="{FF2B5EF4-FFF2-40B4-BE49-F238E27FC236}">
                <a16:creationId xmlns:a16="http://schemas.microsoft.com/office/drawing/2014/main" id="{64F53EF8-BADD-4AF0-8A0C-E59673CC7D69}"/>
              </a:ext>
            </a:extLst>
          </p:cNvPr>
          <p:cNvSpPr txBox="1"/>
          <p:nvPr/>
        </p:nvSpPr>
        <p:spPr>
          <a:xfrm>
            <a:off x="3339942" y="970779"/>
            <a:ext cx="5230102" cy="830997"/>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400" b="1">
                <a:latin typeface="Times New Roman"/>
                <a:ea typeface="+mn-lt"/>
                <a:cs typeface="+mn-lt"/>
              </a:rPr>
              <a:t>20CYS495 Project Phase 1 Review-2</a:t>
            </a:r>
            <a:endParaRPr lang="en-US" sz="2400">
              <a:latin typeface="Times New Roman"/>
              <a:cs typeface="Times New Roman"/>
            </a:endParaRPr>
          </a:p>
          <a:p>
            <a:r>
              <a:rPr lang="en-US" sz="2400" b="1">
                <a:latin typeface="Times New Roman"/>
                <a:cs typeface="Times New Roman"/>
              </a:rPr>
              <a:t>                  Group 10</a:t>
            </a:r>
          </a:p>
        </p:txBody>
      </p:sp>
      <p:sp>
        <p:nvSpPr>
          <p:cNvPr id="11" name="TextBox 2">
            <a:extLst>
              <a:ext uri="{FF2B5EF4-FFF2-40B4-BE49-F238E27FC236}">
                <a16:creationId xmlns:a16="http://schemas.microsoft.com/office/drawing/2014/main" id="{FF73B89F-5953-47CB-B285-6AD338D72678}"/>
              </a:ext>
            </a:extLst>
          </p:cNvPr>
          <p:cNvSpPr txBox="1"/>
          <p:nvPr/>
        </p:nvSpPr>
        <p:spPr>
          <a:xfrm>
            <a:off x="2004787" y="2715319"/>
            <a:ext cx="5728257" cy="400110"/>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000" b="1">
                <a:latin typeface="Times New Roman"/>
                <a:cs typeface="Times New Roman"/>
              </a:rPr>
              <a:t>Domain: </a:t>
            </a:r>
            <a:r>
              <a:rPr lang="en-US" sz="2000">
                <a:latin typeface="Times New Roman"/>
                <a:cs typeface="Times New Roman"/>
              </a:rPr>
              <a:t>Threat Intelligence &amp; APT Research</a:t>
            </a:r>
          </a:p>
        </p:txBody>
      </p:sp>
      <p:sp>
        <p:nvSpPr>
          <p:cNvPr id="12" name="TextBox 8">
            <a:extLst>
              <a:ext uri="{FF2B5EF4-FFF2-40B4-BE49-F238E27FC236}">
                <a16:creationId xmlns:a16="http://schemas.microsoft.com/office/drawing/2014/main" id="{31B520CE-02C9-1EE1-EEF4-369284698F69}"/>
              </a:ext>
            </a:extLst>
          </p:cNvPr>
          <p:cNvSpPr txBox="1"/>
          <p:nvPr/>
        </p:nvSpPr>
        <p:spPr>
          <a:xfrm>
            <a:off x="1964418" y="2012200"/>
            <a:ext cx="9443627" cy="707886"/>
          </a:xfrm>
          <a:prstGeom prst="rect">
            <a:avLst/>
          </a:prstGeom>
          <a:noFill/>
        </p:spPr>
        <p:txBody>
          <a:bodyPr wrap="square" lIns="91440" tIns="45720" rIns="91440" bIns="4572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000" b="1">
                <a:latin typeface="Times New Roman"/>
                <a:cs typeface="Times New Roman"/>
              </a:rPr>
              <a:t>Project Title : </a:t>
            </a:r>
            <a:r>
              <a:rPr lang="en-US" sz="2000">
                <a:latin typeface="Times New Roman"/>
                <a:cs typeface="Times New Roman"/>
              </a:rPr>
              <a:t>APT Profiling and Detection in Critical Infrastructure using Deception Tech </a:t>
            </a:r>
          </a:p>
        </p:txBody>
      </p:sp>
      <p:sp>
        <p:nvSpPr>
          <p:cNvPr id="13" name="TextBox 14">
            <a:extLst>
              <a:ext uri="{FF2B5EF4-FFF2-40B4-BE49-F238E27FC236}">
                <a16:creationId xmlns:a16="http://schemas.microsoft.com/office/drawing/2014/main" id="{CBBFA40D-67AD-B17C-28BC-8CFA89FC874F}"/>
              </a:ext>
            </a:extLst>
          </p:cNvPr>
          <p:cNvSpPr txBox="1"/>
          <p:nvPr/>
        </p:nvSpPr>
        <p:spPr>
          <a:xfrm>
            <a:off x="1998787" y="3160052"/>
            <a:ext cx="6139604" cy="400110"/>
          </a:xfrm>
          <a:prstGeom prst="rect">
            <a:avLst/>
          </a:prstGeom>
          <a:noFill/>
        </p:spPr>
        <p:txBody>
          <a:bodyPr wrap="square" lIns="91440" tIns="45720" rIns="91440" bIns="4572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000" b="1">
                <a:latin typeface="Times New Roman"/>
                <a:cs typeface="Times New Roman"/>
              </a:rPr>
              <a:t>Guide Name: </a:t>
            </a:r>
            <a:r>
              <a:rPr lang="en-US" sz="2000">
                <a:latin typeface="Times New Roman"/>
                <a:ea typeface="+mn-lt"/>
                <a:cs typeface="+mn-lt"/>
              </a:rPr>
              <a:t>Sreejith</a:t>
            </a:r>
            <a:r>
              <a:rPr lang="en-US" sz="2000">
                <a:latin typeface="Times New Roman"/>
                <a:cs typeface="Times New Roman"/>
              </a:rPr>
              <a:t>  K</a:t>
            </a:r>
          </a:p>
        </p:txBody>
      </p:sp>
      <p:graphicFrame>
        <p:nvGraphicFramePr>
          <p:cNvPr id="15" name="Table 14">
            <a:extLst>
              <a:ext uri="{FF2B5EF4-FFF2-40B4-BE49-F238E27FC236}">
                <a16:creationId xmlns:a16="http://schemas.microsoft.com/office/drawing/2014/main" id="{AB016AAE-430B-1244-EF1F-058A036E3FE4}"/>
              </a:ext>
            </a:extLst>
          </p:cNvPr>
          <p:cNvGraphicFramePr>
            <a:graphicFrameLocks noGrp="1"/>
          </p:cNvGraphicFramePr>
          <p:nvPr>
            <p:extLst>
              <p:ext uri="{D42A27DB-BD31-4B8C-83A1-F6EECF244321}">
                <p14:modId xmlns:p14="http://schemas.microsoft.com/office/powerpoint/2010/main" val="184992291"/>
              </p:ext>
            </p:extLst>
          </p:nvPr>
        </p:nvGraphicFramePr>
        <p:xfrm>
          <a:off x="2094000" y="3810000"/>
          <a:ext cx="6980389" cy="1961555"/>
        </p:xfrm>
        <a:graphic>
          <a:graphicData uri="http://schemas.openxmlformats.org/drawingml/2006/table">
            <a:tbl>
              <a:tblPr bandRow="1">
                <a:tableStyleId>{5C22544A-7EE6-4342-B048-85BDC9FD1C3A}</a:tableStyleId>
              </a:tblPr>
              <a:tblGrid>
                <a:gridCol w="775607">
                  <a:extLst>
                    <a:ext uri="{9D8B030D-6E8A-4147-A177-3AD203B41FA5}">
                      <a16:colId xmlns:a16="http://schemas.microsoft.com/office/drawing/2014/main" val="2249326229"/>
                    </a:ext>
                  </a:extLst>
                </a:gridCol>
                <a:gridCol w="2394857">
                  <a:extLst>
                    <a:ext uri="{9D8B030D-6E8A-4147-A177-3AD203B41FA5}">
                      <a16:colId xmlns:a16="http://schemas.microsoft.com/office/drawing/2014/main" val="3269419389"/>
                    </a:ext>
                  </a:extLst>
                </a:gridCol>
                <a:gridCol w="3809925">
                  <a:extLst>
                    <a:ext uri="{9D8B030D-6E8A-4147-A177-3AD203B41FA5}">
                      <a16:colId xmlns:a16="http://schemas.microsoft.com/office/drawing/2014/main" val="3304677145"/>
                    </a:ext>
                  </a:extLst>
                </a:gridCol>
              </a:tblGrid>
              <a:tr h="392311">
                <a:tc>
                  <a:txBody>
                    <a:bodyPr/>
                    <a:lstStyle/>
                    <a:p>
                      <a:pPr rtl="0" fontAlgn="base">
                        <a:lnSpc>
                          <a:spcPts val="1575"/>
                        </a:lnSpc>
                        <a:buNone/>
                      </a:pPr>
                      <a:r>
                        <a:rPr lang="en-US" sz="1800" b="1" err="1">
                          <a:solidFill>
                            <a:srgbClr val="000000"/>
                          </a:solidFill>
                          <a:effectLst/>
                          <a:latin typeface="Times New Roman"/>
                        </a:rPr>
                        <a:t>Sl.No</a:t>
                      </a:r>
                      <a:endParaRPr lang="en-US" b="1" err="1">
                        <a:solidFill>
                          <a:srgbClr val="FFFFFF"/>
                        </a:solidFill>
                        <a:effectLst/>
                        <a:latin typeface="Times New Roman"/>
                      </a:endParaRPr>
                    </a:p>
                  </a:txBody>
                  <a:tcPr marL="67437" marR="67437" marT="33719" marB="33719">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rtl="0" fontAlgn="base">
                        <a:lnSpc>
                          <a:spcPts val="1575"/>
                        </a:lnSpc>
                        <a:buNone/>
                      </a:pPr>
                      <a:r>
                        <a:rPr lang="en-US" sz="1800" b="1">
                          <a:solidFill>
                            <a:srgbClr val="000000"/>
                          </a:solidFill>
                          <a:effectLst/>
                          <a:latin typeface="Times New Roman"/>
                        </a:rPr>
                        <a:t>Student Name</a:t>
                      </a:r>
                      <a:endParaRPr lang="en-US" b="1">
                        <a:solidFill>
                          <a:srgbClr val="FFFFFF"/>
                        </a:solidFill>
                        <a:effectLst/>
                        <a:latin typeface="Times New Roman"/>
                      </a:endParaRPr>
                    </a:p>
                  </a:txBody>
                  <a:tcPr marL="67437" marR="67437" marT="33719" marB="33719">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rtl="0" fontAlgn="base">
                        <a:lnSpc>
                          <a:spcPts val="1575"/>
                        </a:lnSpc>
                        <a:buNone/>
                      </a:pPr>
                      <a:r>
                        <a:rPr lang="en-US" sz="1800" b="1">
                          <a:solidFill>
                            <a:srgbClr val="000000"/>
                          </a:solidFill>
                          <a:effectLst/>
                          <a:latin typeface="Times New Roman"/>
                        </a:rPr>
                        <a:t>Roll No</a:t>
                      </a:r>
                      <a:endParaRPr lang="en-US" b="1">
                        <a:solidFill>
                          <a:srgbClr val="FFFFFF"/>
                        </a:solidFill>
                        <a:effectLst/>
                        <a:latin typeface="Times New Roman"/>
                      </a:endParaRPr>
                    </a:p>
                  </a:txBody>
                  <a:tcPr marL="67437" marR="67437" marT="33719" marB="33719">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694247947"/>
                  </a:ext>
                </a:extLst>
              </a:tr>
              <a:tr h="392311">
                <a:tc>
                  <a:txBody>
                    <a:bodyPr/>
                    <a:lstStyle/>
                    <a:p>
                      <a:pPr rtl="0" fontAlgn="base">
                        <a:lnSpc>
                          <a:spcPts val="1575"/>
                        </a:lnSpc>
                        <a:buNone/>
                      </a:pPr>
                      <a:r>
                        <a:rPr lang="en-US" sz="1800">
                          <a:effectLst/>
                          <a:latin typeface="Calibri"/>
                        </a:rPr>
                        <a:t>1</a:t>
                      </a:r>
                      <a:endParaRPr lang="en-US">
                        <a:effectLst/>
                        <a:latin typeface="Calibri"/>
                      </a:endParaRPr>
                    </a:p>
                  </a:txBody>
                  <a:tcPr marL="67437" marR="67437" marT="33719" marB="33719">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rtl="0" fontAlgn="base">
                        <a:lnSpc>
                          <a:spcPts val="1575"/>
                        </a:lnSpc>
                        <a:buNone/>
                      </a:pPr>
                      <a:r>
                        <a:rPr lang="en-IN" sz="1800" err="1">
                          <a:effectLst/>
                          <a:latin typeface="Times New Roman"/>
                        </a:rPr>
                        <a:t>Chitla</a:t>
                      </a:r>
                      <a:r>
                        <a:rPr lang="en-IN" sz="1800">
                          <a:effectLst/>
                          <a:latin typeface="Times New Roman"/>
                        </a:rPr>
                        <a:t> Vyshali</a:t>
                      </a:r>
                      <a:endParaRPr lang="en-IN">
                        <a:effectLst/>
                        <a:latin typeface="Times New Roman"/>
                      </a:endParaRPr>
                    </a:p>
                  </a:txBody>
                  <a:tcPr marL="67437" marR="67437" marT="33719" marB="33719">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rtl="0" fontAlgn="base">
                        <a:lnSpc>
                          <a:spcPts val="1575"/>
                        </a:lnSpc>
                        <a:buNone/>
                      </a:pPr>
                      <a:r>
                        <a:rPr lang="en-IN" sz="1800">
                          <a:effectLst/>
                          <a:latin typeface="Times New Roman"/>
                        </a:rPr>
                        <a:t>CB.EN.U4CYS22017</a:t>
                      </a:r>
                      <a:endParaRPr lang="en-IN">
                        <a:effectLst/>
                        <a:latin typeface="Times New Roman"/>
                      </a:endParaRPr>
                    </a:p>
                  </a:txBody>
                  <a:tcPr marL="67437" marR="67437" marT="33719" marB="33719">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634301418"/>
                  </a:ext>
                </a:extLst>
              </a:tr>
              <a:tr h="392311">
                <a:tc>
                  <a:txBody>
                    <a:bodyPr/>
                    <a:lstStyle/>
                    <a:p>
                      <a:pPr rtl="0" fontAlgn="base">
                        <a:lnSpc>
                          <a:spcPts val="1575"/>
                        </a:lnSpc>
                        <a:buNone/>
                      </a:pPr>
                      <a:r>
                        <a:rPr lang="en-US" sz="1800">
                          <a:effectLst/>
                          <a:latin typeface="Calibri"/>
                        </a:rPr>
                        <a:t>2</a:t>
                      </a:r>
                      <a:endParaRPr lang="en-US">
                        <a:effectLst/>
                        <a:latin typeface="Calibri"/>
                      </a:endParaRPr>
                    </a:p>
                  </a:txBody>
                  <a:tcPr marL="67437" marR="67437" marT="33719" marB="33719">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rtl="0" fontAlgn="base">
                        <a:lnSpc>
                          <a:spcPts val="1575"/>
                        </a:lnSpc>
                        <a:buNone/>
                      </a:pPr>
                      <a:r>
                        <a:rPr lang="en-IN" sz="1800">
                          <a:effectLst/>
                          <a:latin typeface="Times New Roman"/>
                        </a:rPr>
                        <a:t>Dharshika S</a:t>
                      </a:r>
                      <a:endParaRPr lang="en-IN">
                        <a:effectLst/>
                        <a:latin typeface="Times New Roman"/>
                      </a:endParaRPr>
                    </a:p>
                  </a:txBody>
                  <a:tcPr marL="67437" marR="67437" marT="33719" marB="33719">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rtl="0" fontAlgn="base">
                        <a:lnSpc>
                          <a:spcPts val="1575"/>
                        </a:lnSpc>
                        <a:buNone/>
                      </a:pPr>
                      <a:r>
                        <a:rPr lang="en-IN" sz="1800">
                          <a:effectLst/>
                          <a:latin typeface="Times New Roman"/>
                        </a:rPr>
                        <a:t>CB.EN.U4CYS22021</a:t>
                      </a:r>
                      <a:endParaRPr lang="en-IN">
                        <a:effectLst/>
                        <a:latin typeface="Times New Roman"/>
                      </a:endParaRPr>
                    </a:p>
                  </a:txBody>
                  <a:tcPr marL="67437" marR="67437" marT="33719" marB="33719">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740748070"/>
                  </a:ext>
                </a:extLst>
              </a:tr>
              <a:tr h="392311">
                <a:tc>
                  <a:txBody>
                    <a:bodyPr/>
                    <a:lstStyle/>
                    <a:p>
                      <a:pPr rtl="0" fontAlgn="base">
                        <a:lnSpc>
                          <a:spcPts val="1575"/>
                        </a:lnSpc>
                        <a:buNone/>
                      </a:pPr>
                      <a:r>
                        <a:rPr lang="en-US" sz="1800">
                          <a:effectLst/>
                          <a:latin typeface="Calibri"/>
                        </a:rPr>
                        <a:t>3</a:t>
                      </a:r>
                      <a:endParaRPr lang="en-US">
                        <a:effectLst/>
                        <a:latin typeface="Calibri"/>
                      </a:endParaRPr>
                    </a:p>
                  </a:txBody>
                  <a:tcPr marL="67437" marR="67437" marT="33719" marB="33719">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rtl="0" fontAlgn="base">
                        <a:lnSpc>
                          <a:spcPts val="1575"/>
                        </a:lnSpc>
                        <a:buNone/>
                      </a:pPr>
                      <a:r>
                        <a:rPr lang="en-IN" sz="1800" err="1">
                          <a:effectLst/>
                          <a:latin typeface="Times New Roman"/>
                        </a:rPr>
                        <a:t>Reddicherla</a:t>
                      </a:r>
                      <a:r>
                        <a:rPr lang="en-IN" sz="1800">
                          <a:effectLst/>
                          <a:latin typeface="Times New Roman"/>
                        </a:rPr>
                        <a:t> </a:t>
                      </a:r>
                      <a:r>
                        <a:rPr lang="en-IN" sz="1800" err="1">
                          <a:effectLst/>
                          <a:latin typeface="Times New Roman"/>
                        </a:rPr>
                        <a:t>Thanuj</a:t>
                      </a:r>
                      <a:endParaRPr lang="en-IN" err="1">
                        <a:effectLst/>
                        <a:latin typeface="Times New Roman"/>
                      </a:endParaRPr>
                    </a:p>
                  </a:txBody>
                  <a:tcPr marL="67437" marR="67437" marT="33719" marB="33719">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rtl="0" fontAlgn="base">
                        <a:lnSpc>
                          <a:spcPts val="1575"/>
                        </a:lnSpc>
                        <a:buNone/>
                      </a:pPr>
                      <a:r>
                        <a:rPr lang="en-IN" sz="1800">
                          <a:effectLst/>
                          <a:latin typeface="Times New Roman"/>
                        </a:rPr>
                        <a:t>CB.EN.U4CYS22056</a:t>
                      </a:r>
                      <a:endParaRPr lang="en-IN">
                        <a:effectLst/>
                        <a:latin typeface="Times New Roman"/>
                      </a:endParaRPr>
                    </a:p>
                  </a:txBody>
                  <a:tcPr marL="67437" marR="67437" marT="33719" marB="33719">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480324272"/>
                  </a:ext>
                </a:extLst>
              </a:tr>
              <a:tr h="392311">
                <a:tc>
                  <a:txBody>
                    <a:bodyPr/>
                    <a:lstStyle/>
                    <a:p>
                      <a:pPr rtl="0" fontAlgn="base">
                        <a:lnSpc>
                          <a:spcPts val="1575"/>
                        </a:lnSpc>
                        <a:buNone/>
                      </a:pPr>
                      <a:r>
                        <a:rPr lang="en-US" sz="1800">
                          <a:effectLst/>
                          <a:latin typeface="Calibri"/>
                        </a:rPr>
                        <a:t>4</a:t>
                      </a:r>
                      <a:endParaRPr lang="en-US">
                        <a:effectLst/>
                        <a:latin typeface="Calibri"/>
                      </a:endParaRPr>
                    </a:p>
                  </a:txBody>
                  <a:tcPr marL="67437" marR="67437" marT="33719" marB="33719">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rtl="0" fontAlgn="base">
                        <a:lnSpc>
                          <a:spcPts val="1575"/>
                        </a:lnSpc>
                        <a:buNone/>
                      </a:pPr>
                      <a:r>
                        <a:rPr lang="en-IN" sz="1800">
                          <a:effectLst/>
                          <a:latin typeface="Times New Roman"/>
                        </a:rPr>
                        <a:t>Mothe Anurag Reddy</a:t>
                      </a:r>
                      <a:endParaRPr lang="en-IN">
                        <a:effectLst/>
                        <a:latin typeface="Times New Roman"/>
                      </a:endParaRPr>
                    </a:p>
                  </a:txBody>
                  <a:tcPr marL="67437" marR="67437" marT="33719" marB="33719">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rtl="0" fontAlgn="base">
                        <a:lnSpc>
                          <a:spcPts val="1575"/>
                        </a:lnSpc>
                        <a:buNone/>
                      </a:pPr>
                      <a:r>
                        <a:rPr lang="en-IN" sz="1800">
                          <a:effectLst/>
                          <a:latin typeface="Times New Roman"/>
                        </a:rPr>
                        <a:t>CB.EN.U4CYS22069</a:t>
                      </a:r>
                      <a:endParaRPr lang="en-IN">
                        <a:effectLst/>
                        <a:latin typeface="Times New Roman"/>
                      </a:endParaRPr>
                    </a:p>
                  </a:txBody>
                  <a:tcPr marL="67437" marR="67437" marT="33719" marB="33719">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129018702"/>
                  </a:ext>
                </a:extLst>
              </a:tr>
            </a:tbl>
          </a:graphicData>
        </a:graphic>
      </p:graphicFrame>
    </p:spTree>
    <p:extLst>
      <p:ext uri="{BB962C8B-B14F-4D97-AF65-F5344CB8AC3E}">
        <p14:creationId xmlns:p14="http://schemas.microsoft.com/office/powerpoint/2010/main" val="17610615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34363"/>
            <a:ext cx="8670000" cy="773600"/>
          </a:xfrm>
        </p:spPr>
        <p:txBody>
          <a:bodyPr>
            <a:normAutofit fontScale="90000"/>
          </a:bodyPr>
          <a:lstStyle/>
          <a:p>
            <a:br>
              <a:rPr lang="en-US"/>
            </a:br>
            <a:endParaRPr lang="en-US"/>
          </a:p>
        </p:txBody>
      </p:sp>
      <p:pic>
        <p:nvPicPr>
          <p:cNvPr id="4" name="Picture 3">
            <a:extLst>
              <a:ext uri="{FF2B5EF4-FFF2-40B4-BE49-F238E27FC236}">
                <a16:creationId xmlns:a16="http://schemas.microsoft.com/office/drawing/2014/main" id="{CFE9374F-8DD8-4480-8590-778239D8B0D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1663" y="79092"/>
            <a:ext cx="1740919" cy="402801"/>
          </a:xfrm>
          <a:prstGeom prst="rect">
            <a:avLst/>
          </a:prstGeom>
        </p:spPr>
      </p:pic>
      <p:cxnSp>
        <p:nvCxnSpPr>
          <p:cNvPr id="5" name="Straight Connector 4">
            <a:extLst>
              <a:ext uri="{FF2B5EF4-FFF2-40B4-BE49-F238E27FC236}">
                <a16:creationId xmlns:a16="http://schemas.microsoft.com/office/drawing/2014/main" id="{C86AE5E2-AE54-4C65-842F-C82D80DE5FE3}"/>
              </a:ext>
            </a:extLst>
          </p:cNvPr>
          <p:cNvCxnSpPr>
            <a:cxnSpLocks/>
          </p:cNvCxnSpPr>
          <p:nvPr/>
        </p:nvCxnSpPr>
        <p:spPr>
          <a:xfrm>
            <a:off x="1109709" y="594804"/>
            <a:ext cx="10235953" cy="0"/>
          </a:xfrm>
          <a:prstGeom prst="line">
            <a:avLst/>
          </a:prstGeom>
        </p:spPr>
        <p:style>
          <a:lnRef idx="3">
            <a:schemeClr val="dk1"/>
          </a:lnRef>
          <a:fillRef idx="0">
            <a:schemeClr val="dk1"/>
          </a:fillRef>
          <a:effectRef idx="2">
            <a:schemeClr val="dk1"/>
          </a:effectRef>
          <a:fontRef idx="minor">
            <a:schemeClr val="tx1"/>
          </a:fontRef>
        </p:style>
      </p:cxnSp>
      <p:cxnSp>
        <p:nvCxnSpPr>
          <p:cNvPr id="6" name="Straight Connector 5">
            <a:extLst>
              <a:ext uri="{FF2B5EF4-FFF2-40B4-BE49-F238E27FC236}">
                <a16:creationId xmlns:a16="http://schemas.microsoft.com/office/drawing/2014/main" id="{85230674-9C20-4A48-BEDB-3E71685A6837}"/>
              </a:ext>
            </a:extLst>
          </p:cNvPr>
          <p:cNvCxnSpPr/>
          <p:nvPr/>
        </p:nvCxnSpPr>
        <p:spPr>
          <a:xfrm>
            <a:off x="1038687" y="6462943"/>
            <a:ext cx="10369119" cy="0"/>
          </a:xfrm>
          <a:prstGeom prst="line">
            <a:avLst/>
          </a:prstGeom>
        </p:spPr>
        <p:style>
          <a:lnRef idx="3">
            <a:schemeClr val="dk1"/>
          </a:lnRef>
          <a:fillRef idx="0">
            <a:schemeClr val="dk1"/>
          </a:fillRef>
          <a:effectRef idx="2">
            <a:schemeClr val="dk1"/>
          </a:effectRef>
          <a:fontRef idx="minor">
            <a:schemeClr val="tx1"/>
          </a:fontRef>
        </p:style>
      </p:cxnSp>
      <p:sp>
        <p:nvSpPr>
          <p:cNvPr id="7" name="TextBox 7">
            <a:extLst>
              <a:ext uri="{FF2B5EF4-FFF2-40B4-BE49-F238E27FC236}">
                <a16:creationId xmlns:a16="http://schemas.microsoft.com/office/drawing/2014/main" id="{83B72D3C-7AEE-4C83-8156-6FCDFB64EDF4}"/>
              </a:ext>
            </a:extLst>
          </p:cNvPr>
          <p:cNvSpPr txBox="1"/>
          <p:nvPr/>
        </p:nvSpPr>
        <p:spPr>
          <a:xfrm>
            <a:off x="8788893" y="319596"/>
            <a:ext cx="2821413" cy="276999"/>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b="1">
                <a:latin typeface="Times New Roman" panose="02020603050405020304" pitchFamily="18" charset="0"/>
                <a:cs typeface="Times New Roman" panose="02020603050405020304" pitchFamily="18" charset="0"/>
              </a:rPr>
              <a:t>TIFAC – CORE in CYBER SECURITY</a:t>
            </a:r>
            <a:endParaRPr lang="en-IN" sz="1200" b="1">
              <a:latin typeface="Times New Roman" panose="02020603050405020304" pitchFamily="18" charset="0"/>
              <a:cs typeface="Times New Roman" panose="02020603050405020304" pitchFamily="18" charset="0"/>
            </a:endParaRPr>
          </a:p>
        </p:txBody>
      </p:sp>
      <p:sp>
        <p:nvSpPr>
          <p:cNvPr id="8" name="Slide Number Placeholder 10">
            <a:extLst>
              <a:ext uri="{FF2B5EF4-FFF2-40B4-BE49-F238E27FC236}">
                <a16:creationId xmlns:a16="http://schemas.microsoft.com/office/drawing/2014/main" id="{D560B5BB-12C6-40D2-9763-B27B8ACDE663}"/>
              </a:ext>
            </a:extLst>
          </p:cNvPr>
          <p:cNvSpPr>
            <a:spLocks noGrp="1"/>
          </p:cNvSpPr>
          <p:nvPr/>
        </p:nvSpPr>
        <p:spPr>
          <a:xfrm>
            <a:off x="8734887" y="64928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C3E5B82-863A-4B66-9E4F-DCFAD2A3B854}" type="slidenum">
              <a:rPr lang="en-IN" smtClean="0"/>
              <a:pPr/>
              <a:t>2</a:t>
            </a:fld>
            <a:endParaRPr lang="en-IN"/>
          </a:p>
        </p:txBody>
      </p:sp>
      <p:sp>
        <p:nvSpPr>
          <p:cNvPr id="9" name="Footer Placeholder 11">
            <a:extLst>
              <a:ext uri="{FF2B5EF4-FFF2-40B4-BE49-F238E27FC236}">
                <a16:creationId xmlns:a16="http://schemas.microsoft.com/office/drawing/2014/main" id="{F6D4F79C-3FA2-494F-BB27-8CB7272816E9}"/>
              </a:ext>
            </a:extLst>
          </p:cNvPr>
          <p:cNvSpPr>
            <a:spLocks noGrp="1"/>
          </p:cNvSpPr>
          <p:nvPr/>
        </p:nvSpPr>
        <p:spPr>
          <a:xfrm>
            <a:off x="4038600" y="64928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20CYS 495 B.Tech CYS: 2022 - 2026 Project Presentation </a:t>
            </a:r>
            <a:endParaRPr lang="en-IN"/>
          </a:p>
        </p:txBody>
      </p:sp>
      <p:sp>
        <p:nvSpPr>
          <p:cNvPr id="3" name="TextBox 2">
            <a:extLst>
              <a:ext uri="{FF2B5EF4-FFF2-40B4-BE49-F238E27FC236}">
                <a16:creationId xmlns:a16="http://schemas.microsoft.com/office/drawing/2014/main" id="{F32DC984-E74E-D439-2CBC-AA6853455F65}"/>
              </a:ext>
            </a:extLst>
          </p:cNvPr>
          <p:cNvSpPr txBox="1"/>
          <p:nvPr/>
        </p:nvSpPr>
        <p:spPr>
          <a:xfrm>
            <a:off x="1073142" y="1319892"/>
            <a:ext cx="10261200" cy="467820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a:ea typeface="+mn-lt"/>
              <a:cs typeface="+mn-lt"/>
            </a:endParaRPr>
          </a:p>
          <a:p>
            <a:pPr marL="285750" indent="-285750">
              <a:buFont typeface="Arial"/>
              <a:buChar char="•"/>
            </a:pPr>
            <a:r>
              <a:rPr lang="en-US" sz="2000">
                <a:latin typeface="Times New Roman"/>
                <a:ea typeface="+mn-lt"/>
                <a:cs typeface="+mn-lt"/>
              </a:rPr>
              <a:t>Conventional honeypots are insufficient for deceiving sophisticated attackers, while establishing fully interactive deception networks is often too costly and complicated for many organizations. This creates a significant void in cybersecurity.</a:t>
            </a:r>
            <a:endParaRPr lang="en-US" sz="2000">
              <a:latin typeface="Times New Roman"/>
              <a:cs typeface="Times New Roman"/>
            </a:endParaRPr>
          </a:p>
          <a:p>
            <a:endParaRPr lang="en-US" sz="2000">
              <a:latin typeface="Times New Roman"/>
              <a:ea typeface="+mn-lt"/>
              <a:cs typeface="+mn-lt"/>
            </a:endParaRPr>
          </a:p>
          <a:p>
            <a:pPr>
              <a:buFont typeface="Arial"/>
              <a:buChar char="•"/>
            </a:pPr>
            <a:r>
              <a:rPr lang="en-US" sz="2000">
                <a:latin typeface="Times New Roman"/>
                <a:ea typeface="+mn-lt"/>
                <a:cs typeface="+mn-lt"/>
              </a:rPr>
              <a:t>   We are developing an intelligent Security Orchestration Engine to address this challenge.</a:t>
            </a:r>
            <a:endParaRPr lang="en-US" sz="2000">
              <a:latin typeface="Times New Roman"/>
              <a:ea typeface="+mn-lt"/>
              <a:cs typeface="Times New Roman"/>
            </a:endParaRPr>
          </a:p>
          <a:p>
            <a:pPr>
              <a:buFont typeface="Arial"/>
              <a:buChar char="•"/>
            </a:pPr>
            <a:r>
              <a:rPr lang="en-US" sz="2000">
                <a:latin typeface="Times New Roman"/>
                <a:ea typeface="+mn-lt"/>
                <a:cs typeface="+mn-lt"/>
              </a:rPr>
              <a:t>    Here's how it functions:</a:t>
            </a:r>
            <a:endParaRPr lang="en-US" sz="2000">
              <a:latin typeface="Times New Roman"/>
              <a:cs typeface="Times New Roman"/>
            </a:endParaRPr>
          </a:p>
          <a:p>
            <a:endParaRPr lang="en-US" sz="2000">
              <a:latin typeface="Times New Roman"/>
              <a:ea typeface="+mn-lt"/>
              <a:cs typeface="+mn-lt"/>
            </a:endParaRPr>
          </a:p>
          <a:p>
            <a:pPr>
              <a:buFont typeface="Arial"/>
              <a:buChar char="•"/>
            </a:pPr>
            <a:r>
              <a:rPr lang="en-US" sz="2000">
                <a:latin typeface="Times New Roman"/>
                <a:ea typeface="+mn-lt"/>
                <a:cs typeface="+mn-lt"/>
              </a:rPr>
              <a:t>    It detects early signs of an attack, such as a port scan.</a:t>
            </a:r>
            <a:endParaRPr lang="en-US" sz="2000">
              <a:latin typeface="Times New Roman"/>
              <a:cs typeface="Times New Roman"/>
            </a:endParaRPr>
          </a:p>
          <a:p>
            <a:pPr>
              <a:buFont typeface="Arial"/>
              <a:buChar char="•"/>
            </a:pPr>
            <a:endParaRPr lang="en-US" sz="2000">
              <a:latin typeface="Times New Roman"/>
              <a:cs typeface="Times New Roman"/>
            </a:endParaRPr>
          </a:p>
          <a:p>
            <a:pPr>
              <a:buFont typeface="Arial"/>
              <a:buChar char="•"/>
            </a:pPr>
            <a:r>
              <a:rPr lang="en-US" sz="2000">
                <a:latin typeface="Times New Roman"/>
                <a:ea typeface="+mn-lt"/>
                <a:cs typeface="+mn-lt"/>
              </a:rPr>
              <a:t>   It employs a machine learning model to ascertain the attacker's intentions.</a:t>
            </a:r>
          </a:p>
          <a:p>
            <a:pPr>
              <a:buFont typeface="Arial"/>
              <a:buChar char="•"/>
            </a:pPr>
            <a:endParaRPr lang="en-US" sz="2000">
              <a:latin typeface="Times New Roman"/>
              <a:ea typeface="+mn-lt"/>
              <a:cs typeface="+mn-lt"/>
            </a:endParaRPr>
          </a:p>
          <a:p>
            <a:pPr>
              <a:buFont typeface="Arial"/>
              <a:buChar char="•"/>
            </a:pPr>
            <a:r>
              <a:rPr lang="en-US" sz="2000">
                <a:latin typeface="Times New Roman"/>
                <a:ea typeface="+mn-lt"/>
                <a:cs typeface="+mn-lt"/>
              </a:rPr>
              <a:t>   It promptly and automatically deploys a customized honeypot specifically designed to engage that  particular  attacker.</a:t>
            </a:r>
            <a:endParaRPr lang="en-US" sz="2000">
              <a:latin typeface="Times New Roman"/>
              <a:cs typeface="Times New Roman"/>
            </a:endParaRPr>
          </a:p>
          <a:p>
            <a:endParaRPr lang="en-US" sz="2000">
              <a:latin typeface="Times New Roman"/>
              <a:cs typeface="Times New Roman"/>
            </a:endParaRPr>
          </a:p>
        </p:txBody>
      </p:sp>
      <p:sp>
        <p:nvSpPr>
          <p:cNvPr id="13" name="TextBox 12">
            <a:extLst>
              <a:ext uri="{FF2B5EF4-FFF2-40B4-BE49-F238E27FC236}">
                <a16:creationId xmlns:a16="http://schemas.microsoft.com/office/drawing/2014/main" id="{CB421570-5642-B4FF-508F-FE73E1DEB773}"/>
              </a:ext>
            </a:extLst>
          </p:cNvPr>
          <p:cNvSpPr txBox="1"/>
          <p:nvPr/>
        </p:nvSpPr>
        <p:spPr>
          <a:xfrm>
            <a:off x="1153821" y="1034142"/>
            <a:ext cx="3547200" cy="473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latin typeface="Times New Roman"/>
                <a:cs typeface="Times New Roman"/>
              </a:rPr>
              <a:t>Problem Statement</a:t>
            </a:r>
          </a:p>
        </p:txBody>
      </p:sp>
    </p:spTree>
    <p:extLst>
      <p:ext uri="{BB962C8B-B14F-4D97-AF65-F5344CB8AC3E}">
        <p14:creationId xmlns:p14="http://schemas.microsoft.com/office/powerpoint/2010/main" val="1098572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7A58DD-157C-36AE-0C6F-FA9ED256FB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A09EEA-2402-1CB1-1B4C-12D86F957EF8}"/>
              </a:ext>
            </a:extLst>
          </p:cNvPr>
          <p:cNvSpPr>
            <a:spLocks noGrp="1"/>
          </p:cNvSpPr>
          <p:nvPr>
            <p:ph type="ctrTitle"/>
          </p:nvPr>
        </p:nvSpPr>
        <p:spPr>
          <a:xfrm>
            <a:off x="1524000" y="1134363"/>
            <a:ext cx="8670000" cy="773600"/>
          </a:xfrm>
        </p:spPr>
        <p:txBody>
          <a:bodyPr>
            <a:normAutofit fontScale="90000"/>
          </a:bodyPr>
          <a:lstStyle/>
          <a:p>
            <a:br>
              <a:rPr lang="en-US"/>
            </a:br>
            <a:endParaRPr lang="en-US"/>
          </a:p>
        </p:txBody>
      </p:sp>
      <p:pic>
        <p:nvPicPr>
          <p:cNvPr id="4" name="Picture 3">
            <a:extLst>
              <a:ext uri="{FF2B5EF4-FFF2-40B4-BE49-F238E27FC236}">
                <a16:creationId xmlns:a16="http://schemas.microsoft.com/office/drawing/2014/main" id="{9036DF3D-0AC9-8885-7C4D-9374E92A321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1663" y="79092"/>
            <a:ext cx="1740919" cy="402801"/>
          </a:xfrm>
          <a:prstGeom prst="rect">
            <a:avLst/>
          </a:prstGeom>
        </p:spPr>
      </p:pic>
      <p:cxnSp>
        <p:nvCxnSpPr>
          <p:cNvPr id="5" name="Straight Connector 4">
            <a:extLst>
              <a:ext uri="{FF2B5EF4-FFF2-40B4-BE49-F238E27FC236}">
                <a16:creationId xmlns:a16="http://schemas.microsoft.com/office/drawing/2014/main" id="{EDB5659F-540A-B044-38E8-0E6067A72ACF}"/>
              </a:ext>
            </a:extLst>
          </p:cNvPr>
          <p:cNvCxnSpPr>
            <a:cxnSpLocks/>
          </p:cNvCxnSpPr>
          <p:nvPr/>
        </p:nvCxnSpPr>
        <p:spPr>
          <a:xfrm>
            <a:off x="1109709" y="594804"/>
            <a:ext cx="10235953" cy="0"/>
          </a:xfrm>
          <a:prstGeom prst="line">
            <a:avLst/>
          </a:prstGeom>
        </p:spPr>
        <p:style>
          <a:lnRef idx="3">
            <a:schemeClr val="dk1"/>
          </a:lnRef>
          <a:fillRef idx="0">
            <a:schemeClr val="dk1"/>
          </a:fillRef>
          <a:effectRef idx="2">
            <a:schemeClr val="dk1"/>
          </a:effectRef>
          <a:fontRef idx="minor">
            <a:schemeClr val="tx1"/>
          </a:fontRef>
        </p:style>
      </p:cxnSp>
      <p:cxnSp>
        <p:nvCxnSpPr>
          <p:cNvPr id="6" name="Straight Connector 5">
            <a:extLst>
              <a:ext uri="{FF2B5EF4-FFF2-40B4-BE49-F238E27FC236}">
                <a16:creationId xmlns:a16="http://schemas.microsoft.com/office/drawing/2014/main" id="{65B59473-7157-28B7-0147-A165314DDBBB}"/>
              </a:ext>
            </a:extLst>
          </p:cNvPr>
          <p:cNvCxnSpPr/>
          <p:nvPr/>
        </p:nvCxnSpPr>
        <p:spPr>
          <a:xfrm>
            <a:off x="1038687" y="6462943"/>
            <a:ext cx="10369119" cy="0"/>
          </a:xfrm>
          <a:prstGeom prst="line">
            <a:avLst/>
          </a:prstGeom>
        </p:spPr>
        <p:style>
          <a:lnRef idx="3">
            <a:schemeClr val="dk1"/>
          </a:lnRef>
          <a:fillRef idx="0">
            <a:schemeClr val="dk1"/>
          </a:fillRef>
          <a:effectRef idx="2">
            <a:schemeClr val="dk1"/>
          </a:effectRef>
          <a:fontRef idx="minor">
            <a:schemeClr val="tx1"/>
          </a:fontRef>
        </p:style>
      </p:cxnSp>
      <p:sp>
        <p:nvSpPr>
          <p:cNvPr id="7" name="TextBox 7">
            <a:extLst>
              <a:ext uri="{FF2B5EF4-FFF2-40B4-BE49-F238E27FC236}">
                <a16:creationId xmlns:a16="http://schemas.microsoft.com/office/drawing/2014/main" id="{E844C2C8-4485-0AA1-9824-832A575F863E}"/>
              </a:ext>
            </a:extLst>
          </p:cNvPr>
          <p:cNvSpPr txBox="1"/>
          <p:nvPr/>
        </p:nvSpPr>
        <p:spPr>
          <a:xfrm>
            <a:off x="8788893" y="319596"/>
            <a:ext cx="2821413" cy="276999"/>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b="1">
                <a:latin typeface="Times New Roman" panose="02020603050405020304" pitchFamily="18" charset="0"/>
                <a:cs typeface="Times New Roman" panose="02020603050405020304" pitchFamily="18" charset="0"/>
              </a:rPr>
              <a:t>TIFAC – CORE in CYBER SECURITY</a:t>
            </a:r>
            <a:endParaRPr lang="en-IN" sz="1200" b="1">
              <a:latin typeface="Times New Roman" panose="02020603050405020304" pitchFamily="18" charset="0"/>
              <a:cs typeface="Times New Roman" panose="02020603050405020304" pitchFamily="18" charset="0"/>
            </a:endParaRPr>
          </a:p>
        </p:txBody>
      </p:sp>
      <p:sp>
        <p:nvSpPr>
          <p:cNvPr id="8" name="Slide Number Placeholder 10">
            <a:extLst>
              <a:ext uri="{FF2B5EF4-FFF2-40B4-BE49-F238E27FC236}">
                <a16:creationId xmlns:a16="http://schemas.microsoft.com/office/drawing/2014/main" id="{620DE270-F402-B1CC-4219-F536BF852A21}"/>
              </a:ext>
            </a:extLst>
          </p:cNvPr>
          <p:cNvSpPr>
            <a:spLocks noGrp="1"/>
          </p:cNvSpPr>
          <p:nvPr/>
        </p:nvSpPr>
        <p:spPr>
          <a:xfrm>
            <a:off x="8734887" y="64928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C3E5B82-863A-4B66-9E4F-DCFAD2A3B854}" type="slidenum">
              <a:rPr lang="en-IN" smtClean="0"/>
              <a:pPr/>
              <a:t>3</a:t>
            </a:fld>
            <a:endParaRPr lang="en-IN"/>
          </a:p>
        </p:txBody>
      </p:sp>
      <p:sp>
        <p:nvSpPr>
          <p:cNvPr id="9" name="Footer Placeholder 11">
            <a:extLst>
              <a:ext uri="{FF2B5EF4-FFF2-40B4-BE49-F238E27FC236}">
                <a16:creationId xmlns:a16="http://schemas.microsoft.com/office/drawing/2014/main" id="{C289263F-C702-F913-8BC6-FF0FF0B00C83}"/>
              </a:ext>
            </a:extLst>
          </p:cNvPr>
          <p:cNvSpPr>
            <a:spLocks noGrp="1"/>
          </p:cNvSpPr>
          <p:nvPr/>
        </p:nvSpPr>
        <p:spPr>
          <a:xfrm>
            <a:off x="4038600" y="64928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20CYS 495 B.Tech CYS: 2022 - 2026 Project Presentation </a:t>
            </a:r>
            <a:endParaRPr lang="en-IN"/>
          </a:p>
        </p:txBody>
      </p:sp>
      <p:sp>
        <p:nvSpPr>
          <p:cNvPr id="3" name="TextBox 2">
            <a:extLst>
              <a:ext uri="{FF2B5EF4-FFF2-40B4-BE49-F238E27FC236}">
                <a16:creationId xmlns:a16="http://schemas.microsoft.com/office/drawing/2014/main" id="{DAAA6DFB-AF56-B558-AB81-F58BEAB7E8E4}"/>
              </a:ext>
            </a:extLst>
          </p:cNvPr>
          <p:cNvSpPr txBox="1"/>
          <p:nvPr/>
        </p:nvSpPr>
        <p:spPr>
          <a:xfrm>
            <a:off x="1129392" y="938892"/>
            <a:ext cx="274320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400" b="1">
                <a:latin typeface="Times New Roman"/>
                <a:cs typeface="Times New Roman"/>
              </a:rPr>
              <a:t>Objectives</a:t>
            </a:r>
          </a:p>
        </p:txBody>
      </p:sp>
      <p:sp>
        <p:nvSpPr>
          <p:cNvPr id="11" name="TextBox 10">
            <a:extLst>
              <a:ext uri="{FF2B5EF4-FFF2-40B4-BE49-F238E27FC236}">
                <a16:creationId xmlns:a16="http://schemas.microsoft.com/office/drawing/2014/main" id="{BDBC55B4-C809-88AC-0E85-FAF27F023A48}"/>
              </a:ext>
            </a:extLst>
          </p:cNvPr>
          <p:cNvSpPr txBox="1"/>
          <p:nvPr/>
        </p:nvSpPr>
        <p:spPr>
          <a:xfrm>
            <a:off x="1319892" y="1687285"/>
            <a:ext cx="2743200"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10" name="TextBox 9">
            <a:extLst>
              <a:ext uri="{FF2B5EF4-FFF2-40B4-BE49-F238E27FC236}">
                <a16:creationId xmlns:a16="http://schemas.microsoft.com/office/drawing/2014/main" id="{43D6C825-4056-1DCA-AD8F-44D643116BD2}"/>
              </a:ext>
            </a:extLst>
          </p:cNvPr>
          <p:cNvSpPr txBox="1"/>
          <p:nvPr/>
        </p:nvSpPr>
        <p:spPr>
          <a:xfrm>
            <a:off x="1224000" y="1710000"/>
            <a:ext cx="10097788" cy="470898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2000" b="1">
                <a:latin typeface="Times New Roman"/>
                <a:ea typeface="+mn-lt"/>
                <a:cs typeface="+mn-lt"/>
              </a:rPr>
              <a:t>Detect Early Attack Signals</a:t>
            </a:r>
            <a:br>
              <a:rPr lang="en-US" sz="2000">
                <a:latin typeface="Times New Roman"/>
                <a:ea typeface="+mn-lt"/>
                <a:cs typeface="+mn-lt"/>
              </a:rPr>
            </a:br>
            <a:r>
              <a:rPr lang="en-US" sz="2000">
                <a:latin typeface="Times New Roman"/>
                <a:ea typeface="+mn-lt"/>
                <a:cs typeface="+mn-lt"/>
              </a:rPr>
              <a:t> To capture initial attacker activities such as port scans and reconnaissance attempts.</a:t>
            </a:r>
            <a:endParaRPr lang="en-US" sz="2000">
              <a:latin typeface="Times New Roman"/>
              <a:cs typeface="Times New Roman"/>
            </a:endParaRPr>
          </a:p>
          <a:p>
            <a:endParaRPr lang="en-US" sz="2000">
              <a:latin typeface="Times New Roman"/>
              <a:ea typeface="+mn-lt"/>
              <a:cs typeface="+mn-lt"/>
            </a:endParaRPr>
          </a:p>
          <a:p>
            <a:pPr marL="285750" indent="-285750">
              <a:buFont typeface="Arial"/>
              <a:buChar char="•"/>
            </a:pPr>
            <a:r>
              <a:rPr lang="en-US" sz="2000" b="1">
                <a:latin typeface="Times New Roman"/>
                <a:ea typeface="+mn-lt"/>
                <a:cs typeface="+mn-lt"/>
              </a:rPr>
              <a:t>Classify Attacker Intent</a:t>
            </a:r>
            <a:br>
              <a:rPr lang="en-US" sz="2000" b="1">
                <a:latin typeface="Times New Roman"/>
                <a:ea typeface="+mn-lt"/>
                <a:cs typeface="+mn-lt"/>
              </a:rPr>
            </a:br>
            <a:r>
              <a:rPr lang="en-US" sz="2000">
                <a:latin typeface="Times New Roman"/>
                <a:ea typeface="+mn-lt"/>
                <a:cs typeface="+mn-lt"/>
              </a:rPr>
              <a:t> To analyze the observed traffic using a lightweight detection method (rule-based or ML) to determine the likely target service (e.g., SSH, web).</a:t>
            </a:r>
            <a:endParaRPr lang="en-US" sz="2000">
              <a:latin typeface="Times New Roman"/>
              <a:cs typeface="Times New Roman"/>
            </a:endParaRPr>
          </a:p>
          <a:p>
            <a:endParaRPr lang="en-US" sz="2000">
              <a:latin typeface="Times New Roman"/>
              <a:ea typeface="+mn-lt"/>
              <a:cs typeface="+mn-lt"/>
            </a:endParaRPr>
          </a:p>
          <a:p>
            <a:pPr marL="285750" indent="-285750">
              <a:buFont typeface="Arial"/>
              <a:buChar char="•"/>
            </a:pPr>
            <a:r>
              <a:rPr lang="en-US" sz="2000" b="1">
                <a:latin typeface="Times New Roman"/>
                <a:ea typeface="+mn-lt"/>
                <a:cs typeface="+mn-lt"/>
              </a:rPr>
              <a:t>Orchestrate Dynamic Honeypots</a:t>
            </a:r>
            <a:br>
              <a:rPr lang="en-US" sz="2000" b="1">
                <a:latin typeface="Times New Roman"/>
                <a:ea typeface="+mn-lt"/>
                <a:cs typeface="+mn-lt"/>
              </a:rPr>
            </a:br>
            <a:r>
              <a:rPr lang="en-US" sz="2000">
                <a:latin typeface="Times New Roman"/>
                <a:ea typeface="+mn-lt"/>
                <a:cs typeface="+mn-lt"/>
              </a:rPr>
              <a:t> To automatically deploy the most suitable honeypot container in real-time based on the classified intent.</a:t>
            </a:r>
            <a:endParaRPr lang="en-US" sz="2000">
              <a:latin typeface="Times New Roman"/>
              <a:cs typeface="Times New Roman"/>
            </a:endParaRPr>
          </a:p>
          <a:p>
            <a:endParaRPr lang="en-US" sz="2000">
              <a:latin typeface="Times New Roman"/>
              <a:ea typeface="+mn-lt"/>
              <a:cs typeface="+mn-lt"/>
            </a:endParaRPr>
          </a:p>
          <a:p>
            <a:pPr marL="285750" indent="-285750">
              <a:buFont typeface="Arial"/>
              <a:buChar char="•"/>
            </a:pPr>
            <a:r>
              <a:rPr lang="en-US" sz="2000" b="1">
                <a:latin typeface="Times New Roman"/>
                <a:ea typeface="+mn-lt"/>
                <a:cs typeface="+mn-lt"/>
              </a:rPr>
              <a:t>Enable Realistic Engagement</a:t>
            </a:r>
            <a:br>
              <a:rPr lang="en-US" sz="2000" b="1">
                <a:latin typeface="Times New Roman"/>
                <a:ea typeface="+mn-lt"/>
                <a:cs typeface="+mn-lt"/>
              </a:rPr>
            </a:br>
            <a:r>
              <a:rPr lang="en-US" sz="2000">
                <a:latin typeface="Times New Roman"/>
                <a:ea typeface="+mn-lt"/>
                <a:cs typeface="+mn-lt"/>
              </a:rPr>
              <a:t> To ensure the attacker interacts with convincing honeypots, allowing detailed monitoring of commands, payloads, and techniques.</a:t>
            </a:r>
            <a:endParaRPr lang="en-US" sz="2000">
              <a:latin typeface="Times New Roman"/>
              <a:cs typeface="Times New Roman"/>
            </a:endParaRPr>
          </a:p>
          <a:p>
            <a:endParaRPr lang="en-US" sz="2000">
              <a:latin typeface="Times New Roman"/>
              <a:cs typeface="Times New Roman"/>
            </a:endParaRPr>
          </a:p>
        </p:txBody>
      </p:sp>
    </p:spTree>
    <p:extLst>
      <p:ext uri="{BB962C8B-B14F-4D97-AF65-F5344CB8AC3E}">
        <p14:creationId xmlns:p14="http://schemas.microsoft.com/office/powerpoint/2010/main" val="3472817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5D39AF-7058-6307-9FFD-4453F4B672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14E335-E2C6-4305-7DAF-39E118136D41}"/>
              </a:ext>
            </a:extLst>
          </p:cNvPr>
          <p:cNvSpPr>
            <a:spLocks noGrp="1"/>
          </p:cNvSpPr>
          <p:nvPr>
            <p:ph type="ctrTitle"/>
          </p:nvPr>
        </p:nvSpPr>
        <p:spPr>
          <a:xfrm>
            <a:off x="1524000" y="1134363"/>
            <a:ext cx="8670000" cy="773600"/>
          </a:xfrm>
        </p:spPr>
        <p:txBody>
          <a:bodyPr>
            <a:normAutofit fontScale="90000"/>
          </a:bodyPr>
          <a:lstStyle/>
          <a:p>
            <a:br>
              <a:rPr lang="en-US"/>
            </a:br>
            <a:endParaRPr lang="en-US"/>
          </a:p>
        </p:txBody>
      </p:sp>
      <p:pic>
        <p:nvPicPr>
          <p:cNvPr id="4" name="Picture 3">
            <a:extLst>
              <a:ext uri="{FF2B5EF4-FFF2-40B4-BE49-F238E27FC236}">
                <a16:creationId xmlns:a16="http://schemas.microsoft.com/office/drawing/2014/main" id="{79E62447-61AE-EE7B-DB65-4D829EDBEA9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1663" y="79092"/>
            <a:ext cx="1740919" cy="402801"/>
          </a:xfrm>
          <a:prstGeom prst="rect">
            <a:avLst/>
          </a:prstGeom>
        </p:spPr>
      </p:pic>
      <p:cxnSp>
        <p:nvCxnSpPr>
          <p:cNvPr id="5" name="Straight Connector 4">
            <a:extLst>
              <a:ext uri="{FF2B5EF4-FFF2-40B4-BE49-F238E27FC236}">
                <a16:creationId xmlns:a16="http://schemas.microsoft.com/office/drawing/2014/main" id="{46BE4C06-4DC9-666C-6F0F-96D69C65AC82}"/>
              </a:ext>
            </a:extLst>
          </p:cNvPr>
          <p:cNvCxnSpPr>
            <a:cxnSpLocks/>
          </p:cNvCxnSpPr>
          <p:nvPr/>
        </p:nvCxnSpPr>
        <p:spPr>
          <a:xfrm>
            <a:off x="1109709" y="594804"/>
            <a:ext cx="10235953" cy="0"/>
          </a:xfrm>
          <a:prstGeom prst="line">
            <a:avLst/>
          </a:prstGeom>
        </p:spPr>
        <p:style>
          <a:lnRef idx="3">
            <a:schemeClr val="dk1"/>
          </a:lnRef>
          <a:fillRef idx="0">
            <a:schemeClr val="dk1"/>
          </a:fillRef>
          <a:effectRef idx="2">
            <a:schemeClr val="dk1"/>
          </a:effectRef>
          <a:fontRef idx="minor">
            <a:schemeClr val="tx1"/>
          </a:fontRef>
        </p:style>
      </p:cxnSp>
      <p:cxnSp>
        <p:nvCxnSpPr>
          <p:cNvPr id="6" name="Straight Connector 5">
            <a:extLst>
              <a:ext uri="{FF2B5EF4-FFF2-40B4-BE49-F238E27FC236}">
                <a16:creationId xmlns:a16="http://schemas.microsoft.com/office/drawing/2014/main" id="{E7559D18-4B16-6D08-8C1D-E6891E2D1D97}"/>
              </a:ext>
            </a:extLst>
          </p:cNvPr>
          <p:cNvCxnSpPr/>
          <p:nvPr/>
        </p:nvCxnSpPr>
        <p:spPr>
          <a:xfrm>
            <a:off x="1038687" y="6462943"/>
            <a:ext cx="10369119" cy="0"/>
          </a:xfrm>
          <a:prstGeom prst="line">
            <a:avLst/>
          </a:prstGeom>
        </p:spPr>
        <p:style>
          <a:lnRef idx="3">
            <a:schemeClr val="dk1"/>
          </a:lnRef>
          <a:fillRef idx="0">
            <a:schemeClr val="dk1"/>
          </a:fillRef>
          <a:effectRef idx="2">
            <a:schemeClr val="dk1"/>
          </a:effectRef>
          <a:fontRef idx="minor">
            <a:schemeClr val="tx1"/>
          </a:fontRef>
        </p:style>
      </p:cxnSp>
      <p:sp>
        <p:nvSpPr>
          <p:cNvPr id="7" name="TextBox 7">
            <a:extLst>
              <a:ext uri="{FF2B5EF4-FFF2-40B4-BE49-F238E27FC236}">
                <a16:creationId xmlns:a16="http://schemas.microsoft.com/office/drawing/2014/main" id="{88FB0CD2-4334-1A6B-7939-F858AE3708E6}"/>
              </a:ext>
            </a:extLst>
          </p:cNvPr>
          <p:cNvSpPr txBox="1"/>
          <p:nvPr/>
        </p:nvSpPr>
        <p:spPr>
          <a:xfrm>
            <a:off x="8788893" y="319596"/>
            <a:ext cx="2821413" cy="276999"/>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b="1">
                <a:latin typeface="Times New Roman" panose="02020603050405020304" pitchFamily="18" charset="0"/>
                <a:cs typeface="Times New Roman" panose="02020603050405020304" pitchFamily="18" charset="0"/>
              </a:rPr>
              <a:t>TIFAC – CORE in CYBER SECURITY</a:t>
            </a:r>
            <a:endParaRPr lang="en-IN" sz="1200" b="1">
              <a:latin typeface="Times New Roman" panose="02020603050405020304" pitchFamily="18" charset="0"/>
              <a:cs typeface="Times New Roman" panose="02020603050405020304" pitchFamily="18" charset="0"/>
            </a:endParaRPr>
          </a:p>
        </p:txBody>
      </p:sp>
      <p:sp>
        <p:nvSpPr>
          <p:cNvPr id="8" name="Slide Number Placeholder 10">
            <a:extLst>
              <a:ext uri="{FF2B5EF4-FFF2-40B4-BE49-F238E27FC236}">
                <a16:creationId xmlns:a16="http://schemas.microsoft.com/office/drawing/2014/main" id="{15FD1A83-B8AA-9253-A300-1450A5868AEC}"/>
              </a:ext>
            </a:extLst>
          </p:cNvPr>
          <p:cNvSpPr>
            <a:spLocks noGrp="1"/>
          </p:cNvSpPr>
          <p:nvPr/>
        </p:nvSpPr>
        <p:spPr>
          <a:xfrm>
            <a:off x="8734887" y="64928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C3E5B82-863A-4B66-9E4F-DCFAD2A3B854}" type="slidenum">
              <a:rPr lang="en-IN" smtClean="0"/>
              <a:pPr/>
              <a:t>4</a:t>
            </a:fld>
            <a:endParaRPr lang="en-IN"/>
          </a:p>
        </p:txBody>
      </p:sp>
      <p:sp>
        <p:nvSpPr>
          <p:cNvPr id="9" name="Footer Placeholder 11">
            <a:extLst>
              <a:ext uri="{FF2B5EF4-FFF2-40B4-BE49-F238E27FC236}">
                <a16:creationId xmlns:a16="http://schemas.microsoft.com/office/drawing/2014/main" id="{66616064-3FF7-4042-1136-E112957AC447}"/>
              </a:ext>
            </a:extLst>
          </p:cNvPr>
          <p:cNvSpPr>
            <a:spLocks noGrp="1"/>
          </p:cNvSpPr>
          <p:nvPr/>
        </p:nvSpPr>
        <p:spPr>
          <a:xfrm>
            <a:off x="4038600" y="64928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20CYS 495 B.Tech CYS: 2022 - 2026 Project Presentation </a:t>
            </a:r>
            <a:endParaRPr lang="en-IN"/>
          </a:p>
        </p:txBody>
      </p:sp>
      <p:sp>
        <p:nvSpPr>
          <p:cNvPr id="3" name="TextBox 2">
            <a:extLst>
              <a:ext uri="{FF2B5EF4-FFF2-40B4-BE49-F238E27FC236}">
                <a16:creationId xmlns:a16="http://schemas.microsoft.com/office/drawing/2014/main" id="{09085985-300B-E624-BB74-FC2A5423D6EB}"/>
              </a:ext>
            </a:extLst>
          </p:cNvPr>
          <p:cNvSpPr txBox="1"/>
          <p:nvPr/>
        </p:nvSpPr>
        <p:spPr>
          <a:xfrm>
            <a:off x="1129392" y="938892"/>
            <a:ext cx="274320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latin typeface="Times New Roman"/>
                <a:cs typeface="Times New Roman"/>
              </a:rPr>
              <a:t>Objectives - </a:t>
            </a:r>
            <a:r>
              <a:rPr lang="en-US" sz="2400" b="1" err="1">
                <a:latin typeface="Times New Roman"/>
                <a:cs typeface="Times New Roman"/>
              </a:rPr>
              <a:t>Cont</a:t>
            </a:r>
          </a:p>
        </p:txBody>
      </p:sp>
      <p:sp>
        <p:nvSpPr>
          <p:cNvPr id="11" name="TextBox 10">
            <a:extLst>
              <a:ext uri="{FF2B5EF4-FFF2-40B4-BE49-F238E27FC236}">
                <a16:creationId xmlns:a16="http://schemas.microsoft.com/office/drawing/2014/main" id="{AEEA5CB4-4598-32FF-2B0B-DBED4478DF01}"/>
              </a:ext>
            </a:extLst>
          </p:cNvPr>
          <p:cNvSpPr txBox="1"/>
          <p:nvPr/>
        </p:nvSpPr>
        <p:spPr>
          <a:xfrm>
            <a:off x="1319892" y="1687285"/>
            <a:ext cx="2743200"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13" name="TextBox 12">
            <a:extLst>
              <a:ext uri="{FF2B5EF4-FFF2-40B4-BE49-F238E27FC236}">
                <a16:creationId xmlns:a16="http://schemas.microsoft.com/office/drawing/2014/main" id="{2E850FA2-28B8-FC3E-52D4-0DAD5D77360B}"/>
              </a:ext>
            </a:extLst>
          </p:cNvPr>
          <p:cNvSpPr txBox="1"/>
          <p:nvPr/>
        </p:nvSpPr>
        <p:spPr>
          <a:xfrm>
            <a:off x="1290000" y="1674000"/>
            <a:ext cx="9757200" cy="255454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Sans-Serif"/>
              <a:buChar char="•"/>
            </a:pPr>
            <a:r>
              <a:rPr lang="en-US" sz="2000" b="1">
                <a:latin typeface="Times New Roman"/>
                <a:cs typeface="Times New Roman"/>
              </a:rPr>
              <a:t>Centralize Threat Intelligence</a:t>
            </a:r>
            <a:br>
              <a:rPr lang="en-US" sz="2000">
                <a:latin typeface="Times New Roman"/>
              </a:rPr>
            </a:br>
            <a:r>
              <a:rPr lang="en-US" sz="2000">
                <a:latin typeface="Times New Roman"/>
                <a:cs typeface="Times New Roman"/>
              </a:rPr>
              <a:t> To forward captured logs into a SIEM (e.g., Splunk) for correlation, visualization, and alerting.</a:t>
            </a:r>
          </a:p>
          <a:p>
            <a:endParaRPr lang="en-US" sz="2000">
              <a:latin typeface="Times New Roman"/>
              <a:cs typeface="Times New Roman"/>
            </a:endParaRPr>
          </a:p>
          <a:p>
            <a:pPr marL="285750" indent="-285750">
              <a:buFont typeface="Arial,Sans-Serif"/>
              <a:buChar char="•"/>
            </a:pPr>
            <a:r>
              <a:rPr lang="en-US" sz="2000" b="1">
                <a:latin typeface="Times New Roman"/>
                <a:cs typeface="Times New Roman"/>
              </a:rPr>
              <a:t>Map to MITRE ATT&amp;CK</a:t>
            </a:r>
            <a:br>
              <a:rPr lang="en-US" sz="2000" b="1">
                <a:latin typeface="Times New Roman"/>
              </a:rPr>
            </a:br>
            <a:r>
              <a:rPr lang="en-US" sz="2000">
                <a:latin typeface="Times New Roman"/>
                <a:cs typeface="Times New Roman"/>
              </a:rPr>
              <a:t> To profile and classify attacker behavior against the MITRE ATT&amp;CK framework, producing actionable threat intelligence for analysts.</a:t>
            </a:r>
          </a:p>
          <a:p>
            <a:pPr algn="l"/>
            <a:endParaRPr lang="en-US" sz="2000">
              <a:latin typeface="Times New Roman"/>
              <a:cs typeface="Times New Roman"/>
            </a:endParaRPr>
          </a:p>
        </p:txBody>
      </p:sp>
    </p:spTree>
    <p:extLst>
      <p:ext uri="{BB962C8B-B14F-4D97-AF65-F5344CB8AC3E}">
        <p14:creationId xmlns:p14="http://schemas.microsoft.com/office/powerpoint/2010/main" val="824068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6BB468-D228-8943-D481-3A9378C1CC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39A184-1974-73BA-40B7-82C8F6917596}"/>
              </a:ext>
            </a:extLst>
          </p:cNvPr>
          <p:cNvSpPr>
            <a:spLocks noGrp="1"/>
          </p:cNvSpPr>
          <p:nvPr>
            <p:ph type="ctrTitle"/>
          </p:nvPr>
        </p:nvSpPr>
        <p:spPr>
          <a:xfrm>
            <a:off x="1524000" y="1134363"/>
            <a:ext cx="8670000" cy="773600"/>
          </a:xfrm>
        </p:spPr>
        <p:txBody>
          <a:bodyPr>
            <a:normAutofit fontScale="90000"/>
          </a:bodyPr>
          <a:lstStyle/>
          <a:p>
            <a:br>
              <a:rPr lang="en-US"/>
            </a:br>
            <a:endParaRPr lang="en-US"/>
          </a:p>
        </p:txBody>
      </p:sp>
      <p:pic>
        <p:nvPicPr>
          <p:cNvPr id="4" name="Picture 3">
            <a:extLst>
              <a:ext uri="{FF2B5EF4-FFF2-40B4-BE49-F238E27FC236}">
                <a16:creationId xmlns:a16="http://schemas.microsoft.com/office/drawing/2014/main" id="{2DC9850F-3DD3-DA95-75FE-887186AD421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1663" y="79092"/>
            <a:ext cx="1740919" cy="402801"/>
          </a:xfrm>
          <a:prstGeom prst="rect">
            <a:avLst/>
          </a:prstGeom>
        </p:spPr>
      </p:pic>
      <p:cxnSp>
        <p:nvCxnSpPr>
          <p:cNvPr id="5" name="Straight Connector 4">
            <a:extLst>
              <a:ext uri="{FF2B5EF4-FFF2-40B4-BE49-F238E27FC236}">
                <a16:creationId xmlns:a16="http://schemas.microsoft.com/office/drawing/2014/main" id="{164E7082-D1CC-0A51-C08B-DCD9B06A483C}"/>
              </a:ext>
            </a:extLst>
          </p:cNvPr>
          <p:cNvCxnSpPr>
            <a:cxnSpLocks/>
          </p:cNvCxnSpPr>
          <p:nvPr/>
        </p:nvCxnSpPr>
        <p:spPr>
          <a:xfrm>
            <a:off x="1109709" y="594804"/>
            <a:ext cx="10235953" cy="0"/>
          </a:xfrm>
          <a:prstGeom prst="line">
            <a:avLst/>
          </a:prstGeom>
        </p:spPr>
        <p:style>
          <a:lnRef idx="3">
            <a:schemeClr val="dk1"/>
          </a:lnRef>
          <a:fillRef idx="0">
            <a:schemeClr val="dk1"/>
          </a:fillRef>
          <a:effectRef idx="2">
            <a:schemeClr val="dk1"/>
          </a:effectRef>
          <a:fontRef idx="minor">
            <a:schemeClr val="tx1"/>
          </a:fontRef>
        </p:style>
      </p:cxnSp>
      <p:cxnSp>
        <p:nvCxnSpPr>
          <p:cNvPr id="6" name="Straight Connector 5">
            <a:extLst>
              <a:ext uri="{FF2B5EF4-FFF2-40B4-BE49-F238E27FC236}">
                <a16:creationId xmlns:a16="http://schemas.microsoft.com/office/drawing/2014/main" id="{41F09C0F-B9DB-36F4-B368-F19ADD180AA9}"/>
              </a:ext>
            </a:extLst>
          </p:cNvPr>
          <p:cNvCxnSpPr/>
          <p:nvPr/>
        </p:nvCxnSpPr>
        <p:spPr>
          <a:xfrm>
            <a:off x="1038687" y="6462943"/>
            <a:ext cx="10369119" cy="0"/>
          </a:xfrm>
          <a:prstGeom prst="line">
            <a:avLst/>
          </a:prstGeom>
        </p:spPr>
        <p:style>
          <a:lnRef idx="3">
            <a:schemeClr val="dk1"/>
          </a:lnRef>
          <a:fillRef idx="0">
            <a:schemeClr val="dk1"/>
          </a:fillRef>
          <a:effectRef idx="2">
            <a:schemeClr val="dk1"/>
          </a:effectRef>
          <a:fontRef idx="minor">
            <a:schemeClr val="tx1"/>
          </a:fontRef>
        </p:style>
      </p:cxnSp>
      <p:sp>
        <p:nvSpPr>
          <p:cNvPr id="7" name="TextBox 7">
            <a:extLst>
              <a:ext uri="{FF2B5EF4-FFF2-40B4-BE49-F238E27FC236}">
                <a16:creationId xmlns:a16="http://schemas.microsoft.com/office/drawing/2014/main" id="{86F62E7B-AA8D-2198-E406-A9821FDDC49D}"/>
              </a:ext>
            </a:extLst>
          </p:cNvPr>
          <p:cNvSpPr txBox="1"/>
          <p:nvPr/>
        </p:nvSpPr>
        <p:spPr>
          <a:xfrm>
            <a:off x="8788893" y="319596"/>
            <a:ext cx="2821413" cy="276999"/>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b="1">
                <a:latin typeface="Times New Roman" panose="02020603050405020304" pitchFamily="18" charset="0"/>
                <a:cs typeface="Times New Roman" panose="02020603050405020304" pitchFamily="18" charset="0"/>
              </a:rPr>
              <a:t>TIFAC – CORE in CYBER SECURITY</a:t>
            </a:r>
            <a:endParaRPr lang="en-IN" sz="1200" b="1">
              <a:latin typeface="Times New Roman" panose="02020603050405020304" pitchFamily="18" charset="0"/>
              <a:cs typeface="Times New Roman" panose="02020603050405020304" pitchFamily="18" charset="0"/>
            </a:endParaRPr>
          </a:p>
        </p:txBody>
      </p:sp>
      <p:sp>
        <p:nvSpPr>
          <p:cNvPr id="8" name="Slide Number Placeholder 10">
            <a:extLst>
              <a:ext uri="{FF2B5EF4-FFF2-40B4-BE49-F238E27FC236}">
                <a16:creationId xmlns:a16="http://schemas.microsoft.com/office/drawing/2014/main" id="{AEFC0860-64FB-85F3-3F4F-2DD96156EACC}"/>
              </a:ext>
            </a:extLst>
          </p:cNvPr>
          <p:cNvSpPr>
            <a:spLocks noGrp="1"/>
          </p:cNvSpPr>
          <p:nvPr/>
        </p:nvSpPr>
        <p:spPr>
          <a:xfrm>
            <a:off x="8734887" y="64928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C3E5B82-863A-4B66-9E4F-DCFAD2A3B854}" type="slidenum">
              <a:rPr lang="en-IN" smtClean="0"/>
              <a:pPr/>
              <a:t>5</a:t>
            </a:fld>
            <a:endParaRPr lang="en-IN"/>
          </a:p>
        </p:txBody>
      </p:sp>
      <p:sp>
        <p:nvSpPr>
          <p:cNvPr id="9" name="Footer Placeholder 11">
            <a:extLst>
              <a:ext uri="{FF2B5EF4-FFF2-40B4-BE49-F238E27FC236}">
                <a16:creationId xmlns:a16="http://schemas.microsoft.com/office/drawing/2014/main" id="{2754B3B1-E4B0-FEE5-8D9D-C1DE7A4D83F8}"/>
              </a:ext>
            </a:extLst>
          </p:cNvPr>
          <p:cNvSpPr>
            <a:spLocks noGrp="1"/>
          </p:cNvSpPr>
          <p:nvPr/>
        </p:nvSpPr>
        <p:spPr>
          <a:xfrm>
            <a:off x="4038600" y="64928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20CYS 495 B.Tech CYS: 2022 - 2026 Project Presentation </a:t>
            </a:r>
            <a:endParaRPr lang="en-IN"/>
          </a:p>
        </p:txBody>
      </p:sp>
      <p:sp>
        <p:nvSpPr>
          <p:cNvPr id="11" name="TextBox 10">
            <a:extLst>
              <a:ext uri="{FF2B5EF4-FFF2-40B4-BE49-F238E27FC236}">
                <a16:creationId xmlns:a16="http://schemas.microsoft.com/office/drawing/2014/main" id="{E90785C1-585B-6FEA-3245-7539EE9E7D83}"/>
              </a:ext>
            </a:extLst>
          </p:cNvPr>
          <p:cNvSpPr txBox="1"/>
          <p:nvPr/>
        </p:nvSpPr>
        <p:spPr>
          <a:xfrm>
            <a:off x="1319892" y="1687285"/>
            <a:ext cx="2743200"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10" name="TextBox 9">
            <a:extLst>
              <a:ext uri="{FF2B5EF4-FFF2-40B4-BE49-F238E27FC236}">
                <a16:creationId xmlns:a16="http://schemas.microsoft.com/office/drawing/2014/main" id="{3E60703A-E303-842E-FF76-B69C3F855B5F}"/>
              </a:ext>
            </a:extLst>
          </p:cNvPr>
          <p:cNvSpPr txBox="1"/>
          <p:nvPr/>
        </p:nvSpPr>
        <p:spPr>
          <a:xfrm>
            <a:off x="1224000" y="1710000"/>
            <a:ext cx="9739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a:p>
        </p:txBody>
      </p:sp>
      <p:pic>
        <p:nvPicPr>
          <p:cNvPr id="3" name="Picture 2" descr="A screenshot of a computer program&#10;&#10;AI-generated content may be incorrect.">
            <a:extLst>
              <a:ext uri="{FF2B5EF4-FFF2-40B4-BE49-F238E27FC236}">
                <a16:creationId xmlns:a16="http://schemas.microsoft.com/office/drawing/2014/main" id="{E82C1C19-C48B-6792-64D1-0BF3F5767627}"/>
              </a:ext>
            </a:extLst>
          </p:cNvPr>
          <p:cNvPicPr>
            <a:picLocks noChangeAspect="1"/>
          </p:cNvPicPr>
          <p:nvPr/>
        </p:nvPicPr>
        <p:blipFill>
          <a:blip r:embed="rId3"/>
          <a:stretch>
            <a:fillRect/>
          </a:stretch>
        </p:blipFill>
        <p:spPr>
          <a:xfrm>
            <a:off x="2121645" y="2052318"/>
            <a:ext cx="8673355" cy="4187714"/>
          </a:xfrm>
          <a:prstGeom prst="rect">
            <a:avLst/>
          </a:prstGeom>
        </p:spPr>
      </p:pic>
      <p:sp>
        <p:nvSpPr>
          <p:cNvPr id="12" name="TextBox 11">
            <a:extLst>
              <a:ext uri="{FF2B5EF4-FFF2-40B4-BE49-F238E27FC236}">
                <a16:creationId xmlns:a16="http://schemas.microsoft.com/office/drawing/2014/main" id="{1CD6E8E8-1FCF-85FF-8363-35CA357876BC}"/>
              </a:ext>
            </a:extLst>
          </p:cNvPr>
          <p:cNvSpPr txBox="1"/>
          <p:nvPr/>
        </p:nvSpPr>
        <p:spPr>
          <a:xfrm>
            <a:off x="1112294" y="872882"/>
            <a:ext cx="10236200"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a:latin typeface="Times New Roman"/>
                <a:ea typeface="+mn-lt"/>
                <a:cs typeface="+mn-lt"/>
              </a:rPr>
              <a:t>The installation of </a:t>
            </a:r>
            <a:r>
              <a:rPr lang="en-US" b="1">
                <a:latin typeface="Times New Roman"/>
                <a:ea typeface="+mn-lt"/>
                <a:cs typeface="+mn-lt"/>
              </a:rPr>
              <a:t>T-Pot</a:t>
            </a:r>
            <a:r>
              <a:rPr lang="en-US">
                <a:latin typeface="Times New Roman"/>
                <a:ea typeface="+mn-lt"/>
                <a:cs typeface="+mn-lt"/>
              </a:rPr>
              <a:t>, a multi-honeypot framework that brings together several honeypot services into a single environment. During this step, the installation script sets up all the required dependencies such as Ansible and Python libraries, ensuring the system can support and manage honeypots inside Docker containers.</a:t>
            </a:r>
            <a:endParaRPr lang="en-US">
              <a:latin typeface="Times New Roman"/>
              <a:cs typeface="Times New Roman"/>
            </a:endParaRPr>
          </a:p>
        </p:txBody>
      </p:sp>
    </p:spTree>
    <p:extLst>
      <p:ext uri="{BB962C8B-B14F-4D97-AF65-F5344CB8AC3E}">
        <p14:creationId xmlns:p14="http://schemas.microsoft.com/office/powerpoint/2010/main" val="17691607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E4B30A-B75D-86F8-C4A8-83C9C39BF2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ECF566-E363-2E00-8E88-A0213D2BEFD2}"/>
              </a:ext>
            </a:extLst>
          </p:cNvPr>
          <p:cNvSpPr>
            <a:spLocks noGrp="1"/>
          </p:cNvSpPr>
          <p:nvPr>
            <p:ph type="ctrTitle"/>
          </p:nvPr>
        </p:nvSpPr>
        <p:spPr>
          <a:xfrm>
            <a:off x="1524000" y="1134363"/>
            <a:ext cx="8670000" cy="773600"/>
          </a:xfrm>
        </p:spPr>
        <p:txBody>
          <a:bodyPr>
            <a:normAutofit fontScale="90000"/>
          </a:bodyPr>
          <a:lstStyle/>
          <a:p>
            <a:br>
              <a:rPr lang="en-US"/>
            </a:br>
            <a:endParaRPr lang="en-US"/>
          </a:p>
        </p:txBody>
      </p:sp>
      <p:pic>
        <p:nvPicPr>
          <p:cNvPr id="4" name="Picture 3">
            <a:extLst>
              <a:ext uri="{FF2B5EF4-FFF2-40B4-BE49-F238E27FC236}">
                <a16:creationId xmlns:a16="http://schemas.microsoft.com/office/drawing/2014/main" id="{51C3264C-451D-50FE-AC02-767E46FE634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1663" y="79092"/>
            <a:ext cx="1740919" cy="402801"/>
          </a:xfrm>
          <a:prstGeom prst="rect">
            <a:avLst/>
          </a:prstGeom>
        </p:spPr>
      </p:pic>
      <p:cxnSp>
        <p:nvCxnSpPr>
          <p:cNvPr id="5" name="Straight Connector 4">
            <a:extLst>
              <a:ext uri="{FF2B5EF4-FFF2-40B4-BE49-F238E27FC236}">
                <a16:creationId xmlns:a16="http://schemas.microsoft.com/office/drawing/2014/main" id="{A4A8FA43-DA9F-59AE-7AE1-AD17B07407AB}"/>
              </a:ext>
            </a:extLst>
          </p:cNvPr>
          <p:cNvCxnSpPr>
            <a:cxnSpLocks/>
          </p:cNvCxnSpPr>
          <p:nvPr/>
        </p:nvCxnSpPr>
        <p:spPr>
          <a:xfrm>
            <a:off x="1109709" y="594804"/>
            <a:ext cx="10235953" cy="0"/>
          </a:xfrm>
          <a:prstGeom prst="line">
            <a:avLst/>
          </a:prstGeom>
        </p:spPr>
        <p:style>
          <a:lnRef idx="3">
            <a:schemeClr val="dk1"/>
          </a:lnRef>
          <a:fillRef idx="0">
            <a:schemeClr val="dk1"/>
          </a:fillRef>
          <a:effectRef idx="2">
            <a:schemeClr val="dk1"/>
          </a:effectRef>
          <a:fontRef idx="minor">
            <a:schemeClr val="tx1"/>
          </a:fontRef>
        </p:style>
      </p:cxnSp>
      <p:cxnSp>
        <p:nvCxnSpPr>
          <p:cNvPr id="6" name="Straight Connector 5">
            <a:extLst>
              <a:ext uri="{FF2B5EF4-FFF2-40B4-BE49-F238E27FC236}">
                <a16:creationId xmlns:a16="http://schemas.microsoft.com/office/drawing/2014/main" id="{24DDCE2F-07B9-A250-AB8E-8171F982EAE7}"/>
              </a:ext>
            </a:extLst>
          </p:cNvPr>
          <p:cNvCxnSpPr/>
          <p:nvPr/>
        </p:nvCxnSpPr>
        <p:spPr>
          <a:xfrm>
            <a:off x="1038687" y="6462943"/>
            <a:ext cx="10369119" cy="0"/>
          </a:xfrm>
          <a:prstGeom prst="line">
            <a:avLst/>
          </a:prstGeom>
        </p:spPr>
        <p:style>
          <a:lnRef idx="3">
            <a:schemeClr val="dk1"/>
          </a:lnRef>
          <a:fillRef idx="0">
            <a:schemeClr val="dk1"/>
          </a:fillRef>
          <a:effectRef idx="2">
            <a:schemeClr val="dk1"/>
          </a:effectRef>
          <a:fontRef idx="minor">
            <a:schemeClr val="tx1"/>
          </a:fontRef>
        </p:style>
      </p:cxnSp>
      <p:sp>
        <p:nvSpPr>
          <p:cNvPr id="7" name="TextBox 7">
            <a:extLst>
              <a:ext uri="{FF2B5EF4-FFF2-40B4-BE49-F238E27FC236}">
                <a16:creationId xmlns:a16="http://schemas.microsoft.com/office/drawing/2014/main" id="{2C1A47C4-314A-25FF-73E9-6213C4CC4999}"/>
              </a:ext>
            </a:extLst>
          </p:cNvPr>
          <p:cNvSpPr txBox="1"/>
          <p:nvPr/>
        </p:nvSpPr>
        <p:spPr>
          <a:xfrm>
            <a:off x="8788893" y="319596"/>
            <a:ext cx="2821413" cy="276999"/>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b="1">
                <a:latin typeface="Times New Roman" panose="02020603050405020304" pitchFamily="18" charset="0"/>
                <a:cs typeface="Times New Roman" panose="02020603050405020304" pitchFamily="18" charset="0"/>
              </a:rPr>
              <a:t>TIFAC – CORE in CYBER SECURITY</a:t>
            </a:r>
            <a:endParaRPr lang="en-IN" sz="1200" b="1">
              <a:latin typeface="Times New Roman" panose="02020603050405020304" pitchFamily="18" charset="0"/>
              <a:cs typeface="Times New Roman" panose="02020603050405020304" pitchFamily="18" charset="0"/>
            </a:endParaRPr>
          </a:p>
        </p:txBody>
      </p:sp>
      <p:sp>
        <p:nvSpPr>
          <p:cNvPr id="8" name="Slide Number Placeholder 10">
            <a:extLst>
              <a:ext uri="{FF2B5EF4-FFF2-40B4-BE49-F238E27FC236}">
                <a16:creationId xmlns:a16="http://schemas.microsoft.com/office/drawing/2014/main" id="{155217FA-CE1D-371A-4AA2-990F489E560A}"/>
              </a:ext>
            </a:extLst>
          </p:cNvPr>
          <p:cNvSpPr>
            <a:spLocks noGrp="1"/>
          </p:cNvSpPr>
          <p:nvPr/>
        </p:nvSpPr>
        <p:spPr>
          <a:xfrm>
            <a:off x="8734887" y="64928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C3E5B82-863A-4B66-9E4F-DCFAD2A3B854}" type="slidenum">
              <a:rPr lang="en-IN" smtClean="0"/>
              <a:pPr/>
              <a:t>6</a:t>
            </a:fld>
            <a:endParaRPr lang="en-IN"/>
          </a:p>
        </p:txBody>
      </p:sp>
      <p:sp>
        <p:nvSpPr>
          <p:cNvPr id="9" name="Footer Placeholder 11">
            <a:extLst>
              <a:ext uri="{FF2B5EF4-FFF2-40B4-BE49-F238E27FC236}">
                <a16:creationId xmlns:a16="http://schemas.microsoft.com/office/drawing/2014/main" id="{1BD00F00-34B7-E691-5D96-0BC360114B62}"/>
              </a:ext>
            </a:extLst>
          </p:cNvPr>
          <p:cNvSpPr>
            <a:spLocks noGrp="1"/>
          </p:cNvSpPr>
          <p:nvPr/>
        </p:nvSpPr>
        <p:spPr>
          <a:xfrm>
            <a:off x="4038600" y="64928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20CYS 495 B.Tech CYS: 2022 - 2026 Project Presentation </a:t>
            </a:r>
            <a:endParaRPr lang="en-IN"/>
          </a:p>
        </p:txBody>
      </p:sp>
      <p:sp>
        <p:nvSpPr>
          <p:cNvPr id="11" name="TextBox 10">
            <a:extLst>
              <a:ext uri="{FF2B5EF4-FFF2-40B4-BE49-F238E27FC236}">
                <a16:creationId xmlns:a16="http://schemas.microsoft.com/office/drawing/2014/main" id="{DB9D463A-CC83-6D30-865E-FEBAB00D484D}"/>
              </a:ext>
            </a:extLst>
          </p:cNvPr>
          <p:cNvSpPr txBox="1"/>
          <p:nvPr/>
        </p:nvSpPr>
        <p:spPr>
          <a:xfrm>
            <a:off x="1319892" y="1687285"/>
            <a:ext cx="2743200"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10" name="TextBox 9">
            <a:extLst>
              <a:ext uri="{FF2B5EF4-FFF2-40B4-BE49-F238E27FC236}">
                <a16:creationId xmlns:a16="http://schemas.microsoft.com/office/drawing/2014/main" id="{BB37C572-4E4A-3D39-48E6-50751BDFB390}"/>
              </a:ext>
            </a:extLst>
          </p:cNvPr>
          <p:cNvSpPr txBox="1"/>
          <p:nvPr/>
        </p:nvSpPr>
        <p:spPr>
          <a:xfrm>
            <a:off x="1224000" y="1710000"/>
            <a:ext cx="9739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a:p>
        </p:txBody>
      </p:sp>
      <p:pic>
        <p:nvPicPr>
          <p:cNvPr id="3" name="Picture 2" descr="A screen shot of a computer&#10;&#10;AI-generated content may be incorrect.">
            <a:extLst>
              <a:ext uri="{FF2B5EF4-FFF2-40B4-BE49-F238E27FC236}">
                <a16:creationId xmlns:a16="http://schemas.microsoft.com/office/drawing/2014/main" id="{871F31E2-BE8F-C6C4-F246-597E612C99C8}"/>
              </a:ext>
            </a:extLst>
          </p:cNvPr>
          <p:cNvPicPr>
            <a:picLocks noChangeAspect="1"/>
          </p:cNvPicPr>
          <p:nvPr/>
        </p:nvPicPr>
        <p:blipFill>
          <a:blip r:embed="rId3"/>
          <a:stretch>
            <a:fillRect/>
          </a:stretch>
        </p:blipFill>
        <p:spPr>
          <a:xfrm>
            <a:off x="1318950" y="2798775"/>
            <a:ext cx="9182100" cy="2076450"/>
          </a:xfrm>
          <a:prstGeom prst="rect">
            <a:avLst/>
          </a:prstGeom>
        </p:spPr>
      </p:pic>
      <p:sp>
        <p:nvSpPr>
          <p:cNvPr id="12" name="TextBox 11">
            <a:extLst>
              <a:ext uri="{FF2B5EF4-FFF2-40B4-BE49-F238E27FC236}">
                <a16:creationId xmlns:a16="http://schemas.microsoft.com/office/drawing/2014/main" id="{A1EED648-A460-C94F-6F04-08216974F216}"/>
              </a:ext>
            </a:extLst>
          </p:cNvPr>
          <p:cNvSpPr txBox="1"/>
          <p:nvPr/>
        </p:nvSpPr>
        <p:spPr>
          <a:xfrm>
            <a:off x="1098000" y="1128711"/>
            <a:ext cx="10255200" cy="1194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a:latin typeface="Times New Roman"/>
                <a:ea typeface="+mn-lt"/>
                <a:cs typeface="+mn-lt"/>
              </a:rPr>
              <a:t>we install the </a:t>
            </a:r>
            <a:r>
              <a:rPr lang="en-US" b="1">
                <a:latin typeface="Times New Roman"/>
                <a:ea typeface="+mn-lt"/>
                <a:cs typeface="+mn-lt"/>
              </a:rPr>
              <a:t>OpenSSH Server</a:t>
            </a:r>
            <a:r>
              <a:rPr lang="en-US">
                <a:latin typeface="Times New Roman"/>
                <a:ea typeface="+mn-lt"/>
                <a:cs typeface="+mn-lt"/>
              </a:rPr>
              <a:t> on the machine. This setup is essential for enabling secure remote access and for simulating SSH services within our environment. Since SSH is one of the most commonly targeted services by attackers through brute-force attempts, including it in our honeypot setup makes the environment more realistic and effective in attracting malicious activity.</a:t>
            </a:r>
            <a:endParaRPr lang="en-US">
              <a:latin typeface="Times New Roman"/>
              <a:cs typeface="Times New Roman"/>
            </a:endParaRPr>
          </a:p>
        </p:txBody>
      </p:sp>
    </p:spTree>
    <p:extLst>
      <p:ext uri="{BB962C8B-B14F-4D97-AF65-F5344CB8AC3E}">
        <p14:creationId xmlns:p14="http://schemas.microsoft.com/office/powerpoint/2010/main" val="20644198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5198A8-4D79-E28E-89BE-9044F0073D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E6AEA9-0169-1F3C-F3B9-6EE345383F8A}"/>
              </a:ext>
            </a:extLst>
          </p:cNvPr>
          <p:cNvSpPr>
            <a:spLocks noGrp="1"/>
          </p:cNvSpPr>
          <p:nvPr>
            <p:ph type="ctrTitle"/>
          </p:nvPr>
        </p:nvSpPr>
        <p:spPr>
          <a:xfrm>
            <a:off x="1524000" y="1134363"/>
            <a:ext cx="8670000" cy="773600"/>
          </a:xfrm>
        </p:spPr>
        <p:txBody>
          <a:bodyPr>
            <a:normAutofit fontScale="90000"/>
          </a:bodyPr>
          <a:lstStyle/>
          <a:p>
            <a:br>
              <a:rPr lang="en-US"/>
            </a:br>
            <a:endParaRPr lang="en-US"/>
          </a:p>
        </p:txBody>
      </p:sp>
      <p:pic>
        <p:nvPicPr>
          <p:cNvPr id="4" name="Picture 3">
            <a:extLst>
              <a:ext uri="{FF2B5EF4-FFF2-40B4-BE49-F238E27FC236}">
                <a16:creationId xmlns:a16="http://schemas.microsoft.com/office/drawing/2014/main" id="{0E780F6C-572A-074C-3901-41305865DE4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1663" y="79092"/>
            <a:ext cx="1740919" cy="402801"/>
          </a:xfrm>
          <a:prstGeom prst="rect">
            <a:avLst/>
          </a:prstGeom>
        </p:spPr>
      </p:pic>
      <p:cxnSp>
        <p:nvCxnSpPr>
          <p:cNvPr id="5" name="Straight Connector 4">
            <a:extLst>
              <a:ext uri="{FF2B5EF4-FFF2-40B4-BE49-F238E27FC236}">
                <a16:creationId xmlns:a16="http://schemas.microsoft.com/office/drawing/2014/main" id="{9FCDE7AA-F66D-34D0-F20D-1B63DBA7C1BA}"/>
              </a:ext>
            </a:extLst>
          </p:cNvPr>
          <p:cNvCxnSpPr>
            <a:cxnSpLocks/>
          </p:cNvCxnSpPr>
          <p:nvPr/>
        </p:nvCxnSpPr>
        <p:spPr>
          <a:xfrm>
            <a:off x="1109709" y="594804"/>
            <a:ext cx="10235953" cy="0"/>
          </a:xfrm>
          <a:prstGeom prst="line">
            <a:avLst/>
          </a:prstGeom>
        </p:spPr>
        <p:style>
          <a:lnRef idx="3">
            <a:schemeClr val="dk1"/>
          </a:lnRef>
          <a:fillRef idx="0">
            <a:schemeClr val="dk1"/>
          </a:fillRef>
          <a:effectRef idx="2">
            <a:schemeClr val="dk1"/>
          </a:effectRef>
          <a:fontRef idx="minor">
            <a:schemeClr val="tx1"/>
          </a:fontRef>
        </p:style>
      </p:cxnSp>
      <p:cxnSp>
        <p:nvCxnSpPr>
          <p:cNvPr id="6" name="Straight Connector 5">
            <a:extLst>
              <a:ext uri="{FF2B5EF4-FFF2-40B4-BE49-F238E27FC236}">
                <a16:creationId xmlns:a16="http://schemas.microsoft.com/office/drawing/2014/main" id="{6FD3A161-01A4-0959-E17E-90AC4AECA5DB}"/>
              </a:ext>
            </a:extLst>
          </p:cNvPr>
          <p:cNvCxnSpPr/>
          <p:nvPr/>
        </p:nvCxnSpPr>
        <p:spPr>
          <a:xfrm>
            <a:off x="1038687" y="6462943"/>
            <a:ext cx="10369119" cy="0"/>
          </a:xfrm>
          <a:prstGeom prst="line">
            <a:avLst/>
          </a:prstGeom>
        </p:spPr>
        <p:style>
          <a:lnRef idx="3">
            <a:schemeClr val="dk1"/>
          </a:lnRef>
          <a:fillRef idx="0">
            <a:schemeClr val="dk1"/>
          </a:fillRef>
          <a:effectRef idx="2">
            <a:schemeClr val="dk1"/>
          </a:effectRef>
          <a:fontRef idx="minor">
            <a:schemeClr val="tx1"/>
          </a:fontRef>
        </p:style>
      </p:cxnSp>
      <p:sp>
        <p:nvSpPr>
          <p:cNvPr id="7" name="TextBox 7">
            <a:extLst>
              <a:ext uri="{FF2B5EF4-FFF2-40B4-BE49-F238E27FC236}">
                <a16:creationId xmlns:a16="http://schemas.microsoft.com/office/drawing/2014/main" id="{E2736622-9D8F-CD31-C115-4FE33EE96A0A}"/>
              </a:ext>
            </a:extLst>
          </p:cNvPr>
          <p:cNvSpPr txBox="1"/>
          <p:nvPr/>
        </p:nvSpPr>
        <p:spPr>
          <a:xfrm>
            <a:off x="8788893" y="319596"/>
            <a:ext cx="2821413" cy="276999"/>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b="1">
                <a:latin typeface="Times New Roman" panose="02020603050405020304" pitchFamily="18" charset="0"/>
                <a:cs typeface="Times New Roman" panose="02020603050405020304" pitchFamily="18" charset="0"/>
              </a:rPr>
              <a:t>TIFAC – CORE in CYBER SECURITY</a:t>
            </a:r>
            <a:endParaRPr lang="en-IN" sz="1200" b="1">
              <a:latin typeface="Times New Roman" panose="02020603050405020304" pitchFamily="18" charset="0"/>
              <a:cs typeface="Times New Roman" panose="02020603050405020304" pitchFamily="18" charset="0"/>
            </a:endParaRPr>
          </a:p>
        </p:txBody>
      </p:sp>
      <p:sp>
        <p:nvSpPr>
          <p:cNvPr id="8" name="Slide Number Placeholder 10">
            <a:extLst>
              <a:ext uri="{FF2B5EF4-FFF2-40B4-BE49-F238E27FC236}">
                <a16:creationId xmlns:a16="http://schemas.microsoft.com/office/drawing/2014/main" id="{D768E329-4776-B3BE-8361-AF5089C2DCDF}"/>
              </a:ext>
            </a:extLst>
          </p:cNvPr>
          <p:cNvSpPr>
            <a:spLocks noGrp="1"/>
          </p:cNvSpPr>
          <p:nvPr/>
        </p:nvSpPr>
        <p:spPr>
          <a:xfrm>
            <a:off x="8734887" y="64928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C3E5B82-863A-4B66-9E4F-DCFAD2A3B854}" type="slidenum">
              <a:rPr lang="en-IN" smtClean="0"/>
              <a:pPr/>
              <a:t>7</a:t>
            </a:fld>
            <a:endParaRPr lang="en-IN"/>
          </a:p>
        </p:txBody>
      </p:sp>
      <p:sp>
        <p:nvSpPr>
          <p:cNvPr id="9" name="Footer Placeholder 11">
            <a:extLst>
              <a:ext uri="{FF2B5EF4-FFF2-40B4-BE49-F238E27FC236}">
                <a16:creationId xmlns:a16="http://schemas.microsoft.com/office/drawing/2014/main" id="{FB831417-ABDA-B011-DF4E-7E11F1FE6FC5}"/>
              </a:ext>
            </a:extLst>
          </p:cNvPr>
          <p:cNvSpPr>
            <a:spLocks noGrp="1"/>
          </p:cNvSpPr>
          <p:nvPr/>
        </p:nvSpPr>
        <p:spPr>
          <a:xfrm>
            <a:off x="4038600" y="64928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20CYS 495 B.Tech CYS: 2022 - 2026 Project Presentation </a:t>
            </a:r>
            <a:endParaRPr lang="en-IN"/>
          </a:p>
        </p:txBody>
      </p:sp>
      <p:sp>
        <p:nvSpPr>
          <p:cNvPr id="11" name="TextBox 10">
            <a:extLst>
              <a:ext uri="{FF2B5EF4-FFF2-40B4-BE49-F238E27FC236}">
                <a16:creationId xmlns:a16="http://schemas.microsoft.com/office/drawing/2014/main" id="{6C9D9AAA-AFAE-E67F-A320-15F2A23E7B3D}"/>
              </a:ext>
            </a:extLst>
          </p:cNvPr>
          <p:cNvSpPr txBox="1"/>
          <p:nvPr/>
        </p:nvSpPr>
        <p:spPr>
          <a:xfrm>
            <a:off x="1319892" y="1687285"/>
            <a:ext cx="2743200"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10" name="TextBox 9">
            <a:extLst>
              <a:ext uri="{FF2B5EF4-FFF2-40B4-BE49-F238E27FC236}">
                <a16:creationId xmlns:a16="http://schemas.microsoft.com/office/drawing/2014/main" id="{6A4F0B87-6F2B-26DE-69A9-4BA51A7FD9E7}"/>
              </a:ext>
            </a:extLst>
          </p:cNvPr>
          <p:cNvSpPr txBox="1"/>
          <p:nvPr/>
        </p:nvSpPr>
        <p:spPr>
          <a:xfrm>
            <a:off x="1224000" y="1710000"/>
            <a:ext cx="9739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a:p>
        </p:txBody>
      </p:sp>
      <p:pic>
        <p:nvPicPr>
          <p:cNvPr id="12" name="Picture 11" descr="A screen shot of a computer&#10;&#10;AI-generated content may be incorrect.">
            <a:extLst>
              <a:ext uri="{FF2B5EF4-FFF2-40B4-BE49-F238E27FC236}">
                <a16:creationId xmlns:a16="http://schemas.microsoft.com/office/drawing/2014/main" id="{D6419109-B199-8B68-FB2E-01E72A532F93}"/>
              </a:ext>
            </a:extLst>
          </p:cNvPr>
          <p:cNvPicPr>
            <a:picLocks noChangeAspect="1"/>
          </p:cNvPicPr>
          <p:nvPr/>
        </p:nvPicPr>
        <p:blipFill>
          <a:blip r:embed="rId3"/>
          <a:stretch>
            <a:fillRect/>
          </a:stretch>
        </p:blipFill>
        <p:spPr>
          <a:xfrm>
            <a:off x="1692000" y="2282400"/>
            <a:ext cx="9060000" cy="3733200"/>
          </a:xfrm>
          <a:prstGeom prst="rect">
            <a:avLst/>
          </a:prstGeom>
        </p:spPr>
      </p:pic>
      <p:sp>
        <p:nvSpPr>
          <p:cNvPr id="13" name="TextBox 12">
            <a:extLst>
              <a:ext uri="{FF2B5EF4-FFF2-40B4-BE49-F238E27FC236}">
                <a16:creationId xmlns:a16="http://schemas.microsoft.com/office/drawing/2014/main" id="{C02BC075-5DC6-F9E5-0F85-B41BE68EDB2D}"/>
              </a:ext>
            </a:extLst>
          </p:cNvPr>
          <p:cNvSpPr txBox="1"/>
          <p:nvPr/>
        </p:nvSpPr>
        <p:spPr>
          <a:xfrm>
            <a:off x="832474" y="783966"/>
            <a:ext cx="10543200" cy="1489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a:latin typeface="Times New Roman"/>
                <a:ea typeface="+mn-lt"/>
                <a:cs typeface="+mn-lt"/>
              </a:rPr>
              <a:t>Docker pull process where multiple honeypot images such as Cowrie, Dionaea, </a:t>
            </a:r>
            <a:r>
              <a:rPr lang="en-US" err="1">
                <a:latin typeface="Times New Roman"/>
                <a:ea typeface="+mn-lt"/>
                <a:cs typeface="+mn-lt"/>
              </a:rPr>
              <a:t>Conpot</a:t>
            </a:r>
            <a:r>
              <a:rPr lang="en-US">
                <a:latin typeface="Times New Roman"/>
                <a:ea typeface="+mn-lt"/>
                <a:cs typeface="+mn-lt"/>
              </a:rPr>
              <a:t>, Suricata, and Honeytrap are being downloaded. Each honeypot simulates different services like SSH, web, or industrial control systems. Once pulled, these images can be deployed as containers to create a diverse deception environment for capturing attacker behavior.</a:t>
            </a:r>
            <a:endParaRPr lang="en-US">
              <a:latin typeface="Times New Roman"/>
              <a:cs typeface="Times New Roman"/>
            </a:endParaRPr>
          </a:p>
          <a:p>
            <a:pPr algn="l"/>
            <a:endParaRPr lang="en-US">
              <a:latin typeface="Times New Roman"/>
              <a:cs typeface="Times New Roman"/>
            </a:endParaRPr>
          </a:p>
        </p:txBody>
      </p:sp>
    </p:spTree>
    <p:extLst>
      <p:ext uri="{BB962C8B-B14F-4D97-AF65-F5344CB8AC3E}">
        <p14:creationId xmlns:p14="http://schemas.microsoft.com/office/powerpoint/2010/main" val="28761678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98BCDD-C6B8-867D-C343-7B1700E444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E7E3CB-892F-1C4B-BCE1-CF99A9F5D2F7}"/>
              </a:ext>
            </a:extLst>
          </p:cNvPr>
          <p:cNvSpPr>
            <a:spLocks noGrp="1"/>
          </p:cNvSpPr>
          <p:nvPr>
            <p:ph type="ctrTitle"/>
          </p:nvPr>
        </p:nvSpPr>
        <p:spPr>
          <a:xfrm>
            <a:off x="1524000" y="1134363"/>
            <a:ext cx="8670000" cy="773600"/>
          </a:xfrm>
        </p:spPr>
        <p:txBody>
          <a:bodyPr>
            <a:normAutofit fontScale="90000"/>
          </a:bodyPr>
          <a:lstStyle/>
          <a:p>
            <a:br>
              <a:rPr lang="en-US"/>
            </a:br>
            <a:endParaRPr lang="en-US"/>
          </a:p>
        </p:txBody>
      </p:sp>
      <p:pic>
        <p:nvPicPr>
          <p:cNvPr id="4" name="Picture 3">
            <a:extLst>
              <a:ext uri="{FF2B5EF4-FFF2-40B4-BE49-F238E27FC236}">
                <a16:creationId xmlns:a16="http://schemas.microsoft.com/office/drawing/2014/main" id="{954AD15E-EE18-75E4-B763-E03ADB7C4EB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1663" y="79092"/>
            <a:ext cx="1740919" cy="402801"/>
          </a:xfrm>
          <a:prstGeom prst="rect">
            <a:avLst/>
          </a:prstGeom>
        </p:spPr>
      </p:pic>
      <p:cxnSp>
        <p:nvCxnSpPr>
          <p:cNvPr id="5" name="Straight Connector 4">
            <a:extLst>
              <a:ext uri="{FF2B5EF4-FFF2-40B4-BE49-F238E27FC236}">
                <a16:creationId xmlns:a16="http://schemas.microsoft.com/office/drawing/2014/main" id="{E4AEA677-33C4-93CB-7DEC-FCBA503FD972}"/>
              </a:ext>
            </a:extLst>
          </p:cNvPr>
          <p:cNvCxnSpPr>
            <a:cxnSpLocks/>
          </p:cNvCxnSpPr>
          <p:nvPr/>
        </p:nvCxnSpPr>
        <p:spPr>
          <a:xfrm>
            <a:off x="1109709" y="594804"/>
            <a:ext cx="10235953" cy="0"/>
          </a:xfrm>
          <a:prstGeom prst="line">
            <a:avLst/>
          </a:prstGeom>
        </p:spPr>
        <p:style>
          <a:lnRef idx="3">
            <a:schemeClr val="dk1"/>
          </a:lnRef>
          <a:fillRef idx="0">
            <a:schemeClr val="dk1"/>
          </a:fillRef>
          <a:effectRef idx="2">
            <a:schemeClr val="dk1"/>
          </a:effectRef>
          <a:fontRef idx="minor">
            <a:schemeClr val="tx1"/>
          </a:fontRef>
        </p:style>
      </p:cxnSp>
      <p:cxnSp>
        <p:nvCxnSpPr>
          <p:cNvPr id="6" name="Straight Connector 5">
            <a:extLst>
              <a:ext uri="{FF2B5EF4-FFF2-40B4-BE49-F238E27FC236}">
                <a16:creationId xmlns:a16="http://schemas.microsoft.com/office/drawing/2014/main" id="{DA678B8B-7C3F-B74D-EE82-B1C607003887}"/>
              </a:ext>
            </a:extLst>
          </p:cNvPr>
          <p:cNvCxnSpPr/>
          <p:nvPr/>
        </p:nvCxnSpPr>
        <p:spPr>
          <a:xfrm>
            <a:off x="1038687" y="6462943"/>
            <a:ext cx="10369119" cy="0"/>
          </a:xfrm>
          <a:prstGeom prst="line">
            <a:avLst/>
          </a:prstGeom>
        </p:spPr>
        <p:style>
          <a:lnRef idx="3">
            <a:schemeClr val="dk1"/>
          </a:lnRef>
          <a:fillRef idx="0">
            <a:schemeClr val="dk1"/>
          </a:fillRef>
          <a:effectRef idx="2">
            <a:schemeClr val="dk1"/>
          </a:effectRef>
          <a:fontRef idx="minor">
            <a:schemeClr val="tx1"/>
          </a:fontRef>
        </p:style>
      </p:cxnSp>
      <p:sp>
        <p:nvSpPr>
          <p:cNvPr id="7" name="TextBox 7">
            <a:extLst>
              <a:ext uri="{FF2B5EF4-FFF2-40B4-BE49-F238E27FC236}">
                <a16:creationId xmlns:a16="http://schemas.microsoft.com/office/drawing/2014/main" id="{A4451E7F-D9FF-0616-A1C0-9CDE599BF865}"/>
              </a:ext>
            </a:extLst>
          </p:cNvPr>
          <p:cNvSpPr txBox="1"/>
          <p:nvPr/>
        </p:nvSpPr>
        <p:spPr>
          <a:xfrm>
            <a:off x="8788893" y="319596"/>
            <a:ext cx="2821413" cy="276999"/>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b="1">
                <a:latin typeface="Times New Roman" panose="02020603050405020304" pitchFamily="18" charset="0"/>
                <a:cs typeface="Times New Roman" panose="02020603050405020304" pitchFamily="18" charset="0"/>
              </a:rPr>
              <a:t>TIFAC – CORE in CYBER SECURITY</a:t>
            </a:r>
            <a:endParaRPr lang="en-IN" sz="1200" b="1">
              <a:latin typeface="Times New Roman" panose="02020603050405020304" pitchFamily="18" charset="0"/>
              <a:cs typeface="Times New Roman" panose="02020603050405020304" pitchFamily="18" charset="0"/>
            </a:endParaRPr>
          </a:p>
        </p:txBody>
      </p:sp>
      <p:sp>
        <p:nvSpPr>
          <p:cNvPr id="8" name="Slide Number Placeholder 10">
            <a:extLst>
              <a:ext uri="{FF2B5EF4-FFF2-40B4-BE49-F238E27FC236}">
                <a16:creationId xmlns:a16="http://schemas.microsoft.com/office/drawing/2014/main" id="{A50B2C15-1052-887F-60A5-6D56291CFBD0}"/>
              </a:ext>
            </a:extLst>
          </p:cNvPr>
          <p:cNvSpPr>
            <a:spLocks noGrp="1"/>
          </p:cNvSpPr>
          <p:nvPr/>
        </p:nvSpPr>
        <p:spPr>
          <a:xfrm>
            <a:off x="8734887" y="64928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C3E5B82-863A-4B66-9E4F-DCFAD2A3B854}" type="slidenum">
              <a:rPr lang="en-IN" smtClean="0"/>
              <a:pPr/>
              <a:t>8</a:t>
            </a:fld>
            <a:endParaRPr lang="en-IN"/>
          </a:p>
        </p:txBody>
      </p:sp>
      <p:sp>
        <p:nvSpPr>
          <p:cNvPr id="9" name="Footer Placeholder 11">
            <a:extLst>
              <a:ext uri="{FF2B5EF4-FFF2-40B4-BE49-F238E27FC236}">
                <a16:creationId xmlns:a16="http://schemas.microsoft.com/office/drawing/2014/main" id="{90C73281-BC59-E982-9D91-A9799F9D016D}"/>
              </a:ext>
            </a:extLst>
          </p:cNvPr>
          <p:cNvSpPr>
            <a:spLocks noGrp="1"/>
          </p:cNvSpPr>
          <p:nvPr/>
        </p:nvSpPr>
        <p:spPr>
          <a:xfrm>
            <a:off x="4038600" y="64928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20CYS 495 B.Tech CYS: 2022 - 2026 Project Presentation </a:t>
            </a:r>
            <a:endParaRPr lang="en-IN"/>
          </a:p>
        </p:txBody>
      </p:sp>
      <p:sp>
        <p:nvSpPr>
          <p:cNvPr id="11" name="TextBox 10">
            <a:extLst>
              <a:ext uri="{FF2B5EF4-FFF2-40B4-BE49-F238E27FC236}">
                <a16:creationId xmlns:a16="http://schemas.microsoft.com/office/drawing/2014/main" id="{20C4954F-1BFD-F552-3D96-751B5CECC4D9}"/>
              </a:ext>
            </a:extLst>
          </p:cNvPr>
          <p:cNvSpPr txBox="1"/>
          <p:nvPr/>
        </p:nvSpPr>
        <p:spPr>
          <a:xfrm>
            <a:off x="1319892" y="1687285"/>
            <a:ext cx="2743200"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10" name="TextBox 9">
            <a:extLst>
              <a:ext uri="{FF2B5EF4-FFF2-40B4-BE49-F238E27FC236}">
                <a16:creationId xmlns:a16="http://schemas.microsoft.com/office/drawing/2014/main" id="{62165742-DBF9-C702-640D-ED18676A9792}"/>
              </a:ext>
            </a:extLst>
          </p:cNvPr>
          <p:cNvSpPr txBox="1"/>
          <p:nvPr/>
        </p:nvSpPr>
        <p:spPr>
          <a:xfrm>
            <a:off x="4088542" y="2689932"/>
            <a:ext cx="4009200"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latin typeface="Times New Roman"/>
                <a:cs typeface="Times New Roman"/>
              </a:rPr>
              <a:t>Demo of </a:t>
            </a:r>
            <a:r>
              <a:rPr lang="en-US" sz="2400" b="1" err="1">
                <a:latin typeface="Times New Roman"/>
                <a:cs typeface="Times New Roman"/>
              </a:rPr>
              <a:t>labshock</a:t>
            </a:r>
            <a:r>
              <a:rPr lang="en-US" sz="2400" b="1" dirty="0">
                <a:latin typeface="Times New Roman"/>
                <a:cs typeface="Times New Roman"/>
              </a:rPr>
              <a:t> and integrating of </a:t>
            </a:r>
            <a:r>
              <a:rPr lang="en-US" sz="2400" b="1" err="1">
                <a:latin typeface="Times New Roman"/>
                <a:cs typeface="Times New Roman"/>
              </a:rPr>
              <a:t>splunk</a:t>
            </a:r>
            <a:r>
              <a:rPr lang="en-US" sz="2400" b="1" dirty="0">
                <a:latin typeface="Times New Roman"/>
                <a:cs typeface="Times New Roman"/>
              </a:rPr>
              <a:t> </a:t>
            </a:r>
          </a:p>
        </p:txBody>
      </p:sp>
    </p:spTree>
    <p:extLst>
      <p:ext uri="{BB962C8B-B14F-4D97-AF65-F5344CB8AC3E}">
        <p14:creationId xmlns:p14="http://schemas.microsoft.com/office/powerpoint/2010/main" val="29934495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6AD654-F1FE-DD92-F1C5-73766B6575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922588-4A3B-8827-FE18-5FD7B09EA83F}"/>
              </a:ext>
            </a:extLst>
          </p:cNvPr>
          <p:cNvSpPr>
            <a:spLocks noGrp="1"/>
          </p:cNvSpPr>
          <p:nvPr>
            <p:ph type="ctrTitle"/>
          </p:nvPr>
        </p:nvSpPr>
        <p:spPr>
          <a:xfrm>
            <a:off x="1524000" y="1134363"/>
            <a:ext cx="8670000" cy="773600"/>
          </a:xfrm>
        </p:spPr>
        <p:txBody>
          <a:bodyPr>
            <a:normAutofit fontScale="90000"/>
          </a:bodyPr>
          <a:lstStyle/>
          <a:p>
            <a:br>
              <a:rPr lang="en-US"/>
            </a:br>
            <a:endParaRPr lang="en-US"/>
          </a:p>
        </p:txBody>
      </p:sp>
      <p:pic>
        <p:nvPicPr>
          <p:cNvPr id="4" name="Picture 3">
            <a:extLst>
              <a:ext uri="{FF2B5EF4-FFF2-40B4-BE49-F238E27FC236}">
                <a16:creationId xmlns:a16="http://schemas.microsoft.com/office/drawing/2014/main" id="{4E87006B-81BA-9391-CAE0-BF4ECB48E09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1663" y="79092"/>
            <a:ext cx="1740919" cy="402801"/>
          </a:xfrm>
          <a:prstGeom prst="rect">
            <a:avLst/>
          </a:prstGeom>
        </p:spPr>
      </p:pic>
      <p:cxnSp>
        <p:nvCxnSpPr>
          <p:cNvPr id="5" name="Straight Connector 4">
            <a:extLst>
              <a:ext uri="{FF2B5EF4-FFF2-40B4-BE49-F238E27FC236}">
                <a16:creationId xmlns:a16="http://schemas.microsoft.com/office/drawing/2014/main" id="{5031A13F-18B4-D7A2-4790-106FF51E860E}"/>
              </a:ext>
            </a:extLst>
          </p:cNvPr>
          <p:cNvCxnSpPr>
            <a:cxnSpLocks/>
          </p:cNvCxnSpPr>
          <p:nvPr/>
        </p:nvCxnSpPr>
        <p:spPr>
          <a:xfrm>
            <a:off x="1109709" y="594804"/>
            <a:ext cx="10235953" cy="0"/>
          </a:xfrm>
          <a:prstGeom prst="line">
            <a:avLst/>
          </a:prstGeom>
        </p:spPr>
        <p:style>
          <a:lnRef idx="3">
            <a:schemeClr val="dk1"/>
          </a:lnRef>
          <a:fillRef idx="0">
            <a:schemeClr val="dk1"/>
          </a:fillRef>
          <a:effectRef idx="2">
            <a:schemeClr val="dk1"/>
          </a:effectRef>
          <a:fontRef idx="minor">
            <a:schemeClr val="tx1"/>
          </a:fontRef>
        </p:style>
      </p:cxnSp>
      <p:cxnSp>
        <p:nvCxnSpPr>
          <p:cNvPr id="6" name="Straight Connector 5">
            <a:extLst>
              <a:ext uri="{FF2B5EF4-FFF2-40B4-BE49-F238E27FC236}">
                <a16:creationId xmlns:a16="http://schemas.microsoft.com/office/drawing/2014/main" id="{F41D2349-6C6A-D0D4-6227-98B3FA8CD60B}"/>
              </a:ext>
            </a:extLst>
          </p:cNvPr>
          <p:cNvCxnSpPr/>
          <p:nvPr/>
        </p:nvCxnSpPr>
        <p:spPr>
          <a:xfrm>
            <a:off x="1038687" y="6462943"/>
            <a:ext cx="10369119" cy="0"/>
          </a:xfrm>
          <a:prstGeom prst="line">
            <a:avLst/>
          </a:prstGeom>
        </p:spPr>
        <p:style>
          <a:lnRef idx="3">
            <a:schemeClr val="dk1"/>
          </a:lnRef>
          <a:fillRef idx="0">
            <a:schemeClr val="dk1"/>
          </a:fillRef>
          <a:effectRef idx="2">
            <a:schemeClr val="dk1"/>
          </a:effectRef>
          <a:fontRef idx="minor">
            <a:schemeClr val="tx1"/>
          </a:fontRef>
        </p:style>
      </p:cxnSp>
      <p:sp>
        <p:nvSpPr>
          <p:cNvPr id="7" name="TextBox 7">
            <a:extLst>
              <a:ext uri="{FF2B5EF4-FFF2-40B4-BE49-F238E27FC236}">
                <a16:creationId xmlns:a16="http://schemas.microsoft.com/office/drawing/2014/main" id="{E8668BE9-5000-9282-86DE-A9FBF1DF17DB}"/>
              </a:ext>
            </a:extLst>
          </p:cNvPr>
          <p:cNvSpPr txBox="1"/>
          <p:nvPr/>
        </p:nvSpPr>
        <p:spPr>
          <a:xfrm>
            <a:off x="8788893" y="319596"/>
            <a:ext cx="2821413" cy="276999"/>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b="1">
                <a:latin typeface="Times New Roman" panose="02020603050405020304" pitchFamily="18" charset="0"/>
                <a:cs typeface="Times New Roman" panose="02020603050405020304" pitchFamily="18" charset="0"/>
              </a:rPr>
              <a:t>TIFAC – CORE in CYBER SECURITY</a:t>
            </a:r>
            <a:endParaRPr lang="en-IN" sz="1200" b="1">
              <a:latin typeface="Times New Roman" panose="02020603050405020304" pitchFamily="18" charset="0"/>
              <a:cs typeface="Times New Roman" panose="02020603050405020304" pitchFamily="18" charset="0"/>
            </a:endParaRPr>
          </a:p>
        </p:txBody>
      </p:sp>
      <p:sp>
        <p:nvSpPr>
          <p:cNvPr id="8" name="Slide Number Placeholder 10">
            <a:extLst>
              <a:ext uri="{FF2B5EF4-FFF2-40B4-BE49-F238E27FC236}">
                <a16:creationId xmlns:a16="http://schemas.microsoft.com/office/drawing/2014/main" id="{1CA97787-9CEC-D793-DCEB-74AE58742C9A}"/>
              </a:ext>
            </a:extLst>
          </p:cNvPr>
          <p:cNvSpPr>
            <a:spLocks noGrp="1"/>
          </p:cNvSpPr>
          <p:nvPr/>
        </p:nvSpPr>
        <p:spPr>
          <a:xfrm>
            <a:off x="8734887" y="64928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C3E5B82-863A-4B66-9E4F-DCFAD2A3B854}" type="slidenum">
              <a:rPr lang="en-IN" smtClean="0"/>
              <a:pPr/>
              <a:t>9</a:t>
            </a:fld>
            <a:endParaRPr lang="en-IN"/>
          </a:p>
        </p:txBody>
      </p:sp>
      <p:sp>
        <p:nvSpPr>
          <p:cNvPr id="9" name="Footer Placeholder 11">
            <a:extLst>
              <a:ext uri="{FF2B5EF4-FFF2-40B4-BE49-F238E27FC236}">
                <a16:creationId xmlns:a16="http://schemas.microsoft.com/office/drawing/2014/main" id="{AC8A3A19-306B-4E82-8DCB-D0525557BB07}"/>
              </a:ext>
            </a:extLst>
          </p:cNvPr>
          <p:cNvSpPr>
            <a:spLocks noGrp="1"/>
          </p:cNvSpPr>
          <p:nvPr/>
        </p:nvSpPr>
        <p:spPr>
          <a:xfrm>
            <a:off x="4038600" y="64928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20CYS 495 B.Tech CYS: 2022 - 2026 Project Presentation </a:t>
            </a:r>
            <a:endParaRPr lang="en-IN"/>
          </a:p>
        </p:txBody>
      </p:sp>
      <p:sp>
        <p:nvSpPr>
          <p:cNvPr id="11" name="TextBox 10">
            <a:extLst>
              <a:ext uri="{FF2B5EF4-FFF2-40B4-BE49-F238E27FC236}">
                <a16:creationId xmlns:a16="http://schemas.microsoft.com/office/drawing/2014/main" id="{83FE05CA-19E7-80EF-3A65-7A68345AD1F0}"/>
              </a:ext>
            </a:extLst>
          </p:cNvPr>
          <p:cNvSpPr txBox="1"/>
          <p:nvPr/>
        </p:nvSpPr>
        <p:spPr>
          <a:xfrm>
            <a:off x="1319892" y="1687285"/>
            <a:ext cx="2743200"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pic>
        <p:nvPicPr>
          <p:cNvPr id="3" name="Picture 2">
            <a:extLst>
              <a:ext uri="{FF2B5EF4-FFF2-40B4-BE49-F238E27FC236}">
                <a16:creationId xmlns:a16="http://schemas.microsoft.com/office/drawing/2014/main" id="{5956D680-11CE-CB8A-8627-39911C2C5630}"/>
              </a:ext>
            </a:extLst>
          </p:cNvPr>
          <p:cNvPicPr>
            <a:picLocks noChangeAspect="1"/>
          </p:cNvPicPr>
          <p:nvPr/>
        </p:nvPicPr>
        <p:blipFill>
          <a:blip r:embed="rId3"/>
          <a:stretch>
            <a:fillRect/>
          </a:stretch>
        </p:blipFill>
        <p:spPr>
          <a:xfrm>
            <a:off x="2107650" y="1334100"/>
            <a:ext cx="8234700" cy="4969800"/>
          </a:xfrm>
          <a:prstGeom prst="rect">
            <a:avLst/>
          </a:prstGeom>
        </p:spPr>
      </p:pic>
      <p:sp>
        <p:nvSpPr>
          <p:cNvPr id="10" name="TextBox 9">
            <a:extLst>
              <a:ext uri="{FF2B5EF4-FFF2-40B4-BE49-F238E27FC236}">
                <a16:creationId xmlns:a16="http://schemas.microsoft.com/office/drawing/2014/main" id="{B867AD22-8305-98DE-079C-C3637E7E0343}"/>
              </a:ext>
            </a:extLst>
          </p:cNvPr>
          <p:cNvSpPr txBox="1"/>
          <p:nvPr/>
        </p:nvSpPr>
        <p:spPr>
          <a:xfrm>
            <a:off x="1108372" y="766067"/>
            <a:ext cx="27432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dirty="0">
                <a:latin typeface="Times New Roman"/>
                <a:cs typeface="Times New Roman"/>
              </a:rPr>
              <a:t>Architectural</a:t>
            </a:r>
            <a:r>
              <a:rPr lang="en-US" b="1" dirty="0">
                <a:latin typeface="Times New Roman"/>
                <a:cs typeface="Times New Roman"/>
              </a:rPr>
              <a:t> diagram</a:t>
            </a:r>
          </a:p>
        </p:txBody>
      </p:sp>
    </p:spTree>
    <p:extLst>
      <p:ext uri="{BB962C8B-B14F-4D97-AF65-F5344CB8AC3E}">
        <p14:creationId xmlns:p14="http://schemas.microsoft.com/office/powerpoint/2010/main" val="29155132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9</Slides>
  <Notes>0</Notes>
  <HiddenSlides>0</HiddenSlide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office theme</vt:lpstr>
      <vt:lpstr>PowerPoint Presentation</vt:lpstr>
      <vt:lpstr> </vt:lpstr>
      <vt:lpstr> </vt:lpstr>
      <vt:lpstr> </vt:lpstr>
      <vt:lpstr> </vt:lpstr>
      <vt:lpstr> </vt:lpstr>
      <vt:lpstr> </vt:lpstr>
      <vt:lpstr> </vt:lpstr>
      <vt:lpstr>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84</cp:revision>
  <dcterms:created xsi:type="dcterms:W3CDTF">2025-09-14T06:43:16Z</dcterms:created>
  <dcterms:modified xsi:type="dcterms:W3CDTF">2025-09-15T17:44:00Z</dcterms:modified>
</cp:coreProperties>
</file>